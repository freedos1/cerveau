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58d352-2166-dea7-855c-2d74235096b5}">
          <p14:sldIdLst>
            <p14:sldId id="256"/>
            <p14:sldId id="257"/>
            <p14:sldId id="258"/>
          </p14:sldIdLst>
        </p14:section>
        <p14:section name="Tips dataset" id="{37bcc34c-932d-72ad-0815-de0728639fc8}">
          <p14:sldIdLst>
            <p14:sldId id="259"/>
            <p14:sldId id="260"/>
            <p14:sldId id="261"/>
            <p14:sldId id="262"/>
          </p14:sldIdLst>
        </p14:section>
        <p14:section name="Iris dataset" id="{637fb014-4ebd-adec-b47e-6a23598c7ffb}">
          <p14:sldIdLst>
            <p14:sldId id="263"/>
            <p14:sldId id="264"/>
          </p14:sldIdLst>
        </p14:section>
        <p14:section name="Decisions" id="{a5204e86-1652-e039-7b1d-539ad0f9f707}">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41"/>
                </a:solidFill>
                <a:latin typeface="+mn-lt"/>
              </a:defRPr>
            </a:pPr>
            <a:r>
              <a:rPr sz="1600" b="0" i="0" u="none" strike="noStrike">
                <a:solidFill>
                  <a:srgbClr val="1B2A41"/>
                </a:solidFill>
                <a:latin typeface="+mn-lt"/>
              </a:rPr>
              <a:t>Iris: logistic regression accuracy (%)</a:t>
            </a:r>
          </a:p>
        </c:rich>
      </c:tx>
      <c:layout/>
      <c:overlay val="0"/>
    </c:title>
    <c:autoTitleDeleted val="0"/>
    <c:plotArea>
      <c:layout/>
      <c:barChart>
        <c:barDir val="bar"/>
        <c:grouping val="clustered"/>
        <c:varyColors val="0"/>
        <c:ser>
          <c:idx val="0"/>
          <c:order val="0"/>
          <c:tx>
            <c:strRef>
              <c:f>Sheet1!$B$1</c:f>
              <c:strCache>
                <c:ptCount val="1"/>
                <c:pt idx="0">
                  <c:v>5-fold accuracy</c:v>
                </c:pt>
              </c:strCache>
            </c:strRef>
          </c:tx>
          <c:spPr>
            <a:solidFill>
              <a:srgbClr val="6B7A90"/>
            </a:solidFill>
            <a:effectLst/>
          </c:spPr>
          <c:invertIfNegative val="0"/>
          <c:dLbls>
            <c:numFmt formatCode="0.0&quot;%&quot;" sourceLinked="0"/>
            <c:txPr>
              <a:bodyPr/>
              <a:lstStyle/>
              <a:p>
                <a:pPr>
                  <a:defRPr b="0" i="0" strike="noStrike" sz="14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6B7A90"/>
              </a:solidFill>
              <a:effectLst/>
            </c:spPr>
          </c:dPt>
          <c:dPt>
            <c:idx val="1"/>
            <c:invertIfNegative val="0"/>
            <c:bubble3D val="0"/>
            <c:spPr>
              <a:solidFill>
                <a:srgbClr val="0E9F8E"/>
              </a:solidFill>
              <a:effectLst/>
            </c:spPr>
          </c:dPt>
          <c:dPt>
            <c:idx val="2"/>
            <c:invertIfNegative val="0"/>
            <c:bubble3D val="0"/>
            <c:spPr>
              <a:solidFill>
                <a:srgbClr val="0E9F8E"/>
              </a:solidFill>
              <a:effectLst/>
            </c:spPr>
          </c:dPt>
          <c:dPt>
            <c:idx val="3"/>
            <c:invertIfNegative val="0"/>
            <c:bubble3D val="0"/>
            <c:spPr>
              <a:solidFill>
                <a:srgbClr val="D9534F"/>
              </a:solidFill>
              <a:effectLst/>
            </c:spPr>
          </c:dPt>
          <c:cat>
            <c:multiLvlStrRef>
              <c:f>Sheet1!$A$2:$A$5</c:f>
              <c:multiLvlStrCache>
                <c:ptCount val="4"/>
                <c:lvl>
                  <c:pt idx="0">
                    <c:v>All 4 features</c:v>
                  </c:pt>
                  <c:pt idx="1">
                    <c:v>Petal length + width</c:v>
                  </c:pt>
                  <c:pt idx="2">
                    <c:v>Petal length only</c:v>
                  </c:pt>
                  <c:pt idx="3">
                    <c:v>Sepal length + width</c:v>
                  </c:pt>
                </c:lvl>
              </c:multiLvlStrCache>
            </c:multiLvlStrRef>
          </c:cat>
          <c:val>
            <c:numRef>
              <c:f>Sheet1!$B$2:$B$5</c:f>
              <c:numCache>
                <c:formatCode>General</c:formatCode>
                <c:ptCount val="4"/>
                <c:pt idx="0">
                  <c:v>96</c:v>
                </c:pt>
                <c:pt idx="1">
                  <c:v>96</c:v>
                </c:pt>
                <c:pt idx="2">
                  <c:v>95.3</c:v>
                </c:pt>
                <c:pt idx="3">
                  <c:v>81.3</c:v>
                </c:pt>
              </c:numCache>
            </c:numRef>
          </c:val>
        </c:ser>
        <c:dLbls>
          <c:numFmt formatCode="0.0&quot;%&quot;" sourceLinked="0"/>
          <c:txPr>
            <a:bodyPr/>
            <a:lstStyle/>
            <a:p>
              <a:pPr>
                <a:defRPr b="0" i="0" strike="noStrike" sz="14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In this video I'm answering the discussion prompt: which plots do I find most effective when exploring a new dataset, and how do they guide feature selection and model design?
I'll keep it practical. I used two Seaborn sample datasets, tips and iris, and built boxplots, violin plots, a scatter plot with a regression line, a histogram, a pairplot and a correlation heatmap, plus one combined grid of subplots. For each one I'll show what pattern or anomaly it exposed, and what I decided because of it. At the end I test those decisions with quick cross-validated models, so the visuals aren't just pretty pictures; they actually change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answer to the prompt in one slide. I think of exploratory plots as four families, each answering a different first question.
Distribution plots, like histograms, KDEs and boxplots, tell me what a single variable looks like: is it skewed, are there outliers, are values rounded.
Comparison plots, boxplots or violins split by a category, tell me whether groups really differ, and whether the groups are balanced.
Relationship plots, scatter plots, regression plots and pairplots, show how variables move together and whether classes form clusters.
And a correlation heatmap tells me which features are redundant.
I go through them roughly in that order, so every modelling decision rests on something I've actually looked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datasets come straight from Seaborn with load_dataset. Tips has 244 restaurant bills with seven columns: total bill, tip, sex, smoker, day, meal time and party size. I added one derived column, tip percentage, because a tip only means something relative to the bill. Iris has 150 flowers, four measurements each, plus the species. Neither dataset has missing values.
The workflow is the same for both: load, plot, spot patterns, decide what to do about them, and then validate the decision with a quick cross-validated model. All the code is in one script, data_viz_pattern_discovery.py, which regenerates every figure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statistical visual: boxplots. On the left is total bill by day, on the right tip percentage by smoker status, side by side using Matplotlib subplots.
Three things jump out. One: there are nine bills above the upper fence of about forty dollars. They show up on every day and sit on a smooth tail, so I read them as genuinely large parties, not data-entry errors.
Two: one table tipped seventy-one percent, five fifteen on a seven twenty-five bill. That's the kind of row that quietly distorts a mean.
Three: the medians for smokers and non-smokers are basically the same, about fifteen and a half percent, but the smokers' box and whiskers are far wider, a standard deviation of 8.5 points versus 4.
Decision: I keep the big bills, I flag the 71% tip rather than delete it, and I summarise with medians or robust scaling instead of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statistical visual: a split violin plot. Each violin shows the full distribution of the bill for one day, and the two halves are lunch in amber and dinner in teal.
A boxplot would have hidden what this shows. Thursday is almost entirely lunch, 61 of 62 tables, while Saturday and Sunday have no lunch at all. So day and meal time are confounded: if I see higher bills on weekends, I can't tell whether that's the day or the fact that it's dinner.
The violins also show shape. Dinner bills have a long upper tail reaching fifty dollars, while Thursday lunch bunches between about twelve and twenty. And Friday only has nineteen tables, so its violin is too thin to read much into.
Decision: I won't put day and time into a model as if they carried independent information. I'd use one of them, or a single weekday-lunch versus weekend-dinner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relationship plot and a distribution plot on one figure. On the left, Seaborn's regplot of tip against total bill. The correlation is 0.68 and the fitted slope says each extra dollar on the bill adds about ten and a half cents of tip, so a linear model is a sensible baseline.
On the right is a histogram of tip amounts with quarter-dollar bins, and I coloured the bars that sit exactly on whole dollars in red. Those spikes are an anomaly you'd never see in summary statistics: about 35 percent of all tips are round dollar amounts. People round. That puts a ceiling on how precisely any model can predict a tip.
And if you plot tip percentage instead, it actually falls as the bill grows, a correlation of minus 0.34. So a fixed-percentage rule would overpredict for large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tips for this assignment suggested combining plots in a grid, so here's a two-by-two dashboard built with Matplotlib's GridSpec, with one Seaborn call drawing into each axis. Seeing four views at once is the fastest way I know to get a feel for a dataset.
Panel A: the bill is right-skewed, skewness 1.13, and a log transform brings that down to about zero, which matters for linear models.
Panel B: tip percentage barely changes with party size, but sizes one, five and six only have four or five tables each, so I wouldn't trust those boxes.
Panel C: tip percentage drops as the bill rises, for both lunch and dinner.
Panel D is a simple countplot, and it's a reminder to check sample sizes: weekend tables are dominated by male payers, 59 versus 28 on Saturday. Any comparison by sex is partly a comparison by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iris, and my favourite first plot for a small labelled dataset: the pairplot. Every pair of features gets a scatter plot, the diagonal shows each feature's distribution, and the points are coloured by species. I used corner equals True to drop the duplicate upper triangle.
The pattern is immediate. Wherever petal length or petal width is involved, the three species form separate bands. Setosa in particular is perfectly separable: its petals are one to 1.9 centimetres long, and the other species start at three. A single threshold would classify it.
The sepal panels are the opposite: versicolor and virginica overlap heavily.
So before fitting anything I already know which features matter most, and that a simple linear classifier should be enough. I don't need to jump to something complex like a neural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a correlation heatmap. Petal length and petal width correlate at 0.96, so they carry almost the same information. For many models one of them is redundant, and keeping both can make coefficients unstable.
The anomaly is in the sepals. Overall, sepal length and sepal width have a correlation of minus 0.12, which looks like "no relationship". But if I compute it inside each species, it's plus 0.74 for setosa, 0.53 for versicolor and 0.46 for virginica. That's Simpson's paradox: mixing the groups hides the real within-group relationship. I only noticed because the pairplot showed separate clusters, so the heatmap alone would have misled me.
On the right, a violin plot of petal length by species confirms the separation and shows that setosa is also much less variable than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hunch is only useful if it holds up, so I tested two of them with five-fold cross-validation.
For iris, a standardised logistic regression with all four features scores 96 percent accuracy. With just the two petal features: also 96 percent. Petal length on its own: 95.3. And the two sepal features only reach 81 percent. That's exactly what the pairplot and heatmap suggested: the petals carry nearly all the signal, and one petal feature almost does the whole job.
For tips, a linear regression that predicts the tip from total bill alone gets an R-squared of 0.457. Adding sex, smoker, day, time and party size actually lowers it to 0.421 out of sample. Again, consistent with the plots: the bill drives the tip, and the categorical features, which the violins showed are confounded and unbalanced, mostly add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in one table, which is really the answer to the third checklist question: how did the visuals influence my decisions?
Boxplots told me which extremes to keep, which to flag, and to prefer robust statistics. The split violin exposed the day and meal-time confound, so I wouldn't use both. The scatter plot justified a linear baseline, and the histogram explained why predictions will never be very precise. The grid of subplots led to a log transform of the bill and a warning about tiny groups. For iris, the pairplot selected the petal features and the model family, and the heatmap flagged redundancy and the Simpson's paradox in the sepals.
Every row is a decision I'd have made differently, or not at all, without looking at the plot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First, summary statistics hide shape. The rounded tips, the day and meal-time confound and the Simpson's paradox in iris were all invisible in a describe() table and obvious in a plot.
Second, visuals pick the features. The pairplot and heatmap pointed to the petal measurements before I trained anything, and cross-validation agreed.
Third, treat a plot as a hypothesis and test it, even with a quick five-fold model.
So my short answer to the prompt: boxplots and violins for distributions and groups, pairplots and heatmaps for relationships and redundancy, all on a grid so I see them together. Plot first, model second.
I'd love to hear from the rest of you: which plot has most often changed your mind about a dataset?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55448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Title</a:t>
            </a:r>
            <a:endParaRPr lang="en-US" sz="4800" dirty="0"/>
          </a:p>
        </p:txBody>
      </p:sp>
      <p:sp>
        <p:nvSpPr>
          <p:cNvPr id="3" name="Text 0"/>
          <p:cNvSpPr/>
          <p:nvPr>
            <p:ph idx="101" type="body" hasCustomPrompt="1"/>
          </p:nvPr>
        </p:nvSpPr>
        <p:spPr>
          <a:xfrm>
            <a:off x="731520" y="3749040"/>
            <a:ext cx="10058400" cy="1188720"/>
          </a:xfrm>
          <a:prstGeom prst="rect">
            <a:avLst/>
          </a:prstGeom>
          <a:noFill/>
          <a:ln/>
        </p:spPr>
        <p:txBody>
          <a:bodyPr wrap="square" rtlCol="0"/>
          <a:lstStyle>
            <a:lvl1pPr indent="0" marL="0">
              <a:buNone/>
              <a:defRPr lang="en-US" sz="2000" dirty="0">
                <a:solidFill>
                  <a:schemeClr val="accent6"/>
                </a:solidFill>
              </a:defRPr>
            </a:lvl1pPr>
          </a:lstStyle>
          <a:p>
            <a:pPr indent="0" marL="0">
              <a:buNone/>
            </a:pPr>
            <a:r>
              <a:rPr lang="en-US" sz="2000" dirty="0">
                <a:solidFill>
                  <a:schemeClr val="accent6"/>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Data Visualization for Pattern Discovery</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1"/>
                </a:solidFill>
                <a:latin typeface="Cambria" pitchFamily="34" charset="0"/>
                <a:ea typeface="Cambria" pitchFamily="34" charset="-122"/>
                <a:cs typeface="Cambria" pitchFamily="34" charset="-120"/>
              </a:defRPr>
            </a:lvl1pPr>
          </a:lstStyle>
          <a:p>
            <a:pPr indent="0" marL="0">
              <a:buNone/>
            </a:pPr>
            <a:r>
              <a:rPr lang="en-US" sz="3400" b="1" dirty="0">
                <a:solidFill>
                  <a:schemeClr val="tx1"/>
                </a:solidFill>
                <a:latin typeface="Cambria" pitchFamily="34" charset="0"/>
                <a:ea typeface="Cambria" pitchFamily="34" charset="-122"/>
                <a:cs typeface="Cambria" pitchFamily="34" charset="-120"/>
              </a:rPr>
              <a:t>Title</a:t>
            </a: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55448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Data Visualization for Pattern Discovery</a:t>
            </a:r>
            <a:endParaRPr lang="en-US" sz="4800" dirty="0"/>
          </a:p>
        </p:txBody>
      </p:sp>
      <p:sp>
        <p:nvSpPr>
          <p:cNvPr id="3" name="Text 0"/>
          <p:cNvSpPr/>
          <p:nvPr>
            <p:ph idx="101" type="body" hasCustomPrompt="1"/>
          </p:nvPr>
        </p:nvSpPr>
        <p:spPr>
          <a:xfrm>
            <a:off x="731520" y="3749040"/>
            <a:ext cx="10058400" cy="1188720"/>
          </a:xfrm>
          <a:prstGeom prst="rect">
            <a:avLst/>
          </a:prstGeom>
          <a:noFill/>
          <a:ln/>
        </p:spPr>
        <p:txBody>
          <a:bodyPr wrap="square" lIns="0" tIns="0" rIns="0" bIns="0" rtlCol="0" anchor="t"/>
          <a:lstStyle/>
          <a:p>
            <a:pPr indent="0" marL="0">
              <a:buNone/>
            </a:pPr>
            <a:r>
              <a:rPr lang="en-US" sz="2000" dirty="0">
                <a:solidFill>
                  <a:schemeClr val="accent6"/>
                </a:solidFill>
              </a:rPr>
              <a:t>Which plots I reach for first, what they revealed in the Seaborn tips and iris datasets, and how they shaped feature selection and model design</a:t>
            </a:r>
            <a:endParaRPr lang="en-US" sz="2000" dirty="0"/>
          </a:p>
        </p:txBody>
      </p:sp>
      <p:sp>
        <p:nvSpPr>
          <p:cNvPr id="4" name="Tools line"/>
          <p:cNvSpPr txBox="1"/>
          <p:nvPr/>
        </p:nvSpPr>
        <p:spPr>
          <a:xfrm>
            <a:off x="731520" y="5760720"/>
            <a:ext cx="7315200" cy="365760"/>
          </a:xfrm>
          <a:prstGeom prst="rect">
            <a:avLst/>
          </a:prstGeom>
          <a:noFill/>
          <a:ln/>
        </p:spPr>
        <p:txBody>
          <a:bodyPr wrap="square" lIns="0" tIns="0" rIns="0" bIns="0" rtlCol="0" anchor="ctr"/>
          <a:lstStyle/>
          <a:p>
            <a:pPr indent="0" marL="0">
              <a:buNone/>
            </a:pPr>
            <a:r>
              <a:rPr lang="en-US" sz="1400" dirty="0">
                <a:solidFill>
                  <a:schemeClr val="accent5"/>
                </a:solidFill>
              </a:rPr>
              <a:t>Seaborn  ·  Matplotlib  ·  pandas  ·  scikit-learn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Four plot families answer four first questions</a:t>
            </a:r>
            <a:endParaRPr lang="en-US" sz="3400" dirty="0"/>
          </a:p>
        </p:txBody>
      </p:sp>
      <p:sp>
        <p:nvSpPr>
          <p:cNvPr id="3" name="Distribution card"/>
          <p:cNvSpPr/>
          <p:nvPr/>
        </p:nvSpPr>
        <p:spPr>
          <a:xfrm>
            <a:off x="548640" y="1417320"/>
            <a:ext cx="2560320" cy="3931920"/>
          </a:xfrm>
          <a:prstGeom prst="roundRect">
            <a:avLst>
              <a:gd name="adj" fmla="val 3571"/>
            </a:avLst>
          </a:prstGeom>
          <a:solidFill>
            <a:schemeClr val="bg2"/>
          </a:solidFill>
          <a:ln/>
        </p:spPr>
      </p:sp>
      <p:sp>
        <p:nvSpPr>
          <p:cNvPr id="4" name="Distribution icon circle"/>
          <p:cNvSpPr/>
          <p:nvPr/>
        </p:nvSpPr>
        <p:spPr>
          <a:xfrm>
            <a:off x="822960" y="1737360"/>
            <a:ext cx="822960" cy="822960"/>
          </a:xfrm>
          <a:prstGeom prst="ellipse">
            <a:avLst/>
          </a:prstGeom>
          <a:solidFill>
            <a:schemeClr val="accent1"/>
          </a:solidFill>
          <a:ln/>
        </p:spPr>
      </p:sp>
      <p:pic>
        <p:nvPicPr>
          <p:cNvPr id="5" name="Distribution icon" descr="Distribution icon">    </p:cNvPr>
          <p:cNvPicPr>
            <a:picLocks noChangeAspect="1"/>
          </p:cNvPicPr>
          <p:nvPr/>
        </p:nvPicPr>
        <p:blipFill>
          <a:blip r:embed="rId1"/>
          <a:stretch>
            <a:fillRect/>
          </a:stretch>
        </p:blipFill>
        <p:spPr>
          <a:xfrm>
            <a:off x="1024128" y="1938528"/>
            <a:ext cx="420624" cy="420624"/>
          </a:xfrm>
          <a:prstGeom prst="rect">
            <a:avLst/>
          </a:prstGeom>
        </p:spPr>
      </p:pic>
      <p:sp>
        <p:nvSpPr>
          <p:cNvPr id="6" name="Distribution text"/>
          <p:cNvSpPr txBox="1"/>
          <p:nvPr/>
        </p:nvSpPr>
        <p:spPr>
          <a:xfrm>
            <a:off x="822960" y="2788920"/>
            <a:ext cx="20116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Distribution</a:t>
            </a:r>
            <a:endParaRPr lang="en-US" sz="2000" dirty="0"/>
          </a:p>
          <a:p>
            <a:pPr indent="0" marL="0">
              <a:spcAft>
                <a:spcPts val="800"/>
              </a:spcAft>
              <a:buNone/>
            </a:pPr>
            <a:r>
              <a:rPr lang="en-US" sz="1400" i="1" dirty="0">
                <a:solidFill>
                  <a:schemeClr val="accent1"/>
                </a:solidFill>
              </a:rPr>
              <a:t>Histogram · KDE · boxplot</a:t>
            </a:r>
            <a:endParaRPr lang="en-US" sz="2000" dirty="0"/>
          </a:p>
          <a:p>
            <a:pPr indent="0" marL="0">
              <a:spcAft>
                <a:spcPts val="800"/>
              </a:spcAft>
              <a:buNone/>
            </a:pPr>
            <a:r>
              <a:rPr lang="en-US" sz="1400" dirty="0">
                <a:solidFill>
                  <a:schemeClr val="tx1"/>
                </a:solidFill>
              </a:rPr>
              <a:t>What does one variable look like? Skew, gaps, outliers, rounding.</a:t>
            </a:r>
            <a:endParaRPr lang="en-US" sz="2000" dirty="0"/>
          </a:p>
        </p:txBody>
      </p:sp>
      <p:sp>
        <p:nvSpPr>
          <p:cNvPr id="7" name="Comparison card"/>
          <p:cNvSpPr/>
          <p:nvPr/>
        </p:nvSpPr>
        <p:spPr>
          <a:xfrm>
            <a:off x="3383280" y="1417320"/>
            <a:ext cx="2560320" cy="3931920"/>
          </a:xfrm>
          <a:prstGeom prst="roundRect">
            <a:avLst>
              <a:gd name="adj" fmla="val 3571"/>
            </a:avLst>
          </a:prstGeom>
          <a:solidFill>
            <a:schemeClr val="bg2"/>
          </a:solidFill>
          <a:ln/>
        </p:spPr>
      </p:sp>
      <p:sp>
        <p:nvSpPr>
          <p:cNvPr id="8" name="Comparison icon circle"/>
          <p:cNvSpPr/>
          <p:nvPr/>
        </p:nvSpPr>
        <p:spPr>
          <a:xfrm>
            <a:off x="3657600" y="1737360"/>
            <a:ext cx="822960" cy="822960"/>
          </a:xfrm>
          <a:prstGeom prst="ellipse">
            <a:avLst/>
          </a:prstGeom>
          <a:solidFill>
            <a:schemeClr val="accent1"/>
          </a:solidFill>
          <a:ln/>
        </p:spPr>
      </p:sp>
      <p:pic>
        <p:nvPicPr>
          <p:cNvPr id="9" name="Comparison icon" descr="Comparison icon">    </p:cNvPr>
          <p:cNvPicPr>
            <a:picLocks noChangeAspect="1"/>
          </p:cNvPicPr>
          <p:nvPr/>
        </p:nvPicPr>
        <p:blipFill>
          <a:blip r:embed="rId2"/>
          <a:stretch>
            <a:fillRect/>
          </a:stretch>
        </p:blipFill>
        <p:spPr>
          <a:xfrm>
            <a:off x="3858768" y="1938528"/>
            <a:ext cx="420624" cy="420624"/>
          </a:xfrm>
          <a:prstGeom prst="rect">
            <a:avLst/>
          </a:prstGeom>
        </p:spPr>
      </p:pic>
      <p:sp>
        <p:nvSpPr>
          <p:cNvPr id="10" name="Comparison text"/>
          <p:cNvSpPr txBox="1"/>
          <p:nvPr/>
        </p:nvSpPr>
        <p:spPr>
          <a:xfrm>
            <a:off x="3657600" y="2788920"/>
            <a:ext cx="20116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Comparison</a:t>
            </a:r>
            <a:endParaRPr lang="en-US" sz="2000" dirty="0"/>
          </a:p>
          <a:p>
            <a:pPr indent="0" marL="0">
              <a:spcAft>
                <a:spcPts val="800"/>
              </a:spcAft>
              <a:buNone/>
            </a:pPr>
            <a:r>
              <a:rPr lang="en-US" sz="1400" i="1" dirty="0">
                <a:solidFill>
                  <a:schemeClr val="accent1"/>
                </a:solidFill>
              </a:rPr>
              <a:t>Boxplot · violin by group</a:t>
            </a:r>
            <a:endParaRPr lang="en-US" sz="2000" dirty="0"/>
          </a:p>
          <a:p>
            <a:pPr indent="0" marL="0">
              <a:spcAft>
                <a:spcPts val="800"/>
              </a:spcAft>
              <a:buNone/>
            </a:pPr>
            <a:r>
              <a:rPr lang="en-US" sz="1400" dirty="0">
                <a:solidFill>
                  <a:schemeClr val="tx1"/>
                </a:solidFill>
              </a:rPr>
              <a:t>Do groups differ in centre, spread or shape, and are the groups even balanced?</a:t>
            </a:r>
            <a:endParaRPr lang="en-US" sz="2000" dirty="0"/>
          </a:p>
        </p:txBody>
      </p:sp>
      <p:sp>
        <p:nvSpPr>
          <p:cNvPr id="11" name="Relationship card"/>
          <p:cNvSpPr/>
          <p:nvPr/>
        </p:nvSpPr>
        <p:spPr>
          <a:xfrm>
            <a:off x="6217920" y="1417320"/>
            <a:ext cx="2560320" cy="3931920"/>
          </a:xfrm>
          <a:prstGeom prst="roundRect">
            <a:avLst>
              <a:gd name="adj" fmla="val 3571"/>
            </a:avLst>
          </a:prstGeom>
          <a:solidFill>
            <a:schemeClr val="bg2"/>
          </a:solidFill>
          <a:ln/>
        </p:spPr>
      </p:sp>
      <p:sp>
        <p:nvSpPr>
          <p:cNvPr id="12" name="Relationship icon circle"/>
          <p:cNvSpPr/>
          <p:nvPr/>
        </p:nvSpPr>
        <p:spPr>
          <a:xfrm>
            <a:off x="6492240" y="1737360"/>
            <a:ext cx="822960" cy="822960"/>
          </a:xfrm>
          <a:prstGeom prst="ellipse">
            <a:avLst/>
          </a:prstGeom>
          <a:solidFill>
            <a:schemeClr val="accent1"/>
          </a:solidFill>
          <a:ln/>
        </p:spPr>
      </p:sp>
      <p:pic>
        <p:nvPicPr>
          <p:cNvPr id="13" name="Relationship icon" descr="Relationship icon">    </p:cNvPr>
          <p:cNvPicPr>
            <a:picLocks noChangeAspect="1"/>
          </p:cNvPicPr>
          <p:nvPr/>
        </p:nvPicPr>
        <p:blipFill>
          <a:blip r:embed="rId3"/>
          <a:stretch>
            <a:fillRect/>
          </a:stretch>
        </p:blipFill>
        <p:spPr>
          <a:xfrm>
            <a:off x="6693408" y="1938528"/>
            <a:ext cx="420624" cy="420624"/>
          </a:xfrm>
          <a:prstGeom prst="rect">
            <a:avLst/>
          </a:prstGeom>
        </p:spPr>
      </p:pic>
      <p:sp>
        <p:nvSpPr>
          <p:cNvPr id="14" name="Relationship text"/>
          <p:cNvSpPr txBox="1"/>
          <p:nvPr/>
        </p:nvSpPr>
        <p:spPr>
          <a:xfrm>
            <a:off x="6492240" y="2788920"/>
            <a:ext cx="20116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Relationship</a:t>
            </a:r>
            <a:endParaRPr lang="en-US" sz="2000" dirty="0"/>
          </a:p>
          <a:p>
            <a:pPr indent="0" marL="0">
              <a:spcAft>
                <a:spcPts val="800"/>
              </a:spcAft>
              <a:buNone/>
            </a:pPr>
            <a:r>
              <a:rPr lang="en-US" sz="1400" i="1" dirty="0">
                <a:solidFill>
                  <a:schemeClr val="accent1"/>
                </a:solidFill>
              </a:rPr>
              <a:t>Scatter · regplot · pairplot</a:t>
            </a:r>
            <a:endParaRPr lang="en-US" sz="2000" dirty="0"/>
          </a:p>
          <a:p>
            <a:pPr indent="0" marL="0">
              <a:spcAft>
                <a:spcPts val="800"/>
              </a:spcAft>
              <a:buNone/>
            </a:pPr>
            <a:r>
              <a:rPr lang="en-US" sz="1400" dirty="0">
                <a:solidFill>
                  <a:schemeClr val="tx1"/>
                </a:solidFill>
              </a:rPr>
              <a:t>How do two variables move together? Linear, curved, clustered by class?</a:t>
            </a:r>
            <a:endParaRPr lang="en-US" sz="2000" dirty="0"/>
          </a:p>
        </p:txBody>
      </p:sp>
      <p:sp>
        <p:nvSpPr>
          <p:cNvPr id="15" name="Correlation card"/>
          <p:cNvSpPr/>
          <p:nvPr/>
        </p:nvSpPr>
        <p:spPr>
          <a:xfrm>
            <a:off x="9052560" y="1417320"/>
            <a:ext cx="2560320" cy="3931920"/>
          </a:xfrm>
          <a:prstGeom prst="roundRect">
            <a:avLst>
              <a:gd name="adj" fmla="val 3571"/>
            </a:avLst>
          </a:prstGeom>
          <a:solidFill>
            <a:schemeClr val="bg2"/>
          </a:solidFill>
          <a:ln/>
        </p:spPr>
      </p:sp>
      <p:sp>
        <p:nvSpPr>
          <p:cNvPr id="16" name="Correlation icon circle"/>
          <p:cNvSpPr/>
          <p:nvPr/>
        </p:nvSpPr>
        <p:spPr>
          <a:xfrm>
            <a:off x="9326880" y="1737360"/>
            <a:ext cx="822960" cy="822960"/>
          </a:xfrm>
          <a:prstGeom prst="ellipse">
            <a:avLst/>
          </a:prstGeom>
          <a:solidFill>
            <a:schemeClr val="accent1"/>
          </a:solidFill>
          <a:ln/>
        </p:spPr>
      </p:sp>
      <p:pic>
        <p:nvPicPr>
          <p:cNvPr id="17" name="Correlation icon" descr="Correlation icon">    </p:cNvPr>
          <p:cNvPicPr>
            <a:picLocks noChangeAspect="1"/>
          </p:cNvPicPr>
          <p:nvPr/>
        </p:nvPicPr>
        <p:blipFill>
          <a:blip r:embed="rId4"/>
          <a:stretch>
            <a:fillRect/>
          </a:stretch>
        </p:blipFill>
        <p:spPr>
          <a:xfrm>
            <a:off x="9528048" y="1938528"/>
            <a:ext cx="420624" cy="420624"/>
          </a:xfrm>
          <a:prstGeom prst="rect">
            <a:avLst/>
          </a:prstGeom>
        </p:spPr>
      </p:pic>
      <p:sp>
        <p:nvSpPr>
          <p:cNvPr id="18" name="Correlation text"/>
          <p:cNvSpPr txBox="1"/>
          <p:nvPr/>
        </p:nvSpPr>
        <p:spPr>
          <a:xfrm>
            <a:off x="9326880" y="2788920"/>
            <a:ext cx="20116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Correlation</a:t>
            </a:r>
            <a:endParaRPr lang="en-US" sz="2000" dirty="0"/>
          </a:p>
          <a:p>
            <a:pPr indent="0" marL="0">
              <a:spcAft>
                <a:spcPts val="800"/>
              </a:spcAft>
              <a:buNone/>
            </a:pPr>
            <a:r>
              <a:rPr lang="en-US" sz="1400" i="1" dirty="0">
                <a:solidFill>
                  <a:schemeClr val="accent1"/>
                </a:solidFill>
              </a:rPr>
              <a:t>Heatmap</a:t>
            </a:r>
            <a:endParaRPr lang="en-US" sz="2000" dirty="0"/>
          </a:p>
          <a:p>
            <a:pPr indent="0" marL="0">
              <a:spcAft>
                <a:spcPts val="800"/>
              </a:spcAft>
              <a:buNone/>
            </a:pPr>
            <a:r>
              <a:rPr lang="en-US" sz="1400" dirty="0">
                <a:solidFill>
                  <a:schemeClr val="tx1"/>
                </a:solidFill>
              </a:rPr>
              <a:t>Which features carry the same information and which are redundant?</a:t>
            </a:r>
            <a:endParaRPr lang="en-US" sz="2000" dirty="0"/>
          </a:p>
        </p:txBody>
      </p:sp>
      <p:sp>
        <p:nvSpPr>
          <p:cNvPr id="19" name="Order note"/>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500" i="1" dirty="0">
                <a:solidFill>
                  <a:schemeClr val="accent5"/>
                </a:solidFill>
              </a:rPr>
              <a:t>My default order: distributions first, then comparisons, then relationships and correlations, so every later model choice rests on something I have actually seen.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Two sample datasets, one repeatable workflow</a:t>
            </a:r>
            <a:endParaRPr lang="en-US" sz="3400" dirty="0"/>
          </a:p>
        </p:txBody>
      </p:sp>
      <p:sp>
        <p:nvSpPr>
          <p:cNvPr id="3" name="tips card"/>
          <p:cNvSpPr/>
          <p:nvPr/>
        </p:nvSpPr>
        <p:spPr>
          <a:xfrm>
            <a:off x="548640" y="1417320"/>
            <a:ext cx="5394960" cy="2011680"/>
          </a:xfrm>
          <a:prstGeom prst="roundRect">
            <a:avLst>
              <a:gd name="adj" fmla="val 4545"/>
            </a:avLst>
          </a:prstGeom>
          <a:solidFill>
            <a:schemeClr val="bg2"/>
          </a:solidFill>
          <a:ln/>
        </p:spPr>
      </p:sp>
      <p:sp>
        <p:nvSpPr>
          <p:cNvPr id="4" name="tips size"/>
          <p:cNvSpPr txBox="1"/>
          <p:nvPr/>
        </p:nvSpPr>
        <p:spPr>
          <a:xfrm>
            <a:off x="822960" y="1645920"/>
            <a:ext cx="219456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244 × 7</a:t>
            </a:r>
            <a:endParaRPr lang="en-US" sz="4000" dirty="0"/>
          </a:p>
        </p:txBody>
      </p:sp>
      <p:sp>
        <p:nvSpPr>
          <p:cNvPr id="5" name="tips code"/>
          <p:cNvSpPr txBox="1"/>
          <p:nvPr/>
        </p:nvSpPr>
        <p:spPr>
          <a:xfrm>
            <a:off x="3108960" y="1645920"/>
            <a:ext cx="2651760" cy="82296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sns.load_dataset("tips")</a:t>
            </a:r>
            <a:endParaRPr lang="en-US" sz="1400" dirty="0"/>
          </a:p>
        </p:txBody>
      </p:sp>
      <p:sp>
        <p:nvSpPr>
          <p:cNvPr id="6" name="tips description"/>
          <p:cNvSpPr txBox="1"/>
          <p:nvPr/>
        </p:nvSpPr>
        <p:spPr>
          <a:xfrm>
            <a:off x="822960" y="2514600"/>
            <a:ext cx="4846320" cy="777240"/>
          </a:xfrm>
          <a:prstGeom prst="rect">
            <a:avLst/>
          </a:prstGeom>
          <a:noFill/>
          <a:ln/>
        </p:spPr>
        <p:txBody>
          <a:bodyPr wrap="square" lIns="0" tIns="0" rIns="0" bIns="0" rtlCol="0" anchor="t"/>
          <a:lstStyle/>
          <a:p>
            <a:pPr indent="0" marL="0">
              <a:buNone/>
            </a:pPr>
            <a:r>
              <a:rPr lang="en-US" sz="1400" dirty="0">
                <a:solidFill>
                  <a:schemeClr val="tx1"/>
                </a:solidFill>
              </a:rPr>
              <a:t>Restaurant bills: total_bill, tip, sex, smoker, day, time, size. I added tip_pct = tip ÷ bill.</a:t>
            </a:r>
            <a:endParaRPr lang="en-US" sz="1400" dirty="0"/>
          </a:p>
        </p:txBody>
      </p:sp>
      <p:sp>
        <p:nvSpPr>
          <p:cNvPr id="7" name="iris card"/>
          <p:cNvSpPr/>
          <p:nvPr/>
        </p:nvSpPr>
        <p:spPr>
          <a:xfrm>
            <a:off x="6217920" y="1417320"/>
            <a:ext cx="5394960" cy="2011680"/>
          </a:xfrm>
          <a:prstGeom prst="roundRect">
            <a:avLst>
              <a:gd name="adj" fmla="val 4545"/>
            </a:avLst>
          </a:prstGeom>
          <a:solidFill>
            <a:schemeClr val="bg2"/>
          </a:solidFill>
          <a:ln/>
        </p:spPr>
      </p:sp>
      <p:sp>
        <p:nvSpPr>
          <p:cNvPr id="8" name="iris size"/>
          <p:cNvSpPr txBox="1"/>
          <p:nvPr/>
        </p:nvSpPr>
        <p:spPr>
          <a:xfrm>
            <a:off x="6492240" y="1645920"/>
            <a:ext cx="219456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150 × 5</a:t>
            </a:r>
            <a:endParaRPr lang="en-US" sz="4000" dirty="0"/>
          </a:p>
        </p:txBody>
      </p:sp>
      <p:sp>
        <p:nvSpPr>
          <p:cNvPr id="9" name="iris code"/>
          <p:cNvSpPr txBox="1"/>
          <p:nvPr/>
        </p:nvSpPr>
        <p:spPr>
          <a:xfrm>
            <a:off x="8778240" y="1645920"/>
            <a:ext cx="2651760" cy="82296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sns.load_dataset("iris")</a:t>
            </a:r>
            <a:endParaRPr lang="en-US" sz="1400" dirty="0"/>
          </a:p>
        </p:txBody>
      </p:sp>
      <p:sp>
        <p:nvSpPr>
          <p:cNvPr id="10" name="iris description"/>
          <p:cNvSpPr txBox="1"/>
          <p:nvPr/>
        </p:nvSpPr>
        <p:spPr>
          <a:xfrm>
            <a:off x="6492240" y="2514600"/>
            <a:ext cx="4846320" cy="777240"/>
          </a:xfrm>
          <a:prstGeom prst="rect">
            <a:avLst/>
          </a:prstGeom>
          <a:noFill/>
          <a:ln/>
        </p:spPr>
        <p:txBody>
          <a:bodyPr wrap="square" lIns="0" tIns="0" rIns="0" bIns="0" rtlCol="0" anchor="t"/>
          <a:lstStyle/>
          <a:p>
            <a:pPr indent="0" marL="0">
              <a:buNone/>
            </a:pPr>
            <a:r>
              <a:rPr lang="en-US" sz="1400" dirty="0">
                <a:solidFill>
                  <a:schemeClr val="tx1"/>
                </a:solidFill>
              </a:rPr>
              <a:t>Four flower measurements (sepal and petal length and width) and the species label.</a:t>
            </a:r>
            <a:endParaRPr lang="en-US" sz="1400" dirty="0"/>
          </a:p>
        </p:txBody>
      </p:sp>
      <p:sp>
        <p:nvSpPr>
          <p:cNvPr id="11" name="Step 1 circle"/>
          <p:cNvSpPr/>
          <p:nvPr/>
        </p:nvSpPr>
        <p:spPr>
          <a:xfrm>
            <a:off x="1234440" y="3931920"/>
            <a:ext cx="640080" cy="640080"/>
          </a:xfrm>
          <a:prstGeom prst="ellipse">
            <a:avLst/>
          </a:prstGeom>
          <a:solidFill>
            <a:schemeClr val="tx2"/>
          </a:solidFill>
          <a:ln/>
        </p:spPr>
      </p:sp>
      <p:sp>
        <p:nvSpPr>
          <p:cNvPr id="12" name="Step 1 number"/>
          <p:cNvSpPr txBox="1"/>
          <p:nvPr/>
        </p:nvSpPr>
        <p:spPr>
          <a:xfrm>
            <a:off x="1234440" y="3931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Step 1 arrow"/>
          <p:cNvSpPr/>
          <p:nvPr/>
        </p:nvSpPr>
        <p:spPr>
          <a:xfrm>
            <a:off x="1965960" y="4251960"/>
            <a:ext cx="1261872" cy="0"/>
          </a:xfrm>
          <a:prstGeom prst="line">
            <a:avLst/>
          </a:prstGeom>
          <a:noFill/>
          <a:ln w="19050">
            <a:solidFill>
              <a:schemeClr val="accent5"/>
            </a:solidFill>
            <a:prstDash val="solid"/>
            <a:tailEnd type="triangle"/>
          </a:ln>
        </p:spPr>
      </p:sp>
      <p:sp>
        <p:nvSpPr>
          <p:cNvPr id="14" name="Step 1 text"/>
          <p:cNvSpPr txBox="1"/>
          <p:nvPr/>
        </p:nvSpPr>
        <p:spPr>
          <a:xfrm>
            <a:off x="548640" y="4709160"/>
            <a:ext cx="2011680" cy="1188720"/>
          </a:xfrm>
          <a:prstGeom prst="rect">
            <a:avLst/>
          </a:prstGeom>
          <a:noFill/>
          <a:ln/>
        </p:spPr>
        <p:txBody>
          <a:bodyPr wrap="square" lIns="0" tIns="0" rIns="0" bIns="0" rtlCol="0" anchor="t"/>
          <a:lstStyle/>
          <a:p>
            <a:pPr algn="ctr" indent="0" marL="0">
              <a:buNone/>
            </a:pPr>
            <a:r>
              <a:rPr lang="en-US" sz="1600" b="1" dirty="0">
                <a:solidFill>
                  <a:schemeClr val="tx1"/>
                </a:solidFill>
              </a:rPr>
              <a:t>Load</a:t>
            </a:r>
            <a:endParaRPr lang="en-US" sz="1600" dirty="0"/>
          </a:p>
          <a:p>
            <a:pPr algn="ctr" indent="0" marL="0">
              <a:buNone/>
            </a:pPr>
            <a:r>
              <a:rPr lang="en-US" sz="1400" dirty="0">
                <a:solidFill>
                  <a:schemeClr val="accent5"/>
                </a:solidFill>
              </a:rPr>
              <a:t>Seaborn sample data, 0 missing values</a:t>
            </a:r>
            <a:endParaRPr lang="en-US" sz="1600" dirty="0"/>
          </a:p>
        </p:txBody>
      </p:sp>
      <p:sp>
        <p:nvSpPr>
          <p:cNvPr id="15" name="Step 2 circle"/>
          <p:cNvSpPr/>
          <p:nvPr/>
        </p:nvSpPr>
        <p:spPr>
          <a:xfrm>
            <a:off x="3502152" y="3931920"/>
            <a:ext cx="640080" cy="640080"/>
          </a:xfrm>
          <a:prstGeom prst="ellipse">
            <a:avLst/>
          </a:prstGeom>
          <a:solidFill>
            <a:schemeClr val="tx2"/>
          </a:solidFill>
          <a:ln/>
        </p:spPr>
      </p:sp>
      <p:sp>
        <p:nvSpPr>
          <p:cNvPr id="16" name="Step 2 number"/>
          <p:cNvSpPr txBox="1"/>
          <p:nvPr/>
        </p:nvSpPr>
        <p:spPr>
          <a:xfrm>
            <a:off x="3502152" y="3931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Step 2 arrow"/>
          <p:cNvSpPr/>
          <p:nvPr/>
        </p:nvSpPr>
        <p:spPr>
          <a:xfrm>
            <a:off x="4233672" y="4251960"/>
            <a:ext cx="1261872" cy="0"/>
          </a:xfrm>
          <a:prstGeom prst="line">
            <a:avLst/>
          </a:prstGeom>
          <a:noFill/>
          <a:ln w="19050">
            <a:solidFill>
              <a:schemeClr val="accent5"/>
            </a:solidFill>
            <a:prstDash val="solid"/>
            <a:tailEnd type="triangle"/>
          </a:ln>
        </p:spPr>
      </p:sp>
      <p:sp>
        <p:nvSpPr>
          <p:cNvPr id="18" name="Step 2 text"/>
          <p:cNvSpPr txBox="1"/>
          <p:nvPr/>
        </p:nvSpPr>
        <p:spPr>
          <a:xfrm>
            <a:off x="2816352" y="4709160"/>
            <a:ext cx="2011680" cy="1188720"/>
          </a:xfrm>
          <a:prstGeom prst="rect">
            <a:avLst/>
          </a:prstGeom>
          <a:noFill/>
          <a:ln/>
        </p:spPr>
        <p:txBody>
          <a:bodyPr wrap="square" lIns="0" tIns="0" rIns="0" bIns="0" rtlCol="0" anchor="t"/>
          <a:lstStyle/>
          <a:p>
            <a:pPr algn="ctr" indent="0" marL="0">
              <a:buNone/>
            </a:pPr>
            <a:r>
              <a:rPr lang="en-US" sz="1600" b="1" dirty="0">
                <a:solidFill>
                  <a:schemeClr val="tx1"/>
                </a:solidFill>
              </a:rPr>
              <a:t>Plot</a:t>
            </a:r>
            <a:endParaRPr lang="en-US" sz="1600" dirty="0"/>
          </a:p>
          <a:p>
            <a:pPr algn="ctr" indent="0" marL="0">
              <a:buNone/>
            </a:pPr>
            <a:r>
              <a:rPr lang="en-US" sz="1400" dirty="0">
                <a:solidFill>
                  <a:schemeClr val="accent5"/>
                </a:solidFill>
              </a:rPr>
              <a:t>Distributions, groups, pairs, correlations</a:t>
            </a:r>
            <a:endParaRPr lang="en-US" sz="1600" dirty="0"/>
          </a:p>
        </p:txBody>
      </p:sp>
      <p:sp>
        <p:nvSpPr>
          <p:cNvPr id="19" name="Step 3 circle"/>
          <p:cNvSpPr/>
          <p:nvPr/>
        </p:nvSpPr>
        <p:spPr>
          <a:xfrm>
            <a:off x="5769864" y="3931920"/>
            <a:ext cx="640080" cy="640080"/>
          </a:xfrm>
          <a:prstGeom prst="ellipse">
            <a:avLst/>
          </a:prstGeom>
          <a:solidFill>
            <a:schemeClr val="tx2"/>
          </a:solidFill>
          <a:ln/>
        </p:spPr>
      </p:sp>
      <p:sp>
        <p:nvSpPr>
          <p:cNvPr id="20" name="Step 3 number"/>
          <p:cNvSpPr txBox="1"/>
          <p:nvPr/>
        </p:nvSpPr>
        <p:spPr>
          <a:xfrm>
            <a:off x="5769864" y="3931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Step 3 arrow"/>
          <p:cNvSpPr/>
          <p:nvPr/>
        </p:nvSpPr>
        <p:spPr>
          <a:xfrm>
            <a:off x="6501384" y="4251960"/>
            <a:ext cx="1261872" cy="0"/>
          </a:xfrm>
          <a:prstGeom prst="line">
            <a:avLst/>
          </a:prstGeom>
          <a:noFill/>
          <a:ln w="19050">
            <a:solidFill>
              <a:schemeClr val="accent5"/>
            </a:solidFill>
            <a:prstDash val="solid"/>
            <a:tailEnd type="triangle"/>
          </a:ln>
        </p:spPr>
      </p:sp>
      <p:sp>
        <p:nvSpPr>
          <p:cNvPr id="22" name="Step 3 text"/>
          <p:cNvSpPr txBox="1"/>
          <p:nvPr/>
        </p:nvSpPr>
        <p:spPr>
          <a:xfrm>
            <a:off x="5084064" y="4709160"/>
            <a:ext cx="2011680" cy="1188720"/>
          </a:xfrm>
          <a:prstGeom prst="rect">
            <a:avLst/>
          </a:prstGeom>
          <a:noFill/>
          <a:ln/>
        </p:spPr>
        <p:txBody>
          <a:bodyPr wrap="square" lIns="0" tIns="0" rIns="0" bIns="0" rtlCol="0" anchor="t"/>
          <a:lstStyle/>
          <a:p>
            <a:pPr algn="ctr" indent="0" marL="0">
              <a:buNone/>
            </a:pPr>
            <a:r>
              <a:rPr lang="en-US" sz="1600" b="1" dirty="0">
                <a:solidFill>
                  <a:schemeClr val="tx1"/>
                </a:solidFill>
              </a:rPr>
              <a:t>Spot</a:t>
            </a:r>
            <a:endParaRPr lang="en-US" sz="1600" dirty="0"/>
          </a:p>
          <a:p>
            <a:pPr algn="ctr" indent="0" marL="0">
              <a:buNone/>
            </a:pPr>
            <a:r>
              <a:rPr lang="en-US" sz="1400" dirty="0">
                <a:solidFill>
                  <a:schemeClr val="accent5"/>
                </a:solidFill>
              </a:rPr>
              <a:t>Outliers, skew, confounds, redundancy</a:t>
            </a:r>
            <a:endParaRPr lang="en-US" sz="1600" dirty="0"/>
          </a:p>
        </p:txBody>
      </p:sp>
      <p:sp>
        <p:nvSpPr>
          <p:cNvPr id="23" name="Step 4 circle"/>
          <p:cNvSpPr/>
          <p:nvPr/>
        </p:nvSpPr>
        <p:spPr>
          <a:xfrm>
            <a:off x="8037576" y="3931920"/>
            <a:ext cx="640080" cy="640080"/>
          </a:xfrm>
          <a:prstGeom prst="ellipse">
            <a:avLst/>
          </a:prstGeom>
          <a:solidFill>
            <a:schemeClr val="tx2"/>
          </a:solidFill>
          <a:ln/>
        </p:spPr>
      </p:sp>
      <p:sp>
        <p:nvSpPr>
          <p:cNvPr id="24" name="Step 4 number"/>
          <p:cNvSpPr txBox="1"/>
          <p:nvPr/>
        </p:nvSpPr>
        <p:spPr>
          <a:xfrm>
            <a:off x="8037576" y="3931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Step 4 arrow"/>
          <p:cNvSpPr/>
          <p:nvPr/>
        </p:nvSpPr>
        <p:spPr>
          <a:xfrm>
            <a:off x="8769096" y="4251960"/>
            <a:ext cx="1261872" cy="0"/>
          </a:xfrm>
          <a:prstGeom prst="line">
            <a:avLst/>
          </a:prstGeom>
          <a:noFill/>
          <a:ln w="19050">
            <a:solidFill>
              <a:schemeClr val="accent5"/>
            </a:solidFill>
            <a:prstDash val="solid"/>
            <a:tailEnd type="triangle"/>
          </a:ln>
        </p:spPr>
      </p:sp>
      <p:sp>
        <p:nvSpPr>
          <p:cNvPr id="26" name="Step 4 text"/>
          <p:cNvSpPr txBox="1"/>
          <p:nvPr/>
        </p:nvSpPr>
        <p:spPr>
          <a:xfrm>
            <a:off x="7351776" y="4709160"/>
            <a:ext cx="2011680" cy="1188720"/>
          </a:xfrm>
          <a:prstGeom prst="rect">
            <a:avLst/>
          </a:prstGeom>
          <a:noFill/>
          <a:ln/>
        </p:spPr>
        <p:txBody>
          <a:bodyPr wrap="square" lIns="0" tIns="0" rIns="0" bIns="0" rtlCol="0" anchor="t"/>
          <a:lstStyle/>
          <a:p>
            <a:pPr algn="ctr" indent="0" marL="0">
              <a:buNone/>
            </a:pPr>
            <a:r>
              <a:rPr lang="en-US" sz="1600" b="1" dirty="0">
                <a:solidFill>
                  <a:schemeClr val="tx1"/>
                </a:solidFill>
              </a:rPr>
              <a:t>Decide</a:t>
            </a:r>
            <a:endParaRPr lang="en-US" sz="1600" dirty="0"/>
          </a:p>
          <a:p>
            <a:pPr algn="ctr" indent="0" marL="0">
              <a:buNone/>
            </a:pPr>
            <a:r>
              <a:rPr lang="en-US" sz="1400" dirty="0">
                <a:solidFill>
                  <a:schemeClr val="accent5"/>
                </a:solidFill>
              </a:rPr>
              <a:t>Features, transforms, model family</a:t>
            </a:r>
            <a:endParaRPr lang="en-US" sz="1600" dirty="0"/>
          </a:p>
        </p:txBody>
      </p:sp>
      <p:sp>
        <p:nvSpPr>
          <p:cNvPr id="27" name="Step 5 circle"/>
          <p:cNvSpPr/>
          <p:nvPr/>
        </p:nvSpPr>
        <p:spPr>
          <a:xfrm>
            <a:off x="10305288" y="3931920"/>
            <a:ext cx="640080" cy="640080"/>
          </a:xfrm>
          <a:prstGeom prst="ellipse">
            <a:avLst/>
          </a:prstGeom>
          <a:solidFill>
            <a:schemeClr val="accent2"/>
          </a:solidFill>
          <a:ln/>
        </p:spPr>
      </p:sp>
      <p:sp>
        <p:nvSpPr>
          <p:cNvPr id="28" name="Step 5 number"/>
          <p:cNvSpPr txBox="1"/>
          <p:nvPr/>
        </p:nvSpPr>
        <p:spPr>
          <a:xfrm>
            <a:off x="10305288" y="3931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9" name="Step 5 text"/>
          <p:cNvSpPr txBox="1"/>
          <p:nvPr/>
        </p:nvSpPr>
        <p:spPr>
          <a:xfrm>
            <a:off x="9619488" y="4709160"/>
            <a:ext cx="2011680" cy="1188720"/>
          </a:xfrm>
          <a:prstGeom prst="rect">
            <a:avLst/>
          </a:prstGeom>
          <a:noFill/>
          <a:ln/>
        </p:spPr>
        <p:txBody>
          <a:bodyPr wrap="square" lIns="0" tIns="0" rIns="0" bIns="0" rtlCol="0" anchor="t"/>
          <a:lstStyle/>
          <a:p>
            <a:pPr algn="ctr" indent="0" marL="0">
              <a:buNone/>
            </a:pPr>
            <a:r>
              <a:rPr lang="en-US" sz="1600" b="1" dirty="0">
                <a:solidFill>
                  <a:schemeClr val="tx1"/>
                </a:solidFill>
              </a:rPr>
              <a:t>Validate</a:t>
            </a:r>
            <a:endParaRPr lang="en-US" sz="1600" dirty="0"/>
          </a:p>
          <a:p>
            <a:pPr algn="ctr" indent="0" marL="0">
              <a:buNone/>
            </a:pPr>
            <a:r>
              <a:rPr lang="en-US" sz="1400" dirty="0">
                <a:solidFill>
                  <a:schemeClr val="accent5"/>
                </a:solidFill>
              </a:rPr>
              <a:t>5-fold cross-validation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Boxplots flag the extremes worth a second look</a:t>
            </a:r>
            <a:endParaRPr lang="en-US" sz="3400" dirty="0"/>
          </a:p>
        </p:txBody>
      </p:sp>
      <p:pic>
        <p:nvPicPr>
          <p:cNvPr id="3" name="Boxplots of total bill by day and tip percent by smoker" descr="Boxplots of total bill by day and tip percent by smoker">    </p:cNvPr>
          <p:cNvPicPr>
            <a:picLocks noChangeAspect="1"/>
          </p:cNvPicPr>
          <p:nvPr/>
        </p:nvPicPr>
        <p:blipFill>
          <a:blip r:embed="rId1"/>
          <a:stretch>
            <a:fillRect/>
          </a:stretch>
        </p:blipFill>
        <p:spPr>
          <a:xfrm>
            <a:off x="548640" y="1371600"/>
            <a:ext cx="7040880" cy="3242327"/>
          </a:xfrm>
          <a:prstGeom prst="rect">
            <a:avLst/>
          </a:prstGeom>
        </p:spPr>
      </p:pic>
      <p:sp>
        <p:nvSpPr>
          <p:cNvPr id="4" name="Boxplot decision box"/>
          <p:cNvSpPr/>
          <p:nvPr/>
        </p:nvSpPr>
        <p:spPr>
          <a:xfrm>
            <a:off x="548640" y="4892040"/>
            <a:ext cx="7040880" cy="1143000"/>
          </a:xfrm>
          <a:prstGeom prst="roundRect">
            <a:avLst>
              <a:gd name="adj" fmla="val 6400"/>
            </a:avLst>
          </a:prstGeom>
          <a:solidFill>
            <a:schemeClr val="bg2"/>
          </a:solidFill>
          <a:ln/>
        </p:spPr>
      </p:sp>
      <p:sp>
        <p:nvSpPr>
          <p:cNvPr id="5" name="Boxplot decision text"/>
          <p:cNvSpPr txBox="1"/>
          <p:nvPr/>
        </p:nvSpPr>
        <p:spPr>
          <a:xfrm>
            <a:off x="777240" y="4892040"/>
            <a:ext cx="6583680" cy="1143000"/>
          </a:xfrm>
          <a:prstGeom prst="rect">
            <a:avLst/>
          </a:prstGeom>
          <a:noFill/>
          <a:ln/>
        </p:spPr>
        <p:txBody>
          <a:bodyPr wrap="square" lIns="0" tIns="0" rIns="0" bIns="0" rtlCol="0" anchor="ctr"/>
          <a:lstStyle/>
          <a:p>
            <a:pPr indent="0" marL="0">
              <a:buNone/>
            </a:pPr>
            <a:r>
              <a:rPr lang="en-US" sz="1300" b="1" spc="100" kern="0" dirty="0">
                <a:solidFill>
                  <a:schemeClr val="accent2"/>
                </a:solidFill>
              </a:rPr>
              <a:t>DECISION  </a:t>
            </a:r>
            <a:pPr indent="0" marL="0">
              <a:buNone/>
            </a:pPr>
            <a:r>
              <a:rPr lang="en-US" sz="1400" dirty="0">
                <a:solidFill>
                  <a:schemeClr val="tx1"/>
                </a:solidFill>
              </a:rPr>
              <a:t>Keep the large bills (real parties, not errors), flag the 71% tip, and use medians or robust scaling instead of means.</a:t>
            </a:r>
            <a:endParaRPr lang="en-US" sz="1300" dirty="0"/>
          </a:p>
        </p:txBody>
      </p:sp>
      <p:sp>
        <p:nvSpPr>
          <p:cNvPr id="6" name="Boxplot finding 1 marker"/>
          <p:cNvSpPr/>
          <p:nvPr/>
        </p:nvSpPr>
        <p:spPr>
          <a:xfrm>
            <a:off x="7955280" y="1435608"/>
            <a:ext cx="384048" cy="384048"/>
          </a:xfrm>
          <a:prstGeom prst="ellipse">
            <a:avLst/>
          </a:prstGeom>
          <a:solidFill>
            <a:schemeClr val="accent1"/>
          </a:solidFill>
          <a:ln/>
        </p:spPr>
      </p:sp>
      <p:sp>
        <p:nvSpPr>
          <p:cNvPr id="7" name="Boxplot finding 1 number"/>
          <p:cNvSpPr txBox="1"/>
          <p:nvPr/>
        </p:nvSpPr>
        <p:spPr>
          <a:xfrm>
            <a:off x="7955280" y="14356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Boxplot finding 1 text"/>
          <p:cNvSpPr txBox="1"/>
          <p:nvPr/>
        </p:nvSpPr>
        <p:spPr>
          <a:xfrm>
            <a:off x="8503920" y="1417320"/>
            <a:ext cx="310896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9 bills above the $40.30 fence</a:t>
            </a:r>
            <a:endParaRPr lang="en-US" sz="1600" dirty="0"/>
          </a:p>
          <a:p>
            <a:pPr indent="0" marL="0">
              <a:spcAft>
                <a:spcPts val="300"/>
              </a:spcAft>
              <a:buNone/>
            </a:pPr>
            <a:r>
              <a:rPr lang="en-US" sz="1400" dirty="0">
                <a:solidFill>
                  <a:schemeClr val="tx1"/>
                </a:solidFill>
              </a:rPr>
              <a:t>Every day has high outliers, and they sit on the long right tail rather than looking like typos.</a:t>
            </a:r>
            <a:endParaRPr lang="en-US" sz="1600" dirty="0"/>
          </a:p>
        </p:txBody>
      </p:sp>
      <p:sp>
        <p:nvSpPr>
          <p:cNvPr id="9" name="Boxplot finding 2 marker"/>
          <p:cNvSpPr/>
          <p:nvPr/>
        </p:nvSpPr>
        <p:spPr>
          <a:xfrm>
            <a:off x="7955280" y="2990088"/>
            <a:ext cx="384048" cy="384048"/>
          </a:xfrm>
          <a:prstGeom prst="ellipse">
            <a:avLst/>
          </a:prstGeom>
          <a:solidFill>
            <a:schemeClr val="accent1"/>
          </a:solidFill>
          <a:ln/>
        </p:spPr>
      </p:sp>
      <p:sp>
        <p:nvSpPr>
          <p:cNvPr id="10" name="Boxplot finding 2 number"/>
          <p:cNvSpPr txBox="1"/>
          <p:nvPr/>
        </p:nvSpPr>
        <p:spPr>
          <a:xfrm>
            <a:off x="7955280" y="29900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Boxplot finding 2 text"/>
          <p:cNvSpPr txBox="1"/>
          <p:nvPr/>
        </p:nvSpPr>
        <p:spPr>
          <a:xfrm>
            <a:off x="8503920" y="2971800"/>
            <a:ext cx="310896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One 71% tip</a:t>
            </a:r>
            <a:endParaRPr lang="en-US" sz="1600" dirty="0"/>
          </a:p>
          <a:p>
            <a:pPr indent="0" marL="0">
              <a:spcAft>
                <a:spcPts val="300"/>
              </a:spcAft>
              <a:buNone/>
            </a:pPr>
            <a:r>
              <a:rPr lang="en-US" sz="1400" dirty="0">
                <a:solidFill>
                  <a:schemeClr val="tx1"/>
                </a:solidFill>
              </a:rPr>
              <a:t>$5.15 on a $7.25 bill, from a smoker table. A single row like this can drag a mean.</a:t>
            </a:r>
            <a:endParaRPr lang="en-US" sz="1600" dirty="0"/>
          </a:p>
        </p:txBody>
      </p:sp>
      <p:sp>
        <p:nvSpPr>
          <p:cNvPr id="12" name="Boxplot finding 3 marker"/>
          <p:cNvSpPr/>
          <p:nvPr/>
        </p:nvSpPr>
        <p:spPr>
          <a:xfrm>
            <a:off x="7955280" y="4544568"/>
            <a:ext cx="384048" cy="384048"/>
          </a:xfrm>
          <a:prstGeom prst="ellipse">
            <a:avLst/>
          </a:prstGeom>
          <a:solidFill>
            <a:schemeClr val="accent1"/>
          </a:solidFill>
          <a:ln/>
        </p:spPr>
      </p:sp>
      <p:sp>
        <p:nvSpPr>
          <p:cNvPr id="13" name="Boxplot finding 3 number"/>
          <p:cNvSpPr txBox="1"/>
          <p:nvPr/>
        </p:nvSpPr>
        <p:spPr>
          <a:xfrm>
            <a:off x="7955280" y="4544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Boxplot finding 3 text"/>
          <p:cNvSpPr txBox="1"/>
          <p:nvPr/>
        </p:nvSpPr>
        <p:spPr>
          <a:xfrm>
            <a:off x="8503920" y="4526280"/>
            <a:ext cx="310896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Same median, double the spread</a:t>
            </a:r>
            <a:endParaRPr lang="en-US" sz="1600" dirty="0"/>
          </a:p>
          <a:p>
            <a:pPr indent="0" marL="0">
              <a:spcAft>
                <a:spcPts val="300"/>
              </a:spcAft>
              <a:buNone/>
            </a:pPr>
            <a:r>
              <a:rPr lang="en-US" sz="1400" dirty="0">
                <a:solidFill>
                  <a:schemeClr val="tx1"/>
                </a:solidFill>
              </a:rPr>
              <a:t>Smokers and non-smokers both tip about 15.5%, but the SD is 8.5 vs 4.0 points.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Violins expose a day and meal-time confound</a:t>
            </a:r>
            <a:endParaRPr lang="en-US" sz="3400" dirty="0"/>
          </a:p>
        </p:txBody>
      </p:sp>
      <p:sp>
        <p:nvSpPr>
          <p:cNvPr id="3" name="Violin finding 1 marker"/>
          <p:cNvSpPr/>
          <p:nvPr/>
        </p:nvSpPr>
        <p:spPr>
          <a:xfrm>
            <a:off x="548640" y="1435608"/>
            <a:ext cx="384048" cy="384048"/>
          </a:xfrm>
          <a:prstGeom prst="ellipse">
            <a:avLst/>
          </a:prstGeom>
          <a:solidFill>
            <a:schemeClr val="accent1"/>
          </a:solidFill>
          <a:ln/>
        </p:spPr>
      </p:sp>
      <p:sp>
        <p:nvSpPr>
          <p:cNvPr id="4" name="Violin finding 1 number"/>
          <p:cNvSpPr txBox="1"/>
          <p:nvPr/>
        </p:nvSpPr>
        <p:spPr>
          <a:xfrm>
            <a:off x="548640" y="14356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Violin finding 1 text"/>
          <p:cNvSpPr txBox="1"/>
          <p:nvPr/>
        </p:nvSpPr>
        <p:spPr>
          <a:xfrm>
            <a:off x="1097280" y="1417320"/>
            <a:ext cx="310896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Thursday is lunch; weekends are dinner</a:t>
            </a:r>
            <a:endParaRPr lang="en-US" sz="1600" dirty="0"/>
          </a:p>
          <a:p>
            <a:pPr indent="0" marL="0">
              <a:spcAft>
                <a:spcPts val="300"/>
              </a:spcAft>
              <a:buNone/>
            </a:pPr>
            <a:r>
              <a:rPr lang="en-US" sz="1400" dirty="0">
                <a:solidFill>
                  <a:schemeClr val="tx1"/>
                </a:solidFill>
              </a:rPr>
              <a:t>61 of 62 Thursday tables are lunch. Saturday and Sunday have no lunch at all.</a:t>
            </a:r>
            <a:endParaRPr lang="en-US" sz="1600" dirty="0"/>
          </a:p>
        </p:txBody>
      </p:sp>
      <p:sp>
        <p:nvSpPr>
          <p:cNvPr id="6" name="Violin finding 2 marker"/>
          <p:cNvSpPr/>
          <p:nvPr/>
        </p:nvSpPr>
        <p:spPr>
          <a:xfrm>
            <a:off x="548640" y="2990088"/>
            <a:ext cx="384048" cy="384048"/>
          </a:xfrm>
          <a:prstGeom prst="ellipse">
            <a:avLst/>
          </a:prstGeom>
          <a:solidFill>
            <a:schemeClr val="accent1"/>
          </a:solidFill>
          <a:ln/>
        </p:spPr>
      </p:sp>
      <p:sp>
        <p:nvSpPr>
          <p:cNvPr id="7" name="Violin finding 2 number"/>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Violin finding 2 text"/>
          <p:cNvSpPr txBox="1"/>
          <p:nvPr/>
        </p:nvSpPr>
        <p:spPr>
          <a:xfrm>
            <a:off x="1097280" y="2971800"/>
            <a:ext cx="310896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Dinner bills have a longer tail</a:t>
            </a:r>
            <a:endParaRPr lang="en-US" sz="1600" dirty="0"/>
          </a:p>
          <a:p>
            <a:pPr indent="0" marL="0">
              <a:spcAft>
                <a:spcPts val="300"/>
              </a:spcAft>
              <a:buNone/>
            </a:pPr>
            <a:r>
              <a:rPr lang="en-US" sz="1400" dirty="0">
                <a:solidFill>
                  <a:schemeClr val="tx1"/>
                </a:solidFill>
              </a:rPr>
              <a:t>Weekend violins stretch up to $50; Thursday lunch bunches around $12-$20.</a:t>
            </a:r>
            <a:endParaRPr lang="en-US" sz="1600" dirty="0"/>
          </a:p>
        </p:txBody>
      </p:sp>
      <p:sp>
        <p:nvSpPr>
          <p:cNvPr id="9" name="Violin finding 3 marker"/>
          <p:cNvSpPr/>
          <p:nvPr/>
        </p:nvSpPr>
        <p:spPr>
          <a:xfrm>
            <a:off x="548640" y="4544568"/>
            <a:ext cx="384048" cy="384048"/>
          </a:xfrm>
          <a:prstGeom prst="ellipse">
            <a:avLst/>
          </a:prstGeom>
          <a:solidFill>
            <a:schemeClr val="accent1"/>
          </a:solidFill>
          <a:ln/>
        </p:spPr>
      </p:sp>
      <p:sp>
        <p:nvSpPr>
          <p:cNvPr id="10" name="Violin finding 3 number"/>
          <p:cNvSpPr txBox="1"/>
          <p:nvPr/>
        </p:nvSpPr>
        <p:spPr>
          <a:xfrm>
            <a:off x="548640" y="4544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Violin finding 3 text"/>
          <p:cNvSpPr txBox="1"/>
          <p:nvPr/>
        </p:nvSpPr>
        <p:spPr>
          <a:xfrm>
            <a:off x="1097280" y="4526280"/>
            <a:ext cx="310896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Friday is thin</a:t>
            </a:r>
            <a:endParaRPr lang="en-US" sz="1600" dirty="0"/>
          </a:p>
          <a:p>
            <a:pPr indent="0" marL="0">
              <a:spcAft>
                <a:spcPts val="300"/>
              </a:spcAft>
              <a:buNone/>
            </a:pPr>
            <a:r>
              <a:rPr lang="en-US" sz="1400" dirty="0">
                <a:solidFill>
                  <a:schemeClr val="tx1"/>
                </a:solidFill>
              </a:rPr>
              <a:t>Only 19 tables, so the Friday shape is too noisy to trust on its own.</a:t>
            </a:r>
            <a:endParaRPr lang="en-US" sz="1600" dirty="0"/>
          </a:p>
        </p:txBody>
      </p:sp>
      <p:pic>
        <p:nvPicPr>
          <p:cNvPr id="12" name="Split violin plot of total bill by day and meal time" descr="Split violin plot of total bill by day and meal time">    </p:cNvPr>
          <p:cNvPicPr>
            <a:picLocks noChangeAspect="1"/>
          </p:cNvPicPr>
          <p:nvPr/>
        </p:nvPicPr>
        <p:blipFill>
          <a:blip r:embed="rId1"/>
          <a:stretch>
            <a:fillRect/>
          </a:stretch>
        </p:blipFill>
        <p:spPr>
          <a:xfrm>
            <a:off x="4572000" y="1371600"/>
            <a:ext cx="7040880" cy="3287048"/>
          </a:xfrm>
          <a:prstGeom prst="rect">
            <a:avLst/>
          </a:prstGeom>
        </p:spPr>
      </p:pic>
      <p:sp>
        <p:nvSpPr>
          <p:cNvPr id="13" name="Violin decision box"/>
          <p:cNvSpPr/>
          <p:nvPr/>
        </p:nvSpPr>
        <p:spPr>
          <a:xfrm>
            <a:off x="4572000" y="4892040"/>
            <a:ext cx="7040880" cy="1143000"/>
          </a:xfrm>
          <a:prstGeom prst="roundRect">
            <a:avLst>
              <a:gd name="adj" fmla="val 6400"/>
            </a:avLst>
          </a:prstGeom>
          <a:solidFill>
            <a:schemeClr val="bg2"/>
          </a:solidFill>
          <a:ln/>
        </p:spPr>
      </p:sp>
      <p:sp>
        <p:nvSpPr>
          <p:cNvPr id="14" name="Violin decision text"/>
          <p:cNvSpPr txBox="1"/>
          <p:nvPr/>
        </p:nvSpPr>
        <p:spPr>
          <a:xfrm>
            <a:off x="4800600" y="4892040"/>
            <a:ext cx="6583680" cy="1143000"/>
          </a:xfrm>
          <a:prstGeom prst="rect">
            <a:avLst/>
          </a:prstGeom>
          <a:noFill/>
          <a:ln/>
        </p:spPr>
        <p:txBody>
          <a:bodyPr wrap="square" lIns="0" tIns="0" rIns="0" bIns="0" rtlCol="0" anchor="ctr"/>
          <a:lstStyle/>
          <a:p>
            <a:pPr indent="0" marL="0">
              <a:buNone/>
            </a:pPr>
            <a:r>
              <a:rPr lang="en-US" sz="1300" b="1" spc="100" kern="0" dirty="0">
                <a:solidFill>
                  <a:schemeClr val="accent2"/>
                </a:solidFill>
              </a:rPr>
              <a:t>DECISION  </a:t>
            </a:r>
            <a:pPr indent="0" marL="0">
              <a:buNone/>
            </a:pPr>
            <a:r>
              <a:rPr lang="en-US" sz="1400" dirty="0">
                <a:solidFill>
                  <a:schemeClr val="tx1"/>
                </a:solidFill>
              </a:rPr>
              <a:t>Don't feed both day and time to a model as if they were independent. Use one, or a weekday-lunch vs weekend-dinner flag.</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Scatter and histogram: trend plus rounding</a:t>
            </a:r>
            <a:endParaRPr lang="en-US" sz="3400" dirty="0"/>
          </a:p>
        </p:txBody>
      </p:sp>
      <p:pic>
        <p:nvPicPr>
          <p:cNvPr id="3" name="Regression scatter of tip vs bill and histogram of tip amounts" descr="Regression scatter of tip vs bill and histogram of tip amounts">    </p:cNvPr>
          <p:cNvPicPr>
            <a:picLocks noChangeAspect="1"/>
          </p:cNvPicPr>
          <p:nvPr/>
        </p:nvPicPr>
        <p:blipFill>
          <a:blip r:embed="rId1"/>
          <a:stretch>
            <a:fillRect/>
          </a:stretch>
        </p:blipFill>
        <p:spPr>
          <a:xfrm>
            <a:off x="2026768" y="1280160"/>
            <a:ext cx="8138160" cy="3642078"/>
          </a:xfrm>
          <a:prstGeom prst="rect">
            <a:avLst/>
          </a:prstGeom>
        </p:spPr>
      </p:pic>
      <p:sp>
        <p:nvSpPr>
          <p:cNvPr id="4" name="Scatter card 1"/>
          <p:cNvSpPr/>
          <p:nvPr/>
        </p:nvSpPr>
        <p:spPr>
          <a:xfrm>
            <a:off x="548640" y="5074920"/>
            <a:ext cx="3566160" cy="1143000"/>
          </a:xfrm>
          <a:prstGeom prst="roundRect">
            <a:avLst>
              <a:gd name="adj" fmla="val 6400"/>
            </a:avLst>
          </a:prstGeom>
          <a:solidFill>
            <a:schemeClr val="bg2"/>
          </a:solidFill>
          <a:ln/>
        </p:spPr>
      </p:sp>
      <p:sp>
        <p:nvSpPr>
          <p:cNvPr id="5" name="Scatter card 1 text"/>
          <p:cNvSpPr txBox="1"/>
          <p:nvPr/>
        </p:nvSpPr>
        <p:spPr>
          <a:xfrm>
            <a:off x="731520" y="5148072"/>
            <a:ext cx="3200400" cy="996696"/>
          </a:xfrm>
          <a:prstGeom prst="rect">
            <a:avLst/>
          </a:prstGeom>
          <a:noFill/>
          <a:ln/>
        </p:spPr>
        <p:txBody>
          <a:bodyPr wrap="square" lIns="0" tIns="0" rIns="0" bIns="0" rtlCol="0" anchor="ctr"/>
          <a:lstStyle/>
          <a:p>
            <a:pPr indent="0" marL="0">
              <a:spcAft>
                <a:spcPts val="200"/>
              </a:spcAft>
              <a:buNone/>
            </a:pPr>
            <a:r>
              <a:rPr lang="en-US" sz="1600" b="1" dirty="0">
                <a:solidFill>
                  <a:schemeClr val="accent1"/>
                </a:solidFill>
              </a:rPr>
              <a:t>Linear, r = 0.68</a:t>
            </a:r>
            <a:endParaRPr lang="en-US" sz="1600" dirty="0"/>
          </a:p>
          <a:p>
            <a:pPr indent="0" marL="0">
              <a:spcAft>
                <a:spcPts val="200"/>
              </a:spcAft>
              <a:buNone/>
            </a:pPr>
            <a:r>
              <a:rPr lang="en-US" sz="1400" dirty="0">
                <a:solidFill>
                  <a:schemeClr val="tx1"/>
                </a:solidFill>
              </a:rPr>
              <a:t>Each extra $1 of bill adds about 10.5¢ of tip. A straight line is a fair first model.</a:t>
            </a:r>
            <a:endParaRPr lang="en-US" sz="1600" dirty="0"/>
          </a:p>
        </p:txBody>
      </p:sp>
      <p:sp>
        <p:nvSpPr>
          <p:cNvPr id="6" name="Scatter card 2"/>
          <p:cNvSpPr/>
          <p:nvPr/>
        </p:nvSpPr>
        <p:spPr>
          <a:xfrm>
            <a:off x="4297680" y="5074920"/>
            <a:ext cx="3566160" cy="1143000"/>
          </a:xfrm>
          <a:prstGeom prst="roundRect">
            <a:avLst>
              <a:gd name="adj" fmla="val 6400"/>
            </a:avLst>
          </a:prstGeom>
          <a:solidFill>
            <a:schemeClr val="bg2"/>
          </a:solidFill>
          <a:ln/>
        </p:spPr>
      </p:sp>
      <p:sp>
        <p:nvSpPr>
          <p:cNvPr id="7" name="Scatter card 2 text"/>
          <p:cNvSpPr txBox="1"/>
          <p:nvPr/>
        </p:nvSpPr>
        <p:spPr>
          <a:xfrm>
            <a:off x="4480560" y="5148072"/>
            <a:ext cx="3200400" cy="996696"/>
          </a:xfrm>
          <a:prstGeom prst="rect">
            <a:avLst/>
          </a:prstGeom>
          <a:noFill/>
          <a:ln/>
        </p:spPr>
        <p:txBody>
          <a:bodyPr wrap="square" lIns="0" tIns="0" rIns="0" bIns="0" rtlCol="0" anchor="ctr"/>
          <a:lstStyle/>
          <a:p>
            <a:pPr indent="0" marL="0">
              <a:spcAft>
                <a:spcPts val="200"/>
              </a:spcAft>
              <a:buNone/>
            </a:pPr>
            <a:r>
              <a:rPr lang="en-US" sz="1600" b="1" dirty="0">
                <a:solidFill>
                  <a:schemeClr val="accent3"/>
                </a:solidFill>
              </a:rPr>
              <a:t>35% are whole dollars</a:t>
            </a:r>
            <a:endParaRPr lang="en-US" sz="1600" dirty="0"/>
          </a:p>
          <a:p>
            <a:pPr indent="0" marL="0">
              <a:spcAft>
                <a:spcPts val="200"/>
              </a:spcAft>
              <a:buNone/>
            </a:pPr>
            <a:r>
              <a:rPr lang="en-US" sz="1400" dirty="0">
                <a:solidFill>
                  <a:schemeClr val="tx1"/>
                </a:solidFill>
              </a:rPr>
              <a:t>Red bars at $2, $3, $4, $5: people round. That caps how precisely any model can predict a tip.</a:t>
            </a:r>
            <a:endParaRPr lang="en-US" sz="1600" dirty="0"/>
          </a:p>
        </p:txBody>
      </p:sp>
      <p:sp>
        <p:nvSpPr>
          <p:cNvPr id="8" name="Scatter card 3"/>
          <p:cNvSpPr/>
          <p:nvPr/>
        </p:nvSpPr>
        <p:spPr>
          <a:xfrm>
            <a:off x="8046720" y="5074920"/>
            <a:ext cx="3566160" cy="1143000"/>
          </a:xfrm>
          <a:prstGeom prst="roundRect">
            <a:avLst>
              <a:gd name="adj" fmla="val 6400"/>
            </a:avLst>
          </a:prstGeom>
          <a:solidFill>
            <a:schemeClr val="bg2"/>
          </a:solidFill>
          <a:ln/>
        </p:spPr>
      </p:sp>
      <p:sp>
        <p:nvSpPr>
          <p:cNvPr id="9" name="Scatter card 3 text"/>
          <p:cNvSpPr txBox="1"/>
          <p:nvPr/>
        </p:nvSpPr>
        <p:spPr>
          <a:xfrm>
            <a:off x="8229600" y="5148072"/>
            <a:ext cx="3200400" cy="996696"/>
          </a:xfrm>
          <a:prstGeom prst="rect">
            <a:avLst/>
          </a:prstGeom>
          <a:noFill/>
          <a:ln/>
        </p:spPr>
        <p:txBody>
          <a:bodyPr wrap="square" lIns="0" tIns="0" rIns="0" bIns="0" rtlCol="0" anchor="ctr"/>
          <a:lstStyle/>
          <a:p>
            <a:pPr indent="0" marL="0">
              <a:spcAft>
                <a:spcPts val="200"/>
              </a:spcAft>
              <a:buNone/>
            </a:pPr>
            <a:r>
              <a:rPr lang="en-US" sz="1600" b="1" dirty="0">
                <a:solidFill>
                  <a:schemeClr val="accent1"/>
                </a:solidFill>
              </a:rPr>
              <a:t>Tip % falls as bills grow</a:t>
            </a:r>
            <a:endParaRPr lang="en-US" sz="1600" dirty="0"/>
          </a:p>
          <a:p>
            <a:pPr indent="0" marL="0">
              <a:spcAft>
                <a:spcPts val="200"/>
              </a:spcAft>
              <a:buNone/>
            </a:pPr>
            <a:r>
              <a:rPr lang="en-US" sz="1400" dirty="0">
                <a:solidFill>
                  <a:schemeClr val="tx1"/>
                </a:solidFill>
              </a:rPr>
              <a:t>r = −0.34 between bill and tip %, so a flat-percentage rule would overpredict big tables.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One grid, four views: combining subplots</a:t>
            </a:r>
            <a:endParaRPr lang="en-US" sz="3400" dirty="0"/>
          </a:p>
        </p:txBody>
      </p:sp>
      <p:pic>
        <p:nvPicPr>
          <p:cNvPr id="3" name="Two by two grid of tips plots" descr="Two by two grid of tips plots">    </p:cNvPr>
          <p:cNvPicPr>
            <a:picLocks noChangeAspect="1"/>
          </p:cNvPicPr>
          <p:nvPr/>
        </p:nvPicPr>
        <p:blipFill>
          <a:blip r:embed="rId1"/>
          <a:stretch>
            <a:fillRect/>
          </a:stretch>
        </p:blipFill>
        <p:spPr>
          <a:xfrm>
            <a:off x="548640" y="1280160"/>
            <a:ext cx="6949440" cy="4992474"/>
          </a:xfrm>
          <a:prstGeom prst="rect">
            <a:avLst/>
          </a:prstGeom>
        </p:spPr>
      </p:pic>
      <p:sp>
        <p:nvSpPr>
          <p:cNvPr id="4" name="Panel A marker"/>
          <p:cNvSpPr/>
          <p:nvPr/>
        </p:nvSpPr>
        <p:spPr>
          <a:xfrm>
            <a:off x="7863840" y="1389888"/>
            <a:ext cx="384048" cy="384048"/>
          </a:xfrm>
          <a:prstGeom prst="ellipse">
            <a:avLst/>
          </a:prstGeom>
          <a:solidFill>
            <a:schemeClr val="accent2"/>
          </a:solidFill>
          <a:ln/>
        </p:spPr>
      </p:sp>
      <p:sp>
        <p:nvSpPr>
          <p:cNvPr id="5" name="Panel A letter"/>
          <p:cNvSpPr txBox="1"/>
          <p:nvPr/>
        </p:nvSpPr>
        <p:spPr>
          <a:xfrm>
            <a:off x="7863840" y="1389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6" name="Panel A text"/>
          <p:cNvSpPr txBox="1"/>
          <p:nvPr/>
        </p:nvSpPr>
        <p:spPr>
          <a:xfrm>
            <a:off x="8412480" y="1371600"/>
            <a:ext cx="3200400" cy="960120"/>
          </a:xfrm>
          <a:prstGeom prst="rect">
            <a:avLst/>
          </a:prstGeom>
          <a:noFill/>
          <a:ln/>
        </p:spPr>
        <p:txBody>
          <a:bodyPr wrap="square" lIns="0" tIns="0" rIns="0" bIns="0" rtlCol="0" anchor="t"/>
          <a:lstStyle/>
          <a:p>
            <a:pPr indent="0" marL="0">
              <a:buNone/>
            </a:pPr>
            <a:r>
              <a:rPr lang="en-US" sz="1600" b="1" dirty="0">
                <a:solidFill>
                  <a:schemeClr val="tx1"/>
                </a:solidFill>
              </a:rPr>
              <a:t>Bill is right-skewed</a:t>
            </a:r>
            <a:endParaRPr lang="en-US" sz="1600" dirty="0"/>
          </a:p>
          <a:p>
            <a:pPr indent="0" marL="0">
              <a:buNone/>
            </a:pPr>
            <a:r>
              <a:rPr lang="en-US" sz="1400" dirty="0">
                <a:solidFill>
                  <a:schemeClr val="tx1"/>
                </a:solidFill>
              </a:rPr>
              <a:t>Skew 1.13 drops to −0.12 after a log transform.</a:t>
            </a:r>
            <a:endParaRPr lang="en-US" sz="1600" dirty="0"/>
          </a:p>
        </p:txBody>
      </p:sp>
      <p:sp>
        <p:nvSpPr>
          <p:cNvPr id="7" name="Panel B marker"/>
          <p:cNvSpPr/>
          <p:nvPr/>
        </p:nvSpPr>
        <p:spPr>
          <a:xfrm>
            <a:off x="7863840" y="2414016"/>
            <a:ext cx="384048" cy="384048"/>
          </a:xfrm>
          <a:prstGeom prst="ellipse">
            <a:avLst/>
          </a:prstGeom>
          <a:solidFill>
            <a:schemeClr val="accent2"/>
          </a:solidFill>
          <a:ln/>
        </p:spPr>
      </p:sp>
      <p:sp>
        <p:nvSpPr>
          <p:cNvPr id="8" name="Panel B letter"/>
          <p:cNvSpPr txBox="1"/>
          <p:nvPr/>
        </p:nvSpPr>
        <p:spPr>
          <a:xfrm>
            <a:off x="7863840" y="24140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9" name="Panel B text"/>
          <p:cNvSpPr txBox="1"/>
          <p:nvPr/>
        </p:nvSpPr>
        <p:spPr>
          <a:xfrm>
            <a:off x="8412480" y="2395728"/>
            <a:ext cx="3200400" cy="960120"/>
          </a:xfrm>
          <a:prstGeom prst="rect">
            <a:avLst/>
          </a:prstGeom>
          <a:noFill/>
          <a:ln/>
        </p:spPr>
        <p:txBody>
          <a:bodyPr wrap="square" lIns="0" tIns="0" rIns="0" bIns="0" rtlCol="0" anchor="t"/>
          <a:lstStyle/>
          <a:p>
            <a:pPr indent="0" marL="0">
              <a:buNone/>
            </a:pPr>
            <a:r>
              <a:rPr lang="en-US" sz="1600" b="1" dirty="0">
                <a:solidFill>
                  <a:schemeClr val="tx1"/>
                </a:solidFill>
              </a:rPr>
              <a:t>Tip % barely moves with party size</a:t>
            </a:r>
            <a:endParaRPr lang="en-US" sz="1600" dirty="0"/>
          </a:p>
          <a:p>
            <a:pPr indent="0" marL="0">
              <a:buNone/>
            </a:pPr>
            <a:r>
              <a:rPr lang="en-US" sz="1400" dirty="0">
                <a:solidFill>
                  <a:schemeClr val="tx1"/>
                </a:solidFill>
              </a:rPr>
              <a:t>Medians 12-20%; sizes 1, 5 and 6 have only 4-5 tables each.</a:t>
            </a:r>
            <a:endParaRPr lang="en-US" sz="1600" dirty="0"/>
          </a:p>
        </p:txBody>
      </p:sp>
      <p:sp>
        <p:nvSpPr>
          <p:cNvPr id="10" name="Panel C marker"/>
          <p:cNvSpPr/>
          <p:nvPr/>
        </p:nvSpPr>
        <p:spPr>
          <a:xfrm>
            <a:off x="7863840" y="3438144"/>
            <a:ext cx="384048" cy="384048"/>
          </a:xfrm>
          <a:prstGeom prst="ellipse">
            <a:avLst/>
          </a:prstGeom>
          <a:solidFill>
            <a:schemeClr val="accent2"/>
          </a:solidFill>
          <a:ln/>
        </p:spPr>
      </p:sp>
      <p:sp>
        <p:nvSpPr>
          <p:cNvPr id="11" name="Panel C letter"/>
          <p:cNvSpPr txBox="1"/>
          <p:nvPr/>
        </p:nvSpPr>
        <p:spPr>
          <a:xfrm>
            <a:off x="7863840" y="34381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2" name="Panel C text"/>
          <p:cNvSpPr txBox="1"/>
          <p:nvPr/>
        </p:nvSpPr>
        <p:spPr>
          <a:xfrm>
            <a:off x="8412480" y="3419856"/>
            <a:ext cx="3200400" cy="960120"/>
          </a:xfrm>
          <a:prstGeom prst="rect">
            <a:avLst/>
          </a:prstGeom>
          <a:noFill/>
          <a:ln/>
        </p:spPr>
        <p:txBody>
          <a:bodyPr wrap="square" lIns="0" tIns="0" rIns="0" bIns="0" rtlCol="0" anchor="t"/>
          <a:lstStyle/>
          <a:p>
            <a:pPr indent="0" marL="0">
              <a:buNone/>
            </a:pPr>
            <a:r>
              <a:rPr lang="en-US" sz="1600" b="1" dirty="0">
                <a:solidFill>
                  <a:schemeClr val="tx1"/>
                </a:solidFill>
              </a:rPr>
              <a:t>Tip % shrinks on bigger bills</a:t>
            </a:r>
            <a:endParaRPr lang="en-US" sz="1600" dirty="0"/>
          </a:p>
          <a:p>
            <a:pPr indent="0" marL="0">
              <a:buNone/>
            </a:pPr>
            <a:r>
              <a:rPr lang="en-US" sz="1400" dirty="0">
                <a:solidFill>
                  <a:schemeClr val="tx1"/>
                </a:solidFill>
              </a:rPr>
              <a:t>Same pattern at lunch and dinner.</a:t>
            </a:r>
            <a:endParaRPr lang="en-US" sz="1600" dirty="0"/>
          </a:p>
        </p:txBody>
      </p:sp>
      <p:sp>
        <p:nvSpPr>
          <p:cNvPr id="13" name="Panel D marker"/>
          <p:cNvSpPr/>
          <p:nvPr/>
        </p:nvSpPr>
        <p:spPr>
          <a:xfrm>
            <a:off x="7863840" y="4462272"/>
            <a:ext cx="384048" cy="384048"/>
          </a:xfrm>
          <a:prstGeom prst="ellipse">
            <a:avLst/>
          </a:prstGeom>
          <a:solidFill>
            <a:schemeClr val="accent2"/>
          </a:solidFill>
          <a:ln/>
        </p:spPr>
      </p:sp>
      <p:sp>
        <p:nvSpPr>
          <p:cNvPr id="14" name="Panel D letter"/>
          <p:cNvSpPr txBox="1"/>
          <p:nvPr/>
        </p:nvSpPr>
        <p:spPr>
          <a:xfrm>
            <a:off x="7863840" y="44622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5" name="Panel D text"/>
          <p:cNvSpPr txBox="1"/>
          <p:nvPr/>
        </p:nvSpPr>
        <p:spPr>
          <a:xfrm>
            <a:off x="8412480" y="4443984"/>
            <a:ext cx="3200400" cy="960120"/>
          </a:xfrm>
          <a:prstGeom prst="rect">
            <a:avLst/>
          </a:prstGeom>
          <a:noFill/>
          <a:ln/>
        </p:spPr>
        <p:txBody>
          <a:bodyPr wrap="square" lIns="0" tIns="0" rIns="0" bIns="0" rtlCol="0" anchor="t"/>
          <a:lstStyle/>
          <a:p>
            <a:pPr indent="0" marL="0">
              <a:buNone/>
            </a:pPr>
            <a:r>
              <a:rPr lang="en-US" sz="1600" b="1" dirty="0">
                <a:solidFill>
                  <a:schemeClr val="tx1"/>
                </a:solidFill>
              </a:rPr>
              <a:t>Uneven samples</a:t>
            </a:r>
            <a:endParaRPr lang="en-US" sz="1600" dirty="0"/>
          </a:p>
          <a:p>
            <a:pPr indent="0" marL="0">
              <a:buNone/>
            </a:pPr>
            <a:r>
              <a:rPr lang="en-US" sz="1400" dirty="0">
                <a:solidFill>
                  <a:schemeClr val="tx1"/>
                </a:solidFill>
              </a:rPr>
              <a:t>Weekend tables are mostly men (59 vs 28 on Saturday).</a:t>
            </a:r>
            <a:endParaRPr lang="en-US" sz="1600" dirty="0"/>
          </a:p>
        </p:txBody>
      </p:sp>
      <p:sp>
        <p:nvSpPr>
          <p:cNvPr id="16" name="Grid code note"/>
          <p:cNvSpPr txBox="1"/>
          <p:nvPr/>
        </p:nvSpPr>
        <p:spPr>
          <a:xfrm>
            <a:off x="7863840" y="5623560"/>
            <a:ext cx="3749040" cy="50292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plt.figure() + fig.add_gridspec(2, 2), then one Seaborn call per axis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A pairplot shows which features separate the species</a:t>
            </a:r>
            <a:endParaRPr lang="en-US" sz="3400" dirty="0"/>
          </a:p>
        </p:txBody>
      </p:sp>
      <p:pic>
        <p:nvPicPr>
          <p:cNvPr id="3" name="Iris pairplot coloured by species" descr="Iris pairplot coloured by species">    </p:cNvPr>
          <p:cNvPicPr>
            <a:picLocks noChangeAspect="1"/>
          </p:cNvPicPr>
          <p:nvPr/>
        </p:nvPicPr>
        <p:blipFill>
          <a:blip r:embed="rId1"/>
          <a:stretch>
            <a:fillRect/>
          </a:stretch>
        </p:blipFill>
        <p:spPr>
          <a:xfrm>
            <a:off x="548640" y="1234440"/>
            <a:ext cx="5257800" cy="4962706"/>
          </a:xfrm>
          <a:prstGeom prst="rect">
            <a:avLst/>
          </a:prstGeom>
        </p:spPr>
      </p:pic>
      <p:sp>
        <p:nvSpPr>
          <p:cNvPr id="4" name="Pairplot finding 1 marker"/>
          <p:cNvSpPr/>
          <p:nvPr/>
        </p:nvSpPr>
        <p:spPr>
          <a:xfrm>
            <a:off x="6309360" y="1389888"/>
            <a:ext cx="384048" cy="384048"/>
          </a:xfrm>
          <a:prstGeom prst="ellipse">
            <a:avLst/>
          </a:prstGeom>
          <a:solidFill>
            <a:schemeClr val="accent1"/>
          </a:solidFill>
          <a:ln/>
        </p:spPr>
      </p:sp>
      <p:sp>
        <p:nvSpPr>
          <p:cNvPr id="5" name="Pairplot finding 1 number"/>
          <p:cNvSpPr txBox="1"/>
          <p:nvPr/>
        </p:nvSpPr>
        <p:spPr>
          <a:xfrm>
            <a:off x="6309360" y="1389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Pairplot finding 1 text"/>
          <p:cNvSpPr txBox="1"/>
          <p:nvPr/>
        </p:nvSpPr>
        <p:spPr>
          <a:xfrm>
            <a:off x="6858000" y="1371600"/>
            <a:ext cx="475488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Petal features split the classes</a:t>
            </a:r>
            <a:endParaRPr lang="en-US" sz="1600" dirty="0"/>
          </a:p>
          <a:p>
            <a:pPr indent="0" marL="0">
              <a:spcAft>
                <a:spcPts val="300"/>
              </a:spcAft>
              <a:buNone/>
            </a:pPr>
            <a:r>
              <a:rPr lang="en-US" sz="1400" dirty="0">
                <a:solidFill>
                  <a:schemeClr val="tx1"/>
                </a:solidFill>
              </a:rPr>
              <a:t>In every panel that uses petal length or width, the three colours form separate bands.</a:t>
            </a:r>
            <a:endParaRPr lang="en-US" sz="1600" dirty="0"/>
          </a:p>
        </p:txBody>
      </p:sp>
      <p:sp>
        <p:nvSpPr>
          <p:cNvPr id="7" name="Pairplot finding 2 marker"/>
          <p:cNvSpPr/>
          <p:nvPr/>
        </p:nvSpPr>
        <p:spPr>
          <a:xfrm>
            <a:off x="6309360" y="2624328"/>
            <a:ext cx="384048" cy="384048"/>
          </a:xfrm>
          <a:prstGeom prst="ellipse">
            <a:avLst/>
          </a:prstGeom>
          <a:solidFill>
            <a:schemeClr val="accent1"/>
          </a:solidFill>
          <a:ln/>
        </p:spPr>
      </p:sp>
      <p:sp>
        <p:nvSpPr>
          <p:cNvPr id="8" name="Pairplot finding 2 number"/>
          <p:cNvSpPr txBox="1"/>
          <p:nvPr/>
        </p:nvSpPr>
        <p:spPr>
          <a:xfrm>
            <a:off x="6309360" y="2624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Pairplot finding 2 text"/>
          <p:cNvSpPr txBox="1"/>
          <p:nvPr/>
        </p:nvSpPr>
        <p:spPr>
          <a:xfrm>
            <a:off x="6858000" y="2606040"/>
            <a:ext cx="475488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Setosa is perfectly separable</a:t>
            </a:r>
            <a:endParaRPr lang="en-US" sz="1600" dirty="0"/>
          </a:p>
          <a:p>
            <a:pPr indent="0" marL="0">
              <a:spcAft>
                <a:spcPts val="300"/>
              </a:spcAft>
              <a:buNone/>
            </a:pPr>
            <a:r>
              <a:rPr lang="en-US" sz="1400" dirty="0">
                <a:solidFill>
                  <a:schemeClr val="tx1"/>
                </a:solidFill>
              </a:rPr>
              <a:t>Setosa petals are 1.0-1.9 cm long; the other species start at 3.0 cm. One threshold does it.</a:t>
            </a:r>
            <a:endParaRPr lang="en-US" sz="1600" dirty="0"/>
          </a:p>
        </p:txBody>
      </p:sp>
      <p:sp>
        <p:nvSpPr>
          <p:cNvPr id="10" name="Pairplot finding 3 marker"/>
          <p:cNvSpPr/>
          <p:nvPr/>
        </p:nvSpPr>
        <p:spPr>
          <a:xfrm>
            <a:off x="6309360" y="3858768"/>
            <a:ext cx="384048" cy="384048"/>
          </a:xfrm>
          <a:prstGeom prst="ellipse">
            <a:avLst/>
          </a:prstGeom>
          <a:solidFill>
            <a:schemeClr val="accent1"/>
          </a:solidFill>
          <a:ln/>
        </p:spPr>
      </p:sp>
      <p:sp>
        <p:nvSpPr>
          <p:cNvPr id="11" name="Pairplot finding 3 number"/>
          <p:cNvSpPr txBox="1"/>
          <p:nvPr/>
        </p:nvSpPr>
        <p:spPr>
          <a:xfrm>
            <a:off x="6309360" y="3858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Pairplot finding 3 text"/>
          <p:cNvSpPr txBox="1"/>
          <p:nvPr/>
        </p:nvSpPr>
        <p:spPr>
          <a:xfrm>
            <a:off x="6858000" y="3840480"/>
            <a:ext cx="4754880" cy="11430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Sepal pairs are tangled</a:t>
            </a:r>
            <a:endParaRPr lang="en-US" sz="1600" dirty="0"/>
          </a:p>
          <a:p>
            <a:pPr indent="0" marL="0">
              <a:spcAft>
                <a:spcPts val="300"/>
              </a:spcAft>
              <a:buNone/>
            </a:pPr>
            <a:r>
              <a:rPr lang="en-US" sz="1400" dirty="0">
                <a:solidFill>
                  <a:schemeClr val="tx1"/>
                </a:solidFill>
              </a:rPr>
              <a:t>Versicolor and virginica overlap heavily on sepal length and width.</a:t>
            </a:r>
            <a:endParaRPr lang="en-US" sz="1600" dirty="0"/>
          </a:p>
        </p:txBody>
      </p:sp>
      <p:sp>
        <p:nvSpPr>
          <p:cNvPr id="13" name="Pairplot decision box"/>
          <p:cNvSpPr/>
          <p:nvPr/>
        </p:nvSpPr>
        <p:spPr>
          <a:xfrm>
            <a:off x="6309360" y="4983480"/>
            <a:ext cx="5303520" cy="1188720"/>
          </a:xfrm>
          <a:prstGeom prst="roundRect">
            <a:avLst>
              <a:gd name="adj" fmla="val 6154"/>
            </a:avLst>
          </a:prstGeom>
          <a:solidFill>
            <a:schemeClr val="bg2"/>
          </a:solidFill>
          <a:ln/>
        </p:spPr>
      </p:sp>
      <p:sp>
        <p:nvSpPr>
          <p:cNvPr id="14" name="Pairplot decision text"/>
          <p:cNvSpPr txBox="1"/>
          <p:nvPr/>
        </p:nvSpPr>
        <p:spPr>
          <a:xfrm>
            <a:off x="6537960" y="4983480"/>
            <a:ext cx="4846320" cy="1188720"/>
          </a:xfrm>
          <a:prstGeom prst="rect">
            <a:avLst/>
          </a:prstGeom>
          <a:noFill/>
          <a:ln/>
        </p:spPr>
        <p:txBody>
          <a:bodyPr wrap="square" lIns="0" tIns="0" rIns="0" bIns="0" rtlCol="0" anchor="ctr"/>
          <a:lstStyle/>
          <a:p>
            <a:pPr indent="0" marL="0">
              <a:buNone/>
            </a:pPr>
            <a:r>
              <a:rPr lang="en-US" sz="1300" b="1" spc="100" kern="0" dirty="0">
                <a:solidFill>
                  <a:schemeClr val="accent2"/>
                </a:solidFill>
              </a:rPr>
              <a:t>DECISION  </a:t>
            </a:r>
            <a:pPr indent="0" marL="0">
              <a:buNone/>
            </a:pPr>
            <a:r>
              <a:rPr lang="en-US" sz="1400" dirty="0">
                <a:solidFill>
                  <a:schemeClr val="tx1"/>
                </a:solidFill>
              </a:rPr>
              <a:t>Lead with petal features, and start with a simple linear classifier: the classes already look linearly separable.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Heatmap and violin: redundancy and a hidden paradox</a:t>
            </a:r>
            <a:endParaRPr lang="en-US" sz="3400" dirty="0"/>
          </a:p>
        </p:txBody>
      </p:sp>
      <p:pic>
        <p:nvPicPr>
          <p:cNvPr id="3" name="Correlation heatmap and violin of petal length by species" descr="Correlation heatmap and violin of petal length by species">    </p:cNvPr>
          <p:cNvPicPr>
            <a:picLocks noChangeAspect="1"/>
          </p:cNvPicPr>
          <p:nvPr/>
        </p:nvPicPr>
        <p:blipFill>
          <a:blip r:embed="rId1"/>
          <a:stretch>
            <a:fillRect/>
          </a:stretch>
        </p:blipFill>
        <p:spPr>
          <a:xfrm>
            <a:off x="1843888" y="1234440"/>
            <a:ext cx="8503920" cy="3785904"/>
          </a:xfrm>
          <a:prstGeom prst="rect">
            <a:avLst/>
          </a:prstGeom>
        </p:spPr>
      </p:pic>
      <p:sp>
        <p:nvSpPr>
          <p:cNvPr id="4" name="Heatmap stat 1 card"/>
          <p:cNvSpPr/>
          <p:nvPr/>
        </p:nvSpPr>
        <p:spPr>
          <a:xfrm>
            <a:off x="548640" y="5120640"/>
            <a:ext cx="5394960" cy="1097280"/>
          </a:xfrm>
          <a:prstGeom prst="roundRect">
            <a:avLst>
              <a:gd name="adj" fmla="val 6667"/>
            </a:avLst>
          </a:prstGeom>
          <a:solidFill>
            <a:schemeClr val="bg2"/>
          </a:solidFill>
          <a:ln/>
        </p:spPr>
      </p:sp>
      <p:sp>
        <p:nvSpPr>
          <p:cNvPr id="5" name="Heatmap stat 1 number"/>
          <p:cNvSpPr txBox="1"/>
          <p:nvPr/>
        </p:nvSpPr>
        <p:spPr>
          <a:xfrm>
            <a:off x="731520" y="5120640"/>
            <a:ext cx="2103120" cy="10972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0.96</a:t>
            </a:r>
            <a:endParaRPr lang="en-US" sz="3600" dirty="0"/>
          </a:p>
        </p:txBody>
      </p:sp>
      <p:sp>
        <p:nvSpPr>
          <p:cNvPr id="6" name="Heatmap stat 1 text"/>
          <p:cNvSpPr txBox="1"/>
          <p:nvPr/>
        </p:nvSpPr>
        <p:spPr>
          <a:xfrm>
            <a:off x="2926080" y="5193792"/>
            <a:ext cx="2834640" cy="950976"/>
          </a:xfrm>
          <a:prstGeom prst="rect">
            <a:avLst/>
          </a:prstGeom>
          <a:noFill/>
          <a:ln/>
        </p:spPr>
        <p:txBody>
          <a:bodyPr wrap="square" lIns="0" tIns="0" rIns="0" bIns="0" rtlCol="0" anchor="ctr"/>
          <a:lstStyle/>
          <a:p>
            <a:pPr indent="0" marL="0">
              <a:buNone/>
            </a:pPr>
            <a:r>
              <a:rPr lang="en-US" sz="1500" b="1" dirty="0">
                <a:solidFill>
                  <a:schemeClr val="tx1"/>
                </a:solidFill>
              </a:rPr>
              <a:t>Petal length vs petal width</a:t>
            </a:r>
            <a:endParaRPr lang="en-US" sz="1500" dirty="0"/>
          </a:p>
          <a:p>
            <a:pPr indent="0" marL="0">
              <a:buNone/>
            </a:pPr>
            <a:r>
              <a:rPr lang="en-US" sz="1400" dirty="0">
                <a:solidFill>
                  <a:schemeClr val="tx1"/>
                </a:solidFill>
              </a:rPr>
              <a:t>Almost the same information. One of them is redundant for most models.</a:t>
            </a:r>
            <a:endParaRPr lang="en-US" sz="1500" dirty="0"/>
          </a:p>
        </p:txBody>
      </p:sp>
      <p:sp>
        <p:nvSpPr>
          <p:cNvPr id="7" name="Heatmap stat 2 card"/>
          <p:cNvSpPr/>
          <p:nvPr/>
        </p:nvSpPr>
        <p:spPr>
          <a:xfrm>
            <a:off x="6217920" y="5120640"/>
            <a:ext cx="5394960" cy="1097280"/>
          </a:xfrm>
          <a:prstGeom prst="roundRect">
            <a:avLst>
              <a:gd name="adj" fmla="val 6667"/>
            </a:avLst>
          </a:prstGeom>
          <a:solidFill>
            <a:schemeClr val="bg2"/>
          </a:solidFill>
          <a:ln/>
        </p:spPr>
      </p:sp>
      <p:sp>
        <p:nvSpPr>
          <p:cNvPr id="8" name="Heatmap stat 2 number"/>
          <p:cNvSpPr txBox="1"/>
          <p:nvPr/>
        </p:nvSpPr>
        <p:spPr>
          <a:xfrm>
            <a:off x="6400800" y="5120640"/>
            <a:ext cx="2103120" cy="109728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−0.12 → +0.74</a:t>
            </a:r>
            <a:endParaRPr lang="en-US" sz="2600" dirty="0"/>
          </a:p>
        </p:txBody>
      </p:sp>
      <p:sp>
        <p:nvSpPr>
          <p:cNvPr id="9" name="Heatmap stat 2 text"/>
          <p:cNvSpPr txBox="1"/>
          <p:nvPr/>
        </p:nvSpPr>
        <p:spPr>
          <a:xfrm>
            <a:off x="8595360" y="5193792"/>
            <a:ext cx="2834640" cy="950976"/>
          </a:xfrm>
          <a:prstGeom prst="rect">
            <a:avLst/>
          </a:prstGeom>
          <a:noFill/>
          <a:ln/>
        </p:spPr>
        <p:txBody>
          <a:bodyPr wrap="square" lIns="0" tIns="0" rIns="0" bIns="0" rtlCol="0" anchor="ctr"/>
          <a:lstStyle/>
          <a:p>
            <a:pPr indent="0" marL="0">
              <a:buNone/>
            </a:pPr>
            <a:r>
              <a:rPr lang="en-US" sz="1500" b="1" dirty="0">
                <a:solidFill>
                  <a:schemeClr val="tx1"/>
                </a:solidFill>
              </a:rPr>
              <a:t>Sepal length vs width</a:t>
            </a:r>
            <a:endParaRPr lang="en-US" sz="1500" dirty="0"/>
          </a:p>
          <a:p>
            <a:pPr indent="0" marL="0">
              <a:buNone/>
            </a:pPr>
            <a:r>
              <a:rPr lang="en-US" sz="1400" dirty="0">
                <a:solidFill>
                  <a:schemeClr val="tx1"/>
                </a:solidFill>
              </a:rPr>
              <a:t>Weakly negative overall, but positive inside every species: Simpson's paradox.</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Testing the visual hunches with cross-validation</a:t>
            </a:r>
            <a:endParaRPr lang="en-US" sz="3400" dirty="0"/>
          </a:p>
        </p:txBody>
      </p:sp>
      <p:graphicFrame>
        <p:nvGraphicFramePr>
          <p:cNvPr id="3" name="Iris accuracy chart" descr=""/>
          <p:cNvGraphicFramePr/>
          <p:nvPr/>
        </p:nvGraphicFramePr>
        <p:xfrm>
          <a:off x="548640" y="132588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Tips R2 heading"/>
          <p:cNvSpPr txBox="1"/>
          <p:nvPr/>
        </p:nvSpPr>
        <p:spPr>
          <a:xfrm>
            <a:off x="7589520" y="1371600"/>
            <a:ext cx="4023360" cy="457200"/>
          </a:xfrm>
          <a:prstGeom prst="rect">
            <a:avLst/>
          </a:prstGeom>
          <a:noFill/>
          <a:ln/>
        </p:spPr>
        <p:txBody>
          <a:bodyPr wrap="square" lIns="0" tIns="0" rIns="0" bIns="0" rtlCol="0" anchor="ctr"/>
          <a:lstStyle/>
          <a:p>
            <a:pPr indent="0" marL="0">
              <a:buNone/>
            </a:pPr>
            <a:r>
              <a:rPr lang="en-US" sz="1600" b="1" dirty="0">
                <a:solidFill>
                  <a:schemeClr val="tx1"/>
                </a:solidFill>
              </a:rPr>
              <a:t>Tips: linear regression R² for predicting the tip</a:t>
            </a:r>
            <a:endParaRPr lang="en-US" sz="1600" dirty="0"/>
          </a:p>
        </p:txBody>
      </p:sp>
      <p:sp>
        <p:nvSpPr>
          <p:cNvPr id="5" name="R2 total_bill only value"/>
          <p:cNvSpPr txBox="1"/>
          <p:nvPr/>
        </p:nvSpPr>
        <p:spPr>
          <a:xfrm>
            <a:off x="7589520" y="1965960"/>
            <a:ext cx="173736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0.457</a:t>
            </a:r>
            <a:endParaRPr lang="en-US" sz="4400" dirty="0"/>
          </a:p>
        </p:txBody>
      </p:sp>
      <p:sp>
        <p:nvSpPr>
          <p:cNvPr id="6" name="R2 total_bill only label"/>
          <p:cNvSpPr txBox="1"/>
          <p:nvPr/>
        </p:nvSpPr>
        <p:spPr>
          <a:xfrm>
            <a:off x="9418320" y="1965960"/>
            <a:ext cx="2194560" cy="1005840"/>
          </a:xfrm>
          <a:prstGeom prst="rect">
            <a:avLst/>
          </a:prstGeom>
          <a:noFill/>
          <a:ln/>
        </p:spPr>
        <p:txBody>
          <a:bodyPr wrap="square" lIns="0" tIns="0" rIns="0" bIns="0" rtlCol="0" anchor="ctr"/>
          <a:lstStyle/>
          <a:p>
            <a:pPr indent="0" marL="0">
              <a:buNone/>
            </a:pPr>
            <a:r>
              <a:rPr lang="en-US" sz="1600" dirty="0">
                <a:solidFill>
                  <a:schemeClr val="tx1"/>
                </a:solidFill>
              </a:rPr>
              <a:t>total_bill only</a:t>
            </a:r>
            <a:endParaRPr lang="en-US" sz="1600" dirty="0"/>
          </a:p>
        </p:txBody>
      </p:sp>
      <p:sp>
        <p:nvSpPr>
          <p:cNvPr id="7" name="R2 all 6 features value"/>
          <p:cNvSpPr txBox="1"/>
          <p:nvPr/>
        </p:nvSpPr>
        <p:spPr>
          <a:xfrm>
            <a:off x="7589520" y="3154680"/>
            <a:ext cx="1737360" cy="100584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0.421</a:t>
            </a:r>
            <a:endParaRPr lang="en-US" sz="4400" dirty="0"/>
          </a:p>
        </p:txBody>
      </p:sp>
      <p:sp>
        <p:nvSpPr>
          <p:cNvPr id="8" name="R2 all 6 features label"/>
          <p:cNvSpPr txBox="1"/>
          <p:nvPr/>
        </p:nvSpPr>
        <p:spPr>
          <a:xfrm>
            <a:off x="9418320" y="3154680"/>
            <a:ext cx="2194560" cy="1005840"/>
          </a:xfrm>
          <a:prstGeom prst="rect">
            <a:avLst/>
          </a:prstGeom>
          <a:noFill/>
          <a:ln/>
        </p:spPr>
        <p:txBody>
          <a:bodyPr wrap="square" lIns="0" tIns="0" rIns="0" bIns="0" rtlCol="0" anchor="ctr"/>
          <a:lstStyle/>
          <a:p>
            <a:pPr indent="0" marL="0">
              <a:buNone/>
            </a:pPr>
            <a:r>
              <a:rPr lang="en-US" sz="1600" dirty="0">
                <a:solidFill>
                  <a:schemeClr val="tx1"/>
                </a:solidFill>
              </a:rPr>
              <a:t>all 6 features</a:t>
            </a:r>
            <a:endParaRPr lang="en-US" sz="1600" dirty="0"/>
          </a:p>
        </p:txBody>
      </p:sp>
      <p:sp>
        <p:nvSpPr>
          <p:cNvPr id="9" name="Validation conclusion"/>
          <p:cNvSpPr txBox="1"/>
          <p:nvPr/>
        </p:nvSpPr>
        <p:spPr>
          <a:xfrm>
            <a:off x="7589520" y="4434840"/>
            <a:ext cx="4023360" cy="1645920"/>
          </a:xfrm>
          <a:prstGeom prst="rect">
            <a:avLst/>
          </a:prstGeom>
          <a:noFill/>
          <a:ln/>
        </p:spPr>
        <p:txBody>
          <a:bodyPr wrap="square" lIns="0" tIns="0" rIns="0" bIns="0" rtlCol="0" anchor="t"/>
          <a:lstStyle/>
          <a:p>
            <a:pPr indent="0" marL="0">
              <a:buNone/>
            </a:pPr>
            <a:r>
              <a:rPr lang="en-US" sz="1400" dirty="0">
                <a:solidFill>
                  <a:schemeClr val="tx1"/>
                </a:solidFill>
              </a:rPr>
              <a:t>Both results match what the plots predicted: petal features carry nearly all the signal, and in tips the bill does the work while sex, smoker, day, time and size only add noise.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From pattern to decision</a:t>
            </a:r>
            <a:endParaRPr lang="en-US" sz="3400" dirty="0"/>
          </a:p>
        </p:txBody>
      </p:sp>
      <p:graphicFrame>
        <p:nvGraphicFramePr>
          <p:cNvPr id="12" name="Pattern decisi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4434840"/>
                <a:gridCol w="4434840"/>
              </a:tblGrid>
              <a:tr h="566928">
                <a:tc>
                  <a:txBody>
                    <a:bodyPr/>
                    <a:lstStyle/>
                    <a:p>
                      <a:pPr indent="0" marL="0">
                        <a:buNone/>
                      </a:pPr>
                      <a:r>
                        <a:rPr lang="en-US" sz="1500" b="1" dirty="0">
                          <a:solidFill>
                            <a:schemeClr val="bg1"/>
                          </a:solidFill>
                        </a:rPr>
                        <a:t>Visual</a:t>
                      </a:r>
                      <a:endParaRPr lang="en-US" sz="15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Pattern or anomaly</a:t>
                      </a:r>
                      <a:endParaRPr lang="en-US" sz="15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Decision</a:t>
                      </a:r>
                      <a:endParaRPr lang="en-US" sz="15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Boxplot</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9 bills above $40.30, one 71% tip, smokers' tip % twice as spread</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Keep real extremes, flag the 71% tip, use medians and robust scaling</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Split violin</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Thursday = lunch, weekend = dinner; Friday has 19 tables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Use day or time, not both; merge thin categories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Scatter + histogram</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Linear bill-tip trend (r 0.68); 35% of tips are whole dollars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Linear baseline on the bill; expect a rounding noise floor</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Grid of subplots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Bill skew 1.13; tiny party-size groups; unbalanced sex by day</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Log-transform the bill; don't over-read small groups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Pairplot</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Petal features separate species; setosa trivially</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Select petal features; a linear classifier is enough</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Heatmap</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Petal length/width r 0.96; sepal Simpson's paradox</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Drop a redundant feature; analyse within species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keaway title"/>
          <p:cNvSpPr txBox="1"/>
          <p:nvPr/>
        </p:nvSpPr>
        <p:spPr>
          <a:xfrm>
            <a:off x="731520" y="731520"/>
            <a:ext cx="1069848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Plot first, model second</a:t>
            </a:r>
            <a:endParaRPr lang="en-US" sz="4400" dirty="0"/>
          </a:p>
        </p:txBody>
      </p:sp>
      <p:sp>
        <p:nvSpPr>
          <p:cNvPr id="3" name="Summary stats hide shape icon circle"/>
          <p:cNvSpPr/>
          <p:nvPr/>
        </p:nvSpPr>
        <p:spPr>
          <a:xfrm>
            <a:off x="731520" y="2377440"/>
            <a:ext cx="822960" cy="822960"/>
          </a:xfrm>
          <a:prstGeom prst="ellipse">
            <a:avLst/>
          </a:prstGeom>
          <a:solidFill>
            <a:schemeClr val="bg1"/>
          </a:solidFill>
          <a:ln/>
        </p:spPr>
      </p:sp>
      <p:pic>
        <p:nvPicPr>
          <p:cNvPr id="4" name="Summary stats hide shape icon" descr="Summary stats hide shape icon">    </p:cNvPr>
          <p:cNvPicPr>
            <a:picLocks noChangeAspect="1"/>
          </p:cNvPicPr>
          <p:nvPr/>
        </p:nvPicPr>
        <p:blipFill>
          <a:blip r:embed="rId1"/>
          <a:stretch>
            <a:fillRect/>
          </a:stretch>
        </p:blipFill>
        <p:spPr>
          <a:xfrm>
            <a:off x="932688" y="2578608"/>
            <a:ext cx="420624" cy="420624"/>
          </a:xfrm>
          <a:prstGeom prst="rect">
            <a:avLst/>
          </a:prstGeom>
        </p:spPr>
      </p:pic>
      <p:sp>
        <p:nvSpPr>
          <p:cNvPr id="5" name="Summary stats hide shape text"/>
          <p:cNvSpPr txBox="1"/>
          <p:nvPr/>
        </p:nvSpPr>
        <p:spPr>
          <a:xfrm>
            <a:off x="731520" y="3429000"/>
            <a:ext cx="3291840" cy="182880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rPr>
              <a:t>Summary stats hide shape</a:t>
            </a:r>
            <a:endParaRPr lang="en-US" sz="2000" dirty="0"/>
          </a:p>
          <a:p>
            <a:pPr indent="0" marL="0">
              <a:spcAft>
                <a:spcPts val="600"/>
              </a:spcAft>
              <a:buNone/>
            </a:pPr>
            <a:r>
              <a:rPr lang="en-US" sz="1500" dirty="0">
                <a:solidFill>
                  <a:schemeClr val="accent6"/>
                </a:solidFill>
              </a:rPr>
              <a:t>Rounded tips, a confounded day/time split and Simpson's paradox were all invisible in describe().</a:t>
            </a:r>
            <a:endParaRPr lang="en-US" sz="2000" dirty="0"/>
          </a:p>
        </p:txBody>
      </p:sp>
      <p:sp>
        <p:nvSpPr>
          <p:cNvPr id="6" name="Visuals pick the features icon circle"/>
          <p:cNvSpPr/>
          <p:nvPr/>
        </p:nvSpPr>
        <p:spPr>
          <a:xfrm>
            <a:off x="4389120" y="2377440"/>
            <a:ext cx="822960" cy="822960"/>
          </a:xfrm>
          <a:prstGeom prst="ellipse">
            <a:avLst/>
          </a:prstGeom>
          <a:solidFill>
            <a:schemeClr val="bg1"/>
          </a:solidFill>
          <a:ln/>
        </p:spPr>
      </p:sp>
      <p:pic>
        <p:nvPicPr>
          <p:cNvPr id="7" name="Visuals pick the features icon" descr="Visuals pick the features icon">    </p:cNvPr>
          <p:cNvPicPr>
            <a:picLocks noChangeAspect="1"/>
          </p:cNvPicPr>
          <p:nvPr/>
        </p:nvPicPr>
        <p:blipFill>
          <a:blip r:embed="rId2"/>
          <a:stretch>
            <a:fillRect/>
          </a:stretch>
        </p:blipFill>
        <p:spPr>
          <a:xfrm>
            <a:off x="4590288" y="2578608"/>
            <a:ext cx="420624" cy="420624"/>
          </a:xfrm>
          <a:prstGeom prst="rect">
            <a:avLst/>
          </a:prstGeom>
        </p:spPr>
      </p:pic>
      <p:sp>
        <p:nvSpPr>
          <p:cNvPr id="8" name="Visuals pick the features text"/>
          <p:cNvSpPr txBox="1"/>
          <p:nvPr/>
        </p:nvSpPr>
        <p:spPr>
          <a:xfrm>
            <a:off x="4389120" y="3429000"/>
            <a:ext cx="3291840" cy="182880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rPr>
              <a:t>Visuals pick the features</a:t>
            </a:r>
            <a:endParaRPr lang="en-US" sz="2000" dirty="0"/>
          </a:p>
          <a:p>
            <a:pPr indent="0" marL="0">
              <a:spcAft>
                <a:spcPts val="600"/>
              </a:spcAft>
              <a:buNone/>
            </a:pPr>
            <a:r>
              <a:rPr lang="en-US" sz="1500" dirty="0">
                <a:solidFill>
                  <a:schemeClr val="accent6"/>
                </a:solidFill>
              </a:rPr>
              <a:t>The pairplot and heatmap chose petal features before any model ran, and CV agreed.</a:t>
            </a:r>
            <a:endParaRPr lang="en-US" sz="2000" dirty="0"/>
          </a:p>
        </p:txBody>
      </p:sp>
      <p:sp>
        <p:nvSpPr>
          <p:cNvPr id="9" name="Then test the hunch icon circle"/>
          <p:cNvSpPr/>
          <p:nvPr/>
        </p:nvSpPr>
        <p:spPr>
          <a:xfrm>
            <a:off x="8046720" y="2377440"/>
            <a:ext cx="822960" cy="822960"/>
          </a:xfrm>
          <a:prstGeom prst="ellipse">
            <a:avLst/>
          </a:prstGeom>
          <a:solidFill>
            <a:schemeClr val="bg1"/>
          </a:solidFill>
          <a:ln/>
        </p:spPr>
      </p:sp>
      <p:pic>
        <p:nvPicPr>
          <p:cNvPr id="10" name="Then test the hunch icon" descr="Then test the hunch icon">    </p:cNvPr>
          <p:cNvPicPr>
            <a:picLocks noChangeAspect="1"/>
          </p:cNvPicPr>
          <p:nvPr/>
        </p:nvPicPr>
        <p:blipFill>
          <a:blip r:embed="rId3"/>
          <a:stretch>
            <a:fillRect/>
          </a:stretch>
        </p:blipFill>
        <p:spPr>
          <a:xfrm>
            <a:off x="8247888" y="2578608"/>
            <a:ext cx="420624" cy="420624"/>
          </a:xfrm>
          <a:prstGeom prst="rect">
            <a:avLst/>
          </a:prstGeom>
        </p:spPr>
      </p:pic>
      <p:sp>
        <p:nvSpPr>
          <p:cNvPr id="11" name="Then test the hunch text"/>
          <p:cNvSpPr txBox="1"/>
          <p:nvPr/>
        </p:nvSpPr>
        <p:spPr>
          <a:xfrm>
            <a:off x="8046720" y="3429000"/>
            <a:ext cx="3291840" cy="182880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rPr>
              <a:t>Then test the hunch</a:t>
            </a:r>
            <a:endParaRPr lang="en-US" sz="2000" dirty="0"/>
          </a:p>
          <a:p>
            <a:pPr indent="0" marL="0">
              <a:spcAft>
                <a:spcPts val="600"/>
              </a:spcAft>
              <a:buNone/>
            </a:pPr>
            <a:r>
              <a:rPr lang="en-US" sz="1500" dirty="0">
                <a:solidFill>
                  <a:schemeClr val="accent6"/>
                </a:solidFill>
              </a:rPr>
              <a:t>A quick cross-validated model turns a visual impression into evidence.</a:t>
            </a:r>
            <a:endParaRPr lang="en-US" sz="2000" dirty="0"/>
          </a:p>
        </p:txBody>
      </p:sp>
      <p:sp>
        <p:nvSpPr>
          <p:cNvPr id="12" name="Discussion question"/>
          <p:cNvSpPr txBox="1"/>
          <p:nvPr/>
        </p:nvSpPr>
        <p:spPr>
          <a:xfrm>
            <a:off x="731520" y="5669280"/>
            <a:ext cx="10698480" cy="457200"/>
          </a:xfrm>
          <a:prstGeom prst="rect">
            <a:avLst/>
          </a:prstGeom>
          <a:noFill/>
          <a:ln/>
        </p:spPr>
        <p:txBody>
          <a:bodyPr wrap="square" lIns="0" tIns="0" rIns="0" bIns="0" rtlCol="0" anchor="ctr"/>
          <a:lstStyle/>
          <a:p>
            <a:pPr indent="0" marL="0">
              <a:buNone/>
            </a:pPr>
            <a:r>
              <a:rPr lang="en-US" sz="1600" i="1" dirty="0">
                <a:solidFill>
                  <a:schemeClr val="accent2"/>
                </a:solidFill>
              </a:rPr>
              <a:t>Question for the class: which plot has most often changed your mind about a dataset?</a:t>
            </a:r>
            <a:endParaRPr lang="en-US" sz="1600" dirty="0"/>
          </a:p>
        </p:txBody>
      </p:sp>
      <p:sp>
        <p:nvSpPr>
          <p:cNvPr id="14" name="Text 0"/>
          <p:cNvSpPr/>
          <p:nvPr>
            <p:ph idx="100" type="title" hasCustomPrompt="1"/>
          </p:nvPr>
        </p:nvSpPr>
        <p:spPr>
          <a:xfrm>
            <a:off x="731520" y="2011680"/>
            <a:ext cx="10698480" cy="1554480"/>
          </a:xfrm>
          <a:prstGeom prst="rect">
            <a:avLst/>
          </a:prstGeom>
          <a:noFill/>
          <a:ln/>
        </p:spPr>
        <p:txBody>
          <a:bodyPr wrap="square" lIns="0" tIns="0" rIns="0" bIns="0" rtlCol="0" anchor="b"/>
          <a:lstStyle/>
          <a:p>
            <a:pPr algn="l" indent="0" marL="0">
              <a:buNone/>
            </a:pPr>
            <a:endParaRPr lang="en-US" sz="4800" dirty="0"/>
          </a:p>
        </p:txBody>
      </p:sp>
      <p:sp>
        <p:nvSpPr>
          <p:cNvPr id="15" name="Text 0"/>
          <p:cNvSpPr/>
          <p:nvPr>
            <p:ph idx="101" type="body" hasCustomPrompt="1"/>
          </p:nvPr>
        </p:nvSpPr>
        <p:spPr>
          <a:xfrm>
            <a:off x="731520" y="3749040"/>
            <a:ext cx="10058400" cy="118872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Pattern Discovery">
  <a:themeElements>
    <a:clrScheme name="Pattern Discovery">
      <a:dk1>
        <a:srgbClr val="1B2A41"/>
      </a:dk1>
      <a:lt1>
        <a:srgbClr val="FFFFFF"/>
      </a:lt1>
      <a:dk2>
        <a:srgbClr val="1B2A41"/>
      </a:dk2>
      <a:lt2>
        <a:srgbClr val="EEF2F5"/>
      </a:lt2>
      <a:accent1>
        <a:srgbClr val="0E9F8E"/>
      </a:accent1>
      <a:accent2>
        <a:srgbClr val="E89B2C"/>
      </a:accent2>
      <a:accent3>
        <a:srgbClr val="D9534F"/>
      </a:accent3>
      <a:accent4>
        <a:srgbClr val="5B5FC7"/>
      </a:accent4>
      <a:accent5>
        <a:srgbClr val="6B7A90"/>
      </a:accent5>
      <a:accent6>
        <a:srgbClr val="9FD8CF"/>
      </a:accent6>
      <a:hlink>
        <a:srgbClr val="0E9F8E"/>
      </a:hlink>
      <a:folHlink>
        <a:srgbClr val="5B5FC7"/>
      </a:folHlink>
    </a:clrScheme>
    <a:fontScheme name="Pattern Discov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for Pattern Discovery</dc:title>
  <dc:subject>Exploratory data analysis with Seaborn and Matplotlib</dc:subject>
  <dc:creator>PptxGenJS</dc:creator>
  <cp:lastModifiedBy>PptxGenJS</cp:lastModifiedBy>
  <cp:revision>1</cp:revision>
  <dcterms:created xsi:type="dcterms:W3CDTF">2026-10-07T20:01:36Z</dcterms:created>
  <dcterms:modified xsi:type="dcterms:W3CDTF">2026-10-07T20:01:36Z</dcterms:modified>
</cp:coreProperties>
</file>