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6262E"/>
                </a:solidFill>
                <a:latin typeface="Calibri"/>
              </a:defRPr>
            </a:pPr>
            <a:r>
              <a:rPr sz="1500" b="0" i="0" u="none" strike="noStrike">
                <a:solidFill>
                  <a:srgbClr val="16262E"/>
                </a:solidFill>
                <a:latin typeface="Calibri"/>
              </a:rPr>
              <a:t>Peak memory while reading 3M rows (MB)</a:t>
            </a:r>
          </a:p>
        </c:rich>
      </c:tx>
      <c:layout/>
      <c:overlay val="0"/>
    </c:title>
    <c:autoTitleDeleted val="0"/>
    <c:plotArea>
      <c:layout/>
      <c:barChart>
        <c:barDir val="bar"/>
        <c:grouping val="clustered"/>
        <c:varyColors val="0"/>
        <c:ser>
          <c:idx val="0"/>
          <c:order val="0"/>
          <c:tx>
            <c:strRef>
              <c:f>Sheet1!$B$1</c:f>
              <c:strCache>
                <c:ptCount val="1"/>
                <c:pt idx="0">
                  <c:v>Peak memory (MB)</c:v>
                </c:pt>
              </c:strCache>
            </c:strRef>
          </c:tx>
          <c:spPr>
            <a:solidFill>
              <a:srgbClr val="E76F51"/>
            </a:solidFill>
            <a:effectLst/>
          </c:spPr>
          <c:invertIfNegative val="0"/>
          <c:dLbls>
            <c:numFmt formatCode="#,##0" sourceLinked="0"/>
            <c:txPr>
              <a:bodyPr/>
              <a:lstStyle/>
              <a:p>
                <a:pPr>
                  <a:defRPr b="0" i="0" strike="noStrike" sz="1400" u="none">
                    <a:solidFill>
                      <a:srgbClr val="16262E"/>
                    </a:solidFill>
                    <a:latin typeface="Arial"/>
                  </a:defRPr>
                </a:pPr>
              </a:p>
            </c:txPr>
            <c:showLegendKey val="0"/>
            <c:showVal val="1"/>
            <c:showCatName val="0"/>
            <c:showSerName val="0"/>
            <c:showPercent val="0"/>
            <c:showBubbleSize val="0"/>
            <c:showLeaderLines val="0"/>
          </c:dLbls>
          <c:dPt>
            <c:idx val="0"/>
            <c:invertIfNegative val="0"/>
            <c:bubble3D val="0"/>
            <c:spPr>
              <a:solidFill>
                <a:srgbClr val="E76F51"/>
              </a:solidFill>
              <a:effectLst/>
            </c:spPr>
          </c:dPt>
          <c:dPt>
            <c:idx val="1"/>
            <c:invertIfNegative val="0"/>
            <c:bubble3D val="0"/>
            <c:spPr>
              <a:solidFill>
                <a:srgbClr val="2A9D8F"/>
              </a:solidFill>
              <a:effectLst/>
            </c:spPr>
          </c:dPt>
          <c:cat>
            <c:multiLvlStrRef>
              <c:f>Sheet1!$A$2:$A$3</c:f>
              <c:multiLvlStrCache>
                <c:ptCount val="2"/>
                <c:lvl>
                  <c:pt idx="0">
                    <c:v>Full pandas load</c:v>
                  </c:pt>
                  <c:pt idx="1">
                    <c:v>Chunked (250k rows)</c:v>
                  </c:pt>
                </c:lvl>
              </c:multiLvlStrCache>
            </c:multiLvlStrRef>
          </c:cat>
          <c:val>
            <c:numRef>
              <c:f>Sheet1!$B$2:$B$3</c:f>
              <c:numCache>
                <c:formatCode>General</c:formatCode>
                <c:ptCount val="2"/>
                <c:pt idx="0">
                  <c:v>476</c:v>
                </c:pt>
                <c:pt idx="1">
                  <c:v>50</c:v>
                </c:pt>
              </c:numCache>
            </c:numRef>
          </c:val>
        </c:ser>
        <c:dLbls>
          <c:numFmt formatCode="#,##0" sourceLinked="0"/>
          <c:txPr>
            <a:bodyPr/>
            <a:lstStyle/>
            <a:p>
              <a:pPr>
                <a:defRPr b="0" i="0" strike="noStrike" sz="1400" u="none">
                  <a:solidFill>
                    <a:srgbClr val="1626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F2D33"/>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2E8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B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6262E"/>
                </a:solidFill>
                <a:latin typeface="Calibri"/>
              </a:defRPr>
            </a:pPr>
            <a:r>
              <a:rPr sz="1500" b="0" i="0" u="none" strike="noStrike">
                <a:solidFill>
                  <a:srgbClr val="16262E"/>
                </a:solidFill>
                <a:latin typeface="Calibri"/>
              </a:rPr>
              <a:t>Shortlist rate by group (%)</a:t>
            </a:r>
          </a:p>
        </c:rich>
      </c:tx>
      <c:layout/>
      <c:overlay val="0"/>
    </c:title>
    <c:autoTitleDeleted val="0"/>
    <c:plotArea>
      <c:layout/>
      <c:barChart>
        <c:barDir val="col"/>
        <c:grouping val="clustered"/>
        <c:varyColors val="0"/>
        <c:ser>
          <c:idx val="0"/>
          <c:order val="0"/>
          <c:tx>
            <c:strRef>
              <c:f>Sheet1!$B$1</c:f>
              <c:strCache>
                <c:ptCount val="1"/>
                <c:pt idx="0">
                  <c:v>Shortlist rate</c:v>
                </c:pt>
              </c:strCache>
            </c:strRef>
          </c:tx>
          <c:spPr>
            <a:solidFill>
              <a:srgbClr val="16262E"/>
            </a:solidFill>
            <a:effectLst/>
          </c:spPr>
          <c:invertIfNegative val="0"/>
          <c:dLbls>
            <c:numFmt formatCode="0.0&quot;%&quot;" sourceLinked="0"/>
            <c:txPr>
              <a:bodyPr/>
              <a:lstStyle/>
              <a:p>
                <a:pPr>
                  <a:defRPr b="0" i="0" strike="noStrike" sz="1600" u="none">
                    <a:solidFill>
                      <a:srgbClr val="16262E"/>
                    </a:solidFill>
                    <a:latin typeface="Arial"/>
                  </a:defRPr>
                </a:pPr>
              </a:p>
            </c:txPr>
            <c:showLegendKey val="0"/>
            <c:showVal val="1"/>
            <c:showCatName val="0"/>
            <c:showSerName val="0"/>
            <c:showPercent val="0"/>
            <c:showBubbleSize val="0"/>
            <c:showLeaderLines val="0"/>
          </c:dLbls>
          <c:dPt>
            <c:idx val="0"/>
            <c:invertIfNegative val="0"/>
            <c:bubble3D val="0"/>
            <c:spPr>
              <a:solidFill>
                <a:srgbClr val="16262E"/>
              </a:solidFill>
              <a:effectLst/>
            </c:spPr>
          </c:dPt>
          <c:dPt>
            <c:idx val="1"/>
            <c:invertIfNegative val="0"/>
            <c:bubble3D val="0"/>
            <c:spPr>
              <a:solidFill>
                <a:srgbClr val="E76F51"/>
              </a:solidFill>
              <a:effectLst/>
            </c:spPr>
          </c:dPt>
          <c:cat>
            <c:multiLvlStrRef>
              <c:f>Sheet1!$A$2:$A$3</c:f>
              <c:multiLvlStrCache>
                <c:ptCount val="2"/>
                <c:lvl>
                  <c:pt idx="0">
                    <c:v>Group A</c:v>
                  </c:pt>
                  <c:pt idx="1">
                    <c:v>Group B</c:v>
                  </c:pt>
                </c:lvl>
              </c:multiLvlStrCache>
            </c:multiLvlStrRef>
          </c:cat>
          <c:val>
            <c:numRef>
              <c:f>Sheet1!$B$2:$B$3</c:f>
              <c:numCache>
                <c:formatCode>General</c:formatCode>
                <c:ptCount val="2"/>
                <c:pt idx="0">
                  <c:v>30.9</c:v>
                </c:pt>
                <c:pt idx="1">
                  <c:v>18.4</c:v>
                </c:pt>
              </c:numCache>
            </c:numRef>
          </c:val>
        </c:ser>
        <c:dLbls>
          <c:numFmt formatCode="0.0&quot;%&quot;" sourceLinked="0"/>
          <c:txPr>
            <a:bodyPr/>
            <a:lstStyle/>
            <a:p>
              <a:pPr>
                <a:defRPr b="0" i="0" strike="noStrike" sz="1600" u="none">
                  <a:solidFill>
                    <a:srgbClr val="1626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1F2D33"/>
                </a:solidFill>
                <a:latin typeface="Arial"/>
              </a:defRPr>
            </a:pPr>
            <a:endParaRPr lang="en-US"/>
          </a:p>
        </c:txPr>
        <c:crossAx val="2094734552"/>
        <c:crosses val="autoZero"/>
        <c:auto val="1"/>
        <c:lblAlgn val="ctr"/>
        <c:noMultiLvlLbl val="1"/>
      </c:catAx>
      <c:valAx>
        <c:axId val="2094734552"/>
        <c:scaling>
          <c:orientation val="minMax"/>
          <c:max val="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Today's topic is ethical AI and handling real-world data at scale. The question I want to answer is: how do we balance the technical demands of big data with ethical concerns like privacy, transparency and bias mitigation? I'll do three things: demonstrate a scalable processing technique with pandas chunking and Dask, walk through a real-world use case where ethics really mattered, and finish with concrete steps a data scientist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data brings technical pressure: volume beyond memory, speed requirements, messy variety and cost. At the same time we carry ethical duties: privacy, transparency, fairness and accountability. My main argument is that these aren't separate phases. The engineering choices we make — what columns we load, how we aggregate, what we log — are exactly where ethics gets enforced or ignored.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first technique. I generated a synthetic 3-million-row applicant dataset, about 122 megabytes, for an HR screening scenario. Instead of loading it all, pandas read_csv with chunksize streams 250,000 rows at a time. For each chunk I compute partial sums and counts per group, then combine them, which gives the exact same answer as a full load. Notice usecols: I only load the three columns I need. That saves memory, but it's also data minimisation — email addresses and other personal fields never enter memory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technique is Dask. Its API looks like pandas, but it splits the CSV into partitions — here 32 megabyte blocks — builds a lazy task graph, and only runs it when I call compute, in parallel across cores. The same code can scale out to a cluster. On my data, Dask finished the group-by in about 1.4 seconds. My rule of thumb: plain chunking for simple one-pass aggregations, Dask when you need joins, complex group-bys or parallelism.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I measured. Loading the full file with pandas peaked at about 476 megabytes. The chunked version peaked around 50 — roughly ten times less — and that ceiling stays flat no matter how big the file grows. Dask ran the aggregation in 1.4 seconds. And importantly, all three methods produced identical selection rates, so scaling didn't cost us accuracy. Now let's look at what those selection rates actually tell us, because that's where ethics comes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real-world case, consider the 2019 study by Obermeyer and colleagues in Science. A commercial algorithm used across US hospitals, affecting around 200 million people a year, decided who got enrolled in extra care programs. It predicted future healthcare cost as a stand-in for health need. But because less had historically been spent on Black patients at the same level of sickness, the model systematically underestimated their need. Race was never an input, and the model was accurate at what it predicted. The bias came from the label. The researchers estimated that fixing it would raise the share of Black patients flagged for extra help from 17.7 to 46.5 percent. The same pattern shows up in HR, where Amazon scrapped a resume screener in 2018 after it learned to penalise women, and in finance with credit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my demo data. I deliberately built a historical bias into the synthetic screening score, to mimic what happens with real hiring data. Group A was shortlisted 30.9 percent of the time, group B only 18.4. The disparate impact ratio is 0.60, well under the four-fifths, or 0.8, rule of thumb from US employment guidance. The point I want to make: that audit cost me one extra group-by inside the same scalable pipeline. At scale, fairness checks are cheap if you build them in, and very expensive if you discover the problem after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Stepping back, ethics shows up at every stage of the pipeline. At collection: consent, purpose and whether the sample represents the population. At storage: encryption, access control and how long we keep data. At processing: loading only what we need and pseudonymising identifiers. At modelling: the choice of label, bias audits and explainability. And at deployment: monitoring for drift, giving people a way to appeal, and keeping a human in the loop for high-stakes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privacy by design looks like in the same chunked loop. I never read the email column. I replace the applicant ID with a salted SHA-256 hash, so records can still be linked across tables but not traced back to a person without the secret salt, which lives in an environment variable or secrets manager, not in the code. Then I write a cleaned copy for analysts. One caveat: under GDPR, pseudonymised data is still personal data, so this is one layer of protection, not a free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should a data scientist actually do? Six steps. One: define the purpose and legal basis, and collect only what that purpose needs. Two: protect privacy through minimisation, pseudonymisation, encryption and access control. Three: audit the data and especially the labels — the healthcare case shows a proxy label can be the whole problem. Four: measure fairness, comparing outcomes and error rates across groups, and mitigate with techniques like re-weighting or choosing a better label. Five: be transparent with datasheets, model cards and explainability tools like SHAP. Six: stay accountable — named owners, human review for high-stakes decisions, drift monitoring and a way for people to appeal.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steps map onto the core principles you'll see in frameworks like the OECD AI Principles, the NIST AI Risk Management Framework and the EU AI Act, which classifies hiring and credit systems as high-risk. Fairness means equitable outcomes, measured with metrics like the disparate impact ratio. Transparency means people can understand decisions. Accountability means clear ownership and a path to redress. And privacy means using the least data with the strongest protection — which, as we saw, lines up neatly with good big-data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first, techniques like chunking and Dask let us handle data larger than memory without losing accuracy. Second, minimising data is both good engineering and good privacy. Third, audit your labels, not just your features. And fourth, build fairness and transparency checks into the pipeline itself, where they cost almost nothing. Balancing big data and ethics isn't about slowing down — it's about designing pipelines that deserve the trust of the people whose data they hold.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I referenced. The demo code and synthetic dataset generator are included with this presentation so the results can be reproduced.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62E"/>
        </a:solidFill>
      </p:bgPr>
    </p:bg>
    <p:spTree>
      <p:nvGrpSpPr>
        <p:cNvPr id="1" name=""/>
        <p:cNvGrpSpPr/>
        <p:nvPr/>
      </p:nvGrpSpPr>
      <p:grpSpPr>
        <a:xfrm>
          <a:off x="0" y="0"/>
          <a:ext cx="0" cy="0"/>
          <a:chOff x="0" y="0"/>
          <a:chExt cx="0" cy="0"/>
        </a:xfrm>
      </p:grpSpPr>
      <p:sp>
        <p:nvSpPr>
          <p:cNvPr id="2" name="Shape 0"/>
          <p:cNvSpPr/>
          <p:nvPr/>
        </p:nvSpPr>
        <p:spPr>
          <a:xfrm>
            <a:off x="731520" y="1097280"/>
            <a:ext cx="1005840" cy="1005840"/>
          </a:xfrm>
          <a:prstGeom prst="ellipse">
            <a:avLst/>
          </a:prstGeom>
          <a:solidFill>
            <a:srgbClr val="2A9D8F"/>
          </a:solidFill>
          <a:ln w="12700">
            <a:solidFill>
              <a:srgbClr val="2A9D8F"/>
            </a:solidFill>
            <a:prstDash val="solid"/>
          </a:ln>
        </p:spPr>
      </p:sp>
      <p:pic>
        <p:nvPicPr>
          <p:cNvPr id="3" name="Image 0" descr="preencoded.png">    </p:cNvPr>
          <p:cNvPicPr>
            <a:picLocks noChangeAspect="1"/>
          </p:cNvPicPr>
          <p:nvPr/>
        </p:nvPicPr>
        <p:blipFill>
          <a:blip r:embed="rId1"/>
          <a:stretch>
            <a:fillRect/>
          </a:stretch>
        </p:blipFill>
        <p:spPr>
          <a:xfrm>
            <a:off x="982980" y="1348740"/>
            <a:ext cx="502920" cy="502920"/>
          </a:xfrm>
          <a:prstGeom prst="rect">
            <a:avLst/>
          </a:prstGeom>
        </p:spPr>
      </p:pic>
      <p:sp>
        <p:nvSpPr>
          <p:cNvPr id="4" name="Text 1"/>
          <p:cNvSpPr txBox="1"/>
          <p:nvPr/>
        </p:nvSpPr>
        <p:spPr>
          <a:xfrm>
            <a:off x="731520" y="2377440"/>
            <a:ext cx="10058400" cy="173736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Ethical AI and Handling</a:t>
            </a:r>
            <a:endParaRPr lang="en-US" sz="4800" dirty="0"/>
          </a:p>
          <a:p>
            <a:pPr indent="0" marL="0">
              <a:buNone/>
            </a:pPr>
            <a:r>
              <a:rPr lang="en-US" sz="4800" b="1" dirty="0">
                <a:solidFill>
                  <a:srgbClr val="FFFFFF"/>
                </a:solidFill>
                <a:latin typeface="Cambria" pitchFamily="34" charset="0"/>
                <a:ea typeface="Cambria" pitchFamily="34" charset="-122"/>
                <a:cs typeface="Cambria" pitchFamily="34" charset="-120"/>
              </a:rPr>
              <a:t>Real-World Data at Scale</a:t>
            </a:r>
            <a:endParaRPr lang="en-US" sz="4800" dirty="0"/>
          </a:p>
        </p:txBody>
      </p:sp>
      <p:sp>
        <p:nvSpPr>
          <p:cNvPr id="5" name="Text 2"/>
          <p:cNvSpPr txBox="1"/>
          <p:nvPr/>
        </p:nvSpPr>
        <p:spPr>
          <a:xfrm>
            <a:off x="731520" y="4206240"/>
            <a:ext cx="10058400" cy="548640"/>
          </a:xfrm>
          <a:prstGeom prst="rect">
            <a:avLst/>
          </a:prstGeom>
          <a:noFill/>
          <a:ln/>
        </p:spPr>
        <p:txBody>
          <a:bodyPr wrap="square" lIns="0" tIns="0" rIns="0" bIns="0" rtlCol="0" anchor="ctr"/>
          <a:lstStyle/>
          <a:p>
            <a:pPr indent="0" marL="0">
              <a:buNone/>
            </a:pPr>
            <a:r>
              <a:rPr lang="en-US" sz="2200" i="1" dirty="0">
                <a:solidFill>
                  <a:srgbClr val="E9C46A"/>
                </a:solidFill>
                <a:latin typeface="Calibri" pitchFamily="34" charset="0"/>
                <a:ea typeface="Calibri" pitchFamily="34" charset="-122"/>
                <a:cs typeface="Calibri" pitchFamily="34" charset="-120"/>
              </a:rPr>
              <a:t>Balancing big-data engineering with privacy, transparency and fairness</a:t>
            </a:r>
            <a:endParaRPr lang="en-US" sz="2200" dirty="0"/>
          </a:p>
        </p:txBody>
      </p:sp>
      <p:sp>
        <p:nvSpPr>
          <p:cNvPr id="6" name="Text 3"/>
          <p:cNvSpPr txBox="1"/>
          <p:nvPr/>
        </p:nvSpPr>
        <p:spPr>
          <a:xfrm>
            <a:off x="731520" y="5852160"/>
            <a:ext cx="10515600" cy="365760"/>
          </a:xfrm>
          <a:prstGeom prst="rect">
            <a:avLst/>
          </a:prstGeom>
          <a:noFill/>
          <a:ln/>
        </p:spPr>
        <p:txBody>
          <a:bodyPr wrap="square" lIns="0" tIns="0" rIns="0" bIns="0" rtlCol="0" anchor="ctr"/>
          <a:lstStyle/>
          <a:p>
            <a:pPr indent="0" marL="0">
              <a:buNone/>
            </a:pPr>
            <a:r>
              <a:rPr lang="en-US" sz="1400" dirty="0">
                <a:solidFill>
                  <a:srgbClr val="AFC3C9"/>
                </a:solidFill>
                <a:latin typeface="Calibri" pitchFamily="34" charset="0"/>
                <a:ea typeface="Calibri" pitchFamily="34" charset="-122"/>
                <a:cs typeface="Calibri" pitchFamily="34" charset="-120"/>
              </a:rPr>
              <a:t>Video presentation  |  Scalable processing demo · Healthcare &amp; HR case study · Ethical checklist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6262E"/>
                </a:solidFill>
                <a:latin typeface="Cambria" pitchFamily="34" charset="0"/>
                <a:ea typeface="Cambria" pitchFamily="34" charset="-122"/>
                <a:cs typeface="Cambria" pitchFamily="34" charset="-120"/>
              </a:rPr>
              <a:t>Two sets of demands, one pipeline</a:t>
            </a:r>
            <a:endParaRPr lang="en-US" sz="3600" dirty="0"/>
          </a:p>
        </p:txBody>
      </p:sp>
      <p:sp>
        <p:nvSpPr>
          <p:cNvPr id="3" name="Shape 1"/>
          <p:cNvSpPr/>
          <p:nvPr/>
        </p:nvSpPr>
        <p:spPr>
          <a:xfrm>
            <a:off x="548640" y="1463040"/>
            <a:ext cx="5394960" cy="4206240"/>
          </a:xfrm>
          <a:prstGeom prst="roundRect">
            <a:avLst>
              <a:gd name="adj" fmla="val 2174"/>
            </a:avLst>
          </a:prstGeom>
          <a:solidFill>
            <a:srgbClr val="F1F5F6"/>
          </a:solidFill>
          <a:ln w="12700">
            <a:solidFill>
              <a:srgbClr val="F1F5F6"/>
            </a:solidFill>
            <a:prstDash val="solid"/>
          </a:ln>
        </p:spPr>
      </p:sp>
      <p:sp>
        <p:nvSpPr>
          <p:cNvPr id="4" name="Shape 2"/>
          <p:cNvSpPr/>
          <p:nvPr/>
        </p:nvSpPr>
        <p:spPr>
          <a:xfrm>
            <a:off x="868680" y="1691640"/>
            <a:ext cx="731520" cy="731520"/>
          </a:xfrm>
          <a:prstGeom prst="ellipse">
            <a:avLst/>
          </a:prstGeom>
          <a:solidFill>
            <a:srgbClr val="2A9D8F"/>
          </a:solidFill>
          <a:ln w="12700">
            <a:solidFill>
              <a:srgbClr val="2A9D8F"/>
            </a:solidFill>
            <a:prstDash val="solid"/>
          </a:ln>
        </p:spPr>
      </p:sp>
      <p:pic>
        <p:nvPicPr>
          <p:cNvPr id="5" name="Image 0" descr="preencoded.png">    </p:cNvPr>
          <p:cNvPicPr>
            <a:picLocks noChangeAspect="1"/>
          </p:cNvPicPr>
          <p:nvPr/>
        </p:nvPicPr>
        <p:blipFill>
          <a:blip r:embed="rId1"/>
          <a:stretch>
            <a:fillRect/>
          </a:stretch>
        </p:blipFill>
        <p:spPr>
          <a:xfrm>
            <a:off x="1051560" y="1874520"/>
            <a:ext cx="365760" cy="365760"/>
          </a:xfrm>
          <a:prstGeom prst="rect">
            <a:avLst/>
          </a:prstGeom>
        </p:spPr>
      </p:pic>
      <p:sp>
        <p:nvSpPr>
          <p:cNvPr id="6" name="Text 3"/>
          <p:cNvSpPr txBox="1"/>
          <p:nvPr/>
        </p:nvSpPr>
        <p:spPr>
          <a:xfrm>
            <a:off x="1783080" y="1783080"/>
            <a:ext cx="3931920" cy="548640"/>
          </a:xfrm>
          <a:prstGeom prst="rect">
            <a:avLst/>
          </a:prstGeom>
          <a:noFill/>
          <a:ln/>
        </p:spPr>
        <p:txBody>
          <a:bodyPr wrap="square" lIns="0" tIns="0" rIns="0" bIns="0" rtlCol="0" anchor="ctr"/>
          <a:lstStyle/>
          <a:p>
            <a:pPr indent="0" marL="0">
              <a:buNone/>
            </a:pPr>
            <a:r>
              <a:rPr lang="en-US" sz="2400" b="1" dirty="0">
                <a:solidFill>
                  <a:srgbClr val="16262E"/>
                </a:solidFill>
                <a:latin typeface="Cambria" pitchFamily="34" charset="0"/>
                <a:ea typeface="Cambria" pitchFamily="34" charset="-122"/>
                <a:cs typeface="Cambria" pitchFamily="34" charset="-120"/>
              </a:rPr>
              <a:t>Technical demands</a:t>
            </a:r>
            <a:endParaRPr lang="en-US" sz="2400" dirty="0"/>
          </a:p>
        </p:txBody>
      </p:sp>
      <p:sp>
        <p:nvSpPr>
          <p:cNvPr id="7" name="Text 4"/>
          <p:cNvSpPr txBox="1"/>
          <p:nvPr/>
        </p:nvSpPr>
        <p:spPr>
          <a:xfrm>
            <a:off x="868680" y="2651760"/>
            <a:ext cx="4846320" cy="2743200"/>
          </a:xfrm>
          <a:prstGeom prst="rect">
            <a:avLst/>
          </a:prstGeom>
          <a:noFill/>
          <a:ln/>
        </p:spPr>
        <p:txBody>
          <a:bodyPr wrap="square" rtlCol="0" anchor="t"/>
          <a:lstStyle/>
          <a:p>
            <a:pPr marL="342900" indent="-342900">
              <a:spcAft>
                <a:spcPts val="1200"/>
              </a:spcAft>
              <a:buSzPct val="100000"/>
              <a:buChar char="•"/>
            </a:pPr>
            <a:r>
              <a:rPr lang="en-US" sz="1700" dirty="0">
                <a:solidFill>
                  <a:srgbClr val="1F2D33"/>
                </a:solidFill>
                <a:latin typeface="Calibri" pitchFamily="34" charset="0"/>
                <a:ea typeface="Calibri" pitchFamily="34" charset="-122"/>
                <a:cs typeface="Calibri" pitchFamily="34" charset="-120"/>
              </a:rPr>
              <a:t>Volume: data larger than RAM</a:t>
            </a:r>
            <a:endParaRPr lang="en-US" sz="1700" dirty="0"/>
          </a:p>
          <a:p>
            <a:pPr marL="342900" indent="-342900">
              <a:spcAft>
                <a:spcPts val="1200"/>
              </a:spcAft>
              <a:buSzPct val="100000"/>
              <a:buChar char="•"/>
            </a:pPr>
            <a:r>
              <a:rPr lang="en-US" sz="1700" dirty="0">
                <a:solidFill>
                  <a:srgbClr val="1F2D33"/>
                </a:solidFill>
                <a:latin typeface="Calibri" pitchFamily="34" charset="0"/>
                <a:ea typeface="Calibri" pitchFamily="34" charset="-122"/>
                <a:cs typeface="Calibri" pitchFamily="34" charset="-120"/>
              </a:rPr>
              <a:t>Velocity: pipelines that must finish on time</a:t>
            </a:r>
            <a:endParaRPr lang="en-US" sz="1700" dirty="0"/>
          </a:p>
          <a:p>
            <a:pPr marL="342900" indent="-342900">
              <a:spcAft>
                <a:spcPts val="1200"/>
              </a:spcAft>
              <a:buSzPct val="100000"/>
              <a:buChar char="•"/>
            </a:pPr>
            <a:r>
              <a:rPr lang="en-US" sz="1700" dirty="0">
                <a:solidFill>
                  <a:srgbClr val="1F2D33"/>
                </a:solidFill>
                <a:latin typeface="Calibri" pitchFamily="34" charset="0"/>
                <a:ea typeface="Calibri" pitchFamily="34" charset="-122"/>
                <a:cs typeface="Calibri" pitchFamily="34" charset="-120"/>
              </a:rPr>
              <a:t>Variety: messy, joined, multi-source records</a:t>
            </a:r>
            <a:endParaRPr lang="en-US" sz="1700" dirty="0"/>
          </a:p>
          <a:p>
            <a:pPr marL="342900" indent="-342900">
              <a:spcAft>
                <a:spcPts val="1200"/>
              </a:spcAft>
              <a:buSzPct val="100000"/>
              <a:buChar char="•"/>
            </a:pPr>
            <a:r>
              <a:rPr lang="en-US" sz="1700" dirty="0">
                <a:solidFill>
                  <a:srgbClr val="1F2D33"/>
                </a:solidFill>
                <a:latin typeface="Calibri" pitchFamily="34" charset="0"/>
                <a:ea typeface="Calibri" pitchFamily="34" charset="-122"/>
                <a:cs typeface="Calibri" pitchFamily="34" charset="-120"/>
              </a:rPr>
              <a:t>Cost: compute and storage budgets</a:t>
            </a:r>
            <a:endParaRPr lang="en-US" sz="1700" dirty="0"/>
          </a:p>
        </p:txBody>
      </p:sp>
      <p:sp>
        <p:nvSpPr>
          <p:cNvPr id="8" name="Shape 5"/>
          <p:cNvSpPr/>
          <p:nvPr/>
        </p:nvSpPr>
        <p:spPr>
          <a:xfrm>
            <a:off x="6263640" y="1463040"/>
            <a:ext cx="5394960" cy="4206240"/>
          </a:xfrm>
          <a:prstGeom prst="roundRect">
            <a:avLst>
              <a:gd name="adj" fmla="val 2174"/>
            </a:avLst>
          </a:prstGeom>
          <a:solidFill>
            <a:srgbClr val="F1F5F6"/>
          </a:solidFill>
          <a:ln w="12700">
            <a:solidFill>
              <a:srgbClr val="F1F5F6"/>
            </a:solidFill>
            <a:prstDash val="solid"/>
          </a:ln>
        </p:spPr>
      </p:sp>
      <p:sp>
        <p:nvSpPr>
          <p:cNvPr id="9" name="Shape 6"/>
          <p:cNvSpPr/>
          <p:nvPr/>
        </p:nvSpPr>
        <p:spPr>
          <a:xfrm>
            <a:off x="6583680" y="1691640"/>
            <a:ext cx="731520" cy="731520"/>
          </a:xfrm>
          <a:prstGeom prst="ellipse">
            <a:avLst/>
          </a:prstGeom>
          <a:solidFill>
            <a:srgbClr val="E76F51"/>
          </a:solidFill>
          <a:ln w="12700">
            <a:solidFill>
              <a:srgbClr val="E76F51"/>
            </a:solidFill>
            <a:prstDash val="solid"/>
          </a:ln>
        </p:spPr>
      </p:sp>
      <p:pic>
        <p:nvPicPr>
          <p:cNvPr id="10" name="Image 1" descr="preencoded.png">    </p:cNvPr>
          <p:cNvPicPr>
            <a:picLocks noChangeAspect="1"/>
          </p:cNvPicPr>
          <p:nvPr/>
        </p:nvPicPr>
        <p:blipFill>
          <a:blip r:embed="rId2"/>
          <a:stretch>
            <a:fillRect/>
          </a:stretch>
        </p:blipFill>
        <p:spPr>
          <a:xfrm>
            <a:off x="6766560" y="1874520"/>
            <a:ext cx="365760" cy="365760"/>
          </a:xfrm>
          <a:prstGeom prst="rect">
            <a:avLst/>
          </a:prstGeom>
        </p:spPr>
      </p:pic>
      <p:sp>
        <p:nvSpPr>
          <p:cNvPr id="11" name="Text 7"/>
          <p:cNvSpPr txBox="1"/>
          <p:nvPr/>
        </p:nvSpPr>
        <p:spPr>
          <a:xfrm>
            <a:off x="7498080" y="1783080"/>
            <a:ext cx="3931920" cy="548640"/>
          </a:xfrm>
          <a:prstGeom prst="rect">
            <a:avLst/>
          </a:prstGeom>
          <a:noFill/>
          <a:ln/>
        </p:spPr>
        <p:txBody>
          <a:bodyPr wrap="square" lIns="0" tIns="0" rIns="0" bIns="0" rtlCol="0" anchor="ctr"/>
          <a:lstStyle/>
          <a:p>
            <a:pPr indent="0" marL="0">
              <a:buNone/>
            </a:pPr>
            <a:r>
              <a:rPr lang="en-US" sz="2400" b="1" dirty="0">
                <a:solidFill>
                  <a:srgbClr val="16262E"/>
                </a:solidFill>
                <a:latin typeface="Cambria" pitchFamily="34" charset="0"/>
                <a:ea typeface="Cambria" pitchFamily="34" charset="-122"/>
                <a:cs typeface="Cambria" pitchFamily="34" charset="-120"/>
              </a:rPr>
              <a:t>Ethical duties</a:t>
            </a:r>
            <a:endParaRPr lang="en-US" sz="2400" dirty="0"/>
          </a:p>
        </p:txBody>
      </p:sp>
      <p:sp>
        <p:nvSpPr>
          <p:cNvPr id="12" name="Text 8"/>
          <p:cNvSpPr txBox="1"/>
          <p:nvPr/>
        </p:nvSpPr>
        <p:spPr>
          <a:xfrm>
            <a:off x="6583680" y="2651760"/>
            <a:ext cx="4846320" cy="2743200"/>
          </a:xfrm>
          <a:prstGeom prst="rect">
            <a:avLst/>
          </a:prstGeom>
          <a:noFill/>
          <a:ln/>
        </p:spPr>
        <p:txBody>
          <a:bodyPr wrap="square" rtlCol="0" anchor="t"/>
          <a:lstStyle/>
          <a:p>
            <a:pPr marL="342900" indent="-342900">
              <a:spcAft>
                <a:spcPts val="1200"/>
              </a:spcAft>
              <a:buSzPct val="100000"/>
              <a:buChar char="•"/>
            </a:pPr>
            <a:r>
              <a:rPr lang="en-US" sz="1700" dirty="0">
                <a:solidFill>
                  <a:srgbClr val="1F2D33"/>
                </a:solidFill>
                <a:latin typeface="Calibri" pitchFamily="34" charset="0"/>
                <a:ea typeface="Calibri" pitchFamily="34" charset="-122"/>
                <a:cs typeface="Calibri" pitchFamily="34" charset="-120"/>
              </a:rPr>
              <a:t>Privacy: personal data minimised and protected</a:t>
            </a:r>
            <a:endParaRPr lang="en-US" sz="1700" dirty="0"/>
          </a:p>
          <a:p>
            <a:pPr marL="342900" indent="-342900">
              <a:spcAft>
                <a:spcPts val="1200"/>
              </a:spcAft>
              <a:buSzPct val="100000"/>
              <a:buChar char="•"/>
            </a:pPr>
            <a:r>
              <a:rPr lang="en-US" sz="1700" dirty="0">
                <a:solidFill>
                  <a:srgbClr val="1F2D33"/>
                </a:solidFill>
                <a:latin typeface="Calibri" pitchFamily="34" charset="0"/>
                <a:ea typeface="Calibri" pitchFamily="34" charset="-122"/>
                <a:cs typeface="Calibri" pitchFamily="34" charset="-120"/>
              </a:rPr>
              <a:t>Transparency: decisions can be explained</a:t>
            </a:r>
            <a:endParaRPr lang="en-US" sz="1700" dirty="0"/>
          </a:p>
          <a:p>
            <a:pPr marL="342900" indent="-342900">
              <a:spcAft>
                <a:spcPts val="1200"/>
              </a:spcAft>
              <a:buSzPct val="100000"/>
              <a:buChar char="•"/>
            </a:pPr>
            <a:r>
              <a:rPr lang="en-US" sz="1700" dirty="0">
                <a:solidFill>
                  <a:srgbClr val="1F2D33"/>
                </a:solidFill>
                <a:latin typeface="Calibri" pitchFamily="34" charset="0"/>
                <a:ea typeface="Calibri" pitchFamily="34" charset="-122"/>
                <a:cs typeface="Calibri" pitchFamily="34" charset="-120"/>
              </a:rPr>
              <a:t>Fairness: outcomes checked across groups</a:t>
            </a:r>
            <a:endParaRPr lang="en-US" sz="1700" dirty="0"/>
          </a:p>
          <a:p>
            <a:pPr marL="342900" indent="-342900">
              <a:spcAft>
                <a:spcPts val="1200"/>
              </a:spcAft>
              <a:buSzPct val="100000"/>
              <a:buChar char="•"/>
            </a:pPr>
            <a:r>
              <a:rPr lang="en-US" sz="1700" dirty="0">
                <a:solidFill>
                  <a:srgbClr val="1F2D33"/>
                </a:solidFill>
                <a:latin typeface="Calibri" pitchFamily="34" charset="0"/>
                <a:ea typeface="Calibri" pitchFamily="34" charset="-122"/>
                <a:cs typeface="Calibri" pitchFamily="34" charset="-120"/>
              </a:rPr>
              <a:t>Accountability: someone owns each decision</a:t>
            </a:r>
            <a:endParaRPr lang="en-US" sz="1700" dirty="0"/>
          </a:p>
        </p:txBody>
      </p:sp>
      <p:sp>
        <p:nvSpPr>
          <p:cNvPr id="13" name="Text 9"/>
          <p:cNvSpPr txBox="1"/>
          <p:nvPr/>
        </p:nvSpPr>
        <p:spPr>
          <a:xfrm>
            <a:off x="548640" y="5852160"/>
            <a:ext cx="11064240" cy="640080"/>
          </a:xfrm>
          <a:prstGeom prst="rect">
            <a:avLst/>
          </a:prstGeom>
          <a:noFill/>
          <a:ln/>
        </p:spPr>
        <p:txBody>
          <a:bodyPr wrap="square" lIns="0" tIns="0" rIns="0" bIns="0" rtlCol="0" anchor="ctr"/>
          <a:lstStyle/>
          <a:p>
            <a:pPr indent="0" marL="0">
              <a:buNone/>
            </a:pPr>
            <a:r>
              <a:rPr lang="en-US" sz="1600" i="1" dirty="0">
                <a:solidFill>
                  <a:srgbClr val="5B6B72"/>
                </a:solidFill>
                <a:latin typeface="Calibri" pitchFamily="34" charset="0"/>
                <a:ea typeface="Calibri" pitchFamily="34" charset="-122"/>
                <a:cs typeface="Calibri" pitchFamily="34" charset="-120"/>
              </a:rPr>
              <a:t>Key idea: scale and ethics are not a trade-off to settle later. The same code that processes the data is where privacy, fairness and transparency are enforced.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6262E"/>
                </a:solidFill>
                <a:latin typeface="Cambria" pitchFamily="34" charset="0"/>
                <a:ea typeface="Cambria" pitchFamily="34" charset="-122"/>
                <a:cs typeface="Cambria" pitchFamily="34" charset="-120"/>
              </a:rPr>
              <a:t>Technique 1: pandas chunking</a:t>
            </a:r>
            <a:endParaRPr lang="en-US" sz="3600" dirty="0"/>
          </a:p>
        </p:txBody>
      </p:sp>
      <p:sp>
        <p:nvSpPr>
          <p:cNvPr id="3" name="Shape 1"/>
          <p:cNvSpPr/>
          <p:nvPr/>
        </p:nvSpPr>
        <p:spPr>
          <a:xfrm>
            <a:off x="548640" y="1371600"/>
            <a:ext cx="6766560" cy="4389120"/>
          </a:xfrm>
          <a:prstGeom prst="roundRect">
            <a:avLst>
              <a:gd name="adj" fmla="val 1667"/>
            </a:avLst>
          </a:prstGeom>
          <a:solidFill>
            <a:srgbClr val="16262E"/>
          </a:solidFill>
          <a:ln w="12700">
            <a:solidFill>
              <a:srgbClr val="16262E"/>
            </a:solidFill>
            <a:prstDash val="solid"/>
          </a:ln>
        </p:spPr>
      </p:sp>
      <p:sp>
        <p:nvSpPr>
          <p:cNvPr id="4" name="Text 2"/>
          <p:cNvSpPr txBox="1"/>
          <p:nvPr/>
        </p:nvSpPr>
        <p:spPr>
          <a:xfrm>
            <a:off x="731520" y="1508760"/>
            <a:ext cx="6400800" cy="4114800"/>
          </a:xfrm>
          <a:prstGeom prst="rect">
            <a:avLst/>
          </a:prstGeom>
          <a:noFill/>
          <a:ln/>
        </p:spPr>
        <p:txBody>
          <a:bodyPr wrap="square" lIns="0" tIns="0" rIns="0" bIns="0" rtlCol="0" anchor="t"/>
          <a:lstStyle/>
          <a:p>
            <a:pPr indent="0" marL="0">
              <a:buNone/>
            </a:pPr>
            <a:r>
              <a:rPr lang="en-US" sz="1300" dirty="0">
                <a:solidFill>
                  <a:srgbClr val="E6EEF0"/>
                </a:solidFill>
                <a:latin typeface="Courier New" pitchFamily="34" charset="0"/>
                <a:ea typeface="Courier New" pitchFamily="34" charset="-122"/>
                <a:cs typeface="Courier New" pitchFamily="34" charset="-120"/>
              </a:rPr>
              <a:t>import pandas as pd</a:t>
            </a:r>
            <a:endParaRPr lang="en-US" sz="1300" dirty="0"/>
          </a:p>
          <a:p>
            <a:pPr indent="0" marL="0">
              <a:buNone/>
            </a:pP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agg = None</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for chunk in pd.read_csv(</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"applicants.csv",            # 3M rows, 122 MB</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chunksize=250_000,           # only 250k rows in RAM</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usecols=["applicant_id",</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"group", "shortlisted"]):   # minimise</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s = (chunk.groupby("group")["shortlisted"]</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.agg(["sum", "count"]))</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agg = s if agg is None else agg.add(s, fill_value=0)</a:t>
            </a:r>
            <a:endParaRPr lang="en-US" sz="1300" dirty="0"/>
          </a:p>
          <a:p>
            <a:pPr indent="0" marL="0">
              <a:buNone/>
            </a:pP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rate = agg["sum"] / agg["count"]     # combine partials</a:t>
            </a:r>
            <a:endParaRPr lang="en-US" sz="1300" dirty="0"/>
          </a:p>
        </p:txBody>
      </p:sp>
      <p:sp>
        <p:nvSpPr>
          <p:cNvPr id="5" name="Shape 3"/>
          <p:cNvSpPr/>
          <p:nvPr/>
        </p:nvSpPr>
        <p:spPr>
          <a:xfrm>
            <a:off x="7680960" y="1371600"/>
            <a:ext cx="640080" cy="640080"/>
          </a:xfrm>
          <a:prstGeom prst="ellipse">
            <a:avLst/>
          </a:prstGeom>
          <a:solidFill>
            <a:srgbClr val="2A9D8F"/>
          </a:solidFill>
          <a:ln w="12700">
            <a:solidFill>
              <a:srgbClr val="2A9D8F"/>
            </a:solidFill>
            <a:prstDash val="solid"/>
          </a:ln>
        </p:spPr>
      </p:sp>
      <p:sp>
        <p:nvSpPr>
          <p:cNvPr id="6" name="Text 4"/>
          <p:cNvSpPr txBox="1"/>
          <p:nvPr/>
        </p:nvSpPr>
        <p:spPr>
          <a:xfrm>
            <a:off x="7680960" y="13716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8503920" y="1353312"/>
            <a:ext cx="3200400" cy="411480"/>
          </a:xfrm>
          <a:prstGeom prst="rect">
            <a:avLst/>
          </a:prstGeom>
          <a:noFill/>
          <a:ln/>
        </p:spPr>
        <p:txBody>
          <a:bodyPr wrap="square" lIns="0" tIns="0" rIns="0" bIns="0" rtlCol="0" anchor="ctr"/>
          <a:lstStyle/>
          <a:p>
            <a:pPr indent="0" marL="0">
              <a:buNone/>
            </a:pPr>
            <a:r>
              <a:rPr lang="en-US" sz="2000" b="1" dirty="0">
                <a:solidFill>
                  <a:srgbClr val="16262E"/>
                </a:solidFill>
                <a:latin typeface="Cambria" pitchFamily="34" charset="0"/>
                <a:ea typeface="Cambria" pitchFamily="34" charset="-122"/>
                <a:cs typeface="Cambria" pitchFamily="34" charset="-120"/>
              </a:rPr>
              <a:t>Stream</a:t>
            </a:r>
            <a:endParaRPr lang="en-US" sz="2000" dirty="0"/>
          </a:p>
        </p:txBody>
      </p:sp>
      <p:sp>
        <p:nvSpPr>
          <p:cNvPr id="8" name="Text 6"/>
          <p:cNvSpPr txBox="1"/>
          <p:nvPr/>
        </p:nvSpPr>
        <p:spPr>
          <a:xfrm>
            <a:off x="8503920" y="1783080"/>
            <a:ext cx="3200400" cy="822960"/>
          </a:xfrm>
          <a:prstGeom prst="rect">
            <a:avLst/>
          </a:prstGeom>
          <a:noFill/>
          <a:ln/>
        </p:spPr>
        <p:txBody>
          <a:bodyPr wrap="square" lIns="0" tIns="0" rIns="0" bIns="0" rtlCol="0" anchor="t"/>
          <a:lstStyle/>
          <a:p>
            <a:pPr indent="0" marL="0">
              <a:buNone/>
            </a:pPr>
            <a:r>
              <a:rPr lang="en-US" sz="1500" dirty="0">
                <a:solidFill>
                  <a:srgbClr val="1F2D33"/>
                </a:solidFill>
                <a:latin typeface="Calibri" pitchFamily="34" charset="0"/>
                <a:ea typeface="Calibri" pitchFamily="34" charset="-122"/>
                <a:cs typeface="Calibri" pitchFamily="34" charset="-120"/>
              </a:rPr>
              <a:t>Read a fixed number of rows at a time instead of the whole file.</a:t>
            </a:r>
            <a:endParaRPr lang="en-US" sz="1500" dirty="0"/>
          </a:p>
        </p:txBody>
      </p:sp>
      <p:sp>
        <p:nvSpPr>
          <p:cNvPr id="9" name="Shape 7"/>
          <p:cNvSpPr/>
          <p:nvPr/>
        </p:nvSpPr>
        <p:spPr>
          <a:xfrm>
            <a:off x="7680960" y="2880360"/>
            <a:ext cx="640080" cy="640080"/>
          </a:xfrm>
          <a:prstGeom prst="ellipse">
            <a:avLst/>
          </a:prstGeom>
          <a:solidFill>
            <a:srgbClr val="2A9D8F"/>
          </a:solidFill>
          <a:ln w="12700">
            <a:solidFill>
              <a:srgbClr val="2A9D8F"/>
            </a:solidFill>
            <a:prstDash val="solid"/>
          </a:ln>
        </p:spPr>
      </p:sp>
      <p:sp>
        <p:nvSpPr>
          <p:cNvPr id="10" name="Text 8"/>
          <p:cNvSpPr txBox="1"/>
          <p:nvPr/>
        </p:nvSpPr>
        <p:spPr>
          <a:xfrm>
            <a:off x="7680960" y="288036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8503920" y="2862072"/>
            <a:ext cx="3200400" cy="411480"/>
          </a:xfrm>
          <a:prstGeom prst="rect">
            <a:avLst/>
          </a:prstGeom>
          <a:noFill/>
          <a:ln/>
        </p:spPr>
        <p:txBody>
          <a:bodyPr wrap="square" lIns="0" tIns="0" rIns="0" bIns="0" rtlCol="0" anchor="ctr"/>
          <a:lstStyle/>
          <a:p>
            <a:pPr indent="0" marL="0">
              <a:buNone/>
            </a:pPr>
            <a:r>
              <a:rPr lang="en-US" sz="2000" b="1" dirty="0">
                <a:solidFill>
                  <a:srgbClr val="16262E"/>
                </a:solidFill>
                <a:latin typeface="Cambria" pitchFamily="34" charset="0"/>
                <a:ea typeface="Cambria" pitchFamily="34" charset="-122"/>
                <a:cs typeface="Cambria" pitchFamily="34" charset="-120"/>
              </a:rPr>
              <a:t>Reduce</a:t>
            </a:r>
            <a:endParaRPr lang="en-US" sz="2000" dirty="0"/>
          </a:p>
        </p:txBody>
      </p:sp>
      <p:sp>
        <p:nvSpPr>
          <p:cNvPr id="12" name="Text 10"/>
          <p:cNvSpPr txBox="1"/>
          <p:nvPr/>
        </p:nvSpPr>
        <p:spPr>
          <a:xfrm>
            <a:off x="8503920" y="3291840"/>
            <a:ext cx="3200400" cy="822960"/>
          </a:xfrm>
          <a:prstGeom prst="rect">
            <a:avLst/>
          </a:prstGeom>
          <a:noFill/>
          <a:ln/>
        </p:spPr>
        <p:txBody>
          <a:bodyPr wrap="square" lIns="0" tIns="0" rIns="0" bIns="0" rtlCol="0" anchor="t"/>
          <a:lstStyle/>
          <a:p>
            <a:pPr indent="0" marL="0">
              <a:buNone/>
            </a:pPr>
            <a:r>
              <a:rPr lang="en-US" sz="1500" dirty="0">
                <a:solidFill>
                  <a:srgbClr val="1F2D33"/>
                </a:solidFill>
                <a:latin typeface="Calibri" pitchFamily="34" charset="0"/>
                <a:ea typeface="Calibri" pitchFamily="34" charset="-122"/>
                <a:cs typeface="Calibri" pitchFamily="34" charset="-120"/>
              </a:rPr>
              <a:t>Compute partial aggregates (sum, count) per chunk.</a:t>
            </a:r>
            <a:endParaRPr lang="en-US" sz="1500" dirty="0"/>
          </a:p>
        </p:txBody>
      </p:sp>
      <p:sp>
        <p:nvSpPr>
          <p:cNvPr id="13" name="Shape 11"/>
          <p:cNvSpPr/>
          <p:nvPr/>
        </p:nvSpPr>
        <p:spPr>
          <a:xfrm>
            <a:off x="7680960" y="4389120"/>
            <a:ext cx="640080" cy="640080"/>
          </a:xfrm>
          <a:prstGeom prst="ellipse">
            <a:avLst/>
          </a:prstGeom>
          <a:solidFill>
            <a:srgbClr val="2A9D8F"/>
          </a:solidFill>
          <a:ln w="12700">
            <a:solidFill>
              <a:srgbClr val="2A9D8F"/>
            </a:solidFill>
            <a:prstDash val="solid"/>
          </a:ln>
        </p:spPr>
      </p:sp>
      <p:sp>
        <p:nvSpPr>
          <p:cNvPr id="14" name="Text 12"/>
          <p:cNvSpPr txBox="1"/>
          <p:nvPr/>
        </p:nvSpPr>
        <p:spPr>
          <a:xfrm>
            <a:off x="7680960" y="43891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8503920" y="4370832"/>
            <a:ext cx="3200400" cy="411480"/>
          </a:xfrm>
          <a:prstGeom prst="rect">
            <a:avLst/>
          </a:prstGeom>
          <a:noFill/>
          <a:ln/>
        </p:spPr>
        <p:txBody>
          <a:bodyPr wrap="square" lIns="0" tIns="0" rIns="0" bIns="0" rtlCol="0" anchor="ctr"/>
          <a:lstStyle/>
          <a:p>
            <a:pPr indent="0" marL="0">
              <a:buNone/>
            </a:pPr>
            <a:r>
              <a:rPr lang="en-US" sz="2000" b="1" dirty="0">
                <a:solidFill>
                  <a:srgbClr val="16262E"/>
                </a:solidFill>
                <a:latin typeface="Cambria" pitchFamily="34" charset="0"/>
                <a:ea typeface="Cambria" pitchFamily="34" charset="-122"/>
                <a:cs typeface="Cambria" pitchFamily="34" charset="-120"/>
              </a:rPr>
              <a:t>Combine</a:t>
            </a:r>
            <a:endParaRPr lang="en-US" sz="2000" dirty="0"/>
          </a:p>
        </p:txBody>
      </p:sp>
      <p:sp>
        <p:nvSpPr>
          <p:cNvPr id="16" name="Text 14"/>
          <p:cNvSpPr txBox="1"/>
          <p:nvPr/>
        </p:nvSpPr>
        <p:spPr>
          <a:xfrm>
            <a:off x="8503920" y="4800600"/>
            <a:ext cx="3200400" cy="822960"/>
          </a:xfrm>
          <a:prstGeom prst="rect">
            <a:avLst/>
          </a:prstGeom>
          <a:noFill/>
          <a:ln/>
        </p:spPr>
        <p:txBody>
          <a:bodyPr wrap="square" lIns="0" tIns="0" rIns="0" bIns="0" rtlCol="0" anchor="t"/>
          <a:lstStyle/>
          <a:p>
            <a:pPr indent="0" marL="0">
              <a:buNone/>
            </a:pPr>
            <a:r>
              <a:rPr lang="en-US" sz="1500" dirty="0">
                <a:solidFill>
                  <a:srgbClr val="1F2D33"/>
                </a:solidFill>
                <a:latin typeface="Calibri" pitchFamily="34" charset="0"/>
                <a:ea typeface="Calibri" pitchFamily="34" charset="-122"/>
                <a:cs typeface="Calibri" pitchFamily="34" charset="-120"/>
              </a:rPr>
              <a:t>Merge partials into exact global results.</a:t>
            </a:r>
            <a:endParaRPr lang="en-US" sz="1500" dirty="0"/>
          </a:p>
        </p:txBody>
      </p:sp>
      <p:sp>
        <p:nvSpPr>
          <p:cNvPr id="17" name="Text 15"/>
          <p:cNvSpPr txBox="1"/>
          <p:nvPr/>
        </p:nvSpPr>
        <p:spPr>
          <a:xfrm>
            <a:off x="548640" y="6035040"/>
            <a:ext cx="11064240" cy="457200"/>
          </a:xfrm>
          <a:prstGeom prst="rect">
            <a:avLst/>
          </a:prstGeom>
          <a:noFill/>
          <a:ln/>
        </p:spPr>
        <p:txBody>
          <a:bodyPr wrap="square" lIns="0" tIns="0" rIns="0" bIns="0" rtlCol="0" anchor="ctr"/>
          <a:lstStyle/>
          <a:p>
            <a:pPr indent="0" marL="0">
              <a:buNone/>
            </a:pPr>
            <a:r>
              <a:rPr lang="en-US" sz="1500" i="1" dirty="0">
                <a:solidFill>
                  <a:srgbClr val="5B6B72"/>
                </a:solidFill>
                <a:latin typeface="Calibri" pitchFamily="34" charset="0"/>
                <a:ea typeface="Calibri" pitchFamily="34" charset="-122"/>
                <a:cs typeface="Calibri" pitchFamily="34" charset="-120"/>
              </a:rPr>
              <a:t>usecols is both a memory optimisation and a privacy control: columns never loaded can never leak.</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6262E"/>
                </a:solidFill>
                <a:latin typeface="Cambria" pitchFamily="34" charset="0"/>
                <a:ea typeface="Cambria" pitchFamily="34" charset="-122"/>
                <a:cs typeface="Cambria" pitchFamily="34" charset="-120"/>
              </a:rPr>
              <a:t>Technique 2: Dask for parallel scale</a:t>
            </a:r>
            <a:endParaRPr lang="en-US" sz="3600" dirty="0"/>
          </a:p>
        </p:txBody>
      </p:sp>
      <p:sp>
        <p:nvSpPr>
          <p:cNvPr id="3" name="Shape 1"/>
          <p:cNvSpPr/>
          <p:nvPr/>
        </p:nvSpPr>
        <p:spPr>
          <a:xfrm>
            <a:off x="5486400" y="1371600"/>
            <a:ext cx="6126480" cy="3931920"/>
          </a:xfrm>
          <a:prstGeom prst="roundRect">
            <a:avLst>
              <a:gd name="adj" fmla="val 1860"/>
            </a:avLst>
          </a:prstGeom>
          <a:solidFill>
            <a:srgbClr val="16262E"/>
          </a:solidFill>
          <a:ln w="12700">
            <a:solidFill>
              <a:srgbClr val="16262E"/>
            </a:solidFill>
            <a:prstDash val="solid"/>
          </a:ln>
        </p:spPr>
      </p:sp>
      <p:sp>
        <p:nvSpPr>
          <p:cNvPr id="4" name="Text 2"/>
          <p:cNvSpPr txBox="1"/>
          <p:nvPr/>
        </p:nvSpPr>
        <p:spPr>
          <a:xfrm>
            <a:off x="5669280" y="1508760"/>
            <a:ext cx="5760720" cy="3657600"/>
          </a:xfrm>
          <a:prstGeom prst="rect">
            <a:avLst/>
          </a:prstGeom>
          <a:noFill/>
          <a:ln/>
        </p:spPr>
        <p:txBody>
          <a:bodyPr wrap="square" lIns="0" tIns="0" rIns="0" bIns="0" rtlCol="0" anchor="t"/>
          <a:lstStyle/>
          <a:p>
            <a:pPr indent="0" marL="0">
              <a:buNone/>
            </a:pPr>
            <a:r>
              <a:rPr lang="en-US" sz="1300" dirty="0">
                <a:solidFill>
                  <a:srgbClr val="E6EEF0"/>
                </a:solidFill>
                <a:latin typeface="Courier New" pitchFamily="34" charset="0"/>
                <a:ea typeface="Courier New" pitchFamily="34" charset="-122"/>
                <a:cs typeface="Courier New" pitchFamily="34" charset="-120"/>
              </a:rPr>
              <a:t>import dask.dataframe as dd</a:t>
            </a:r>
            <a:endParaRPr lang="en-US" sz="1300" dirty="0"/>
          </a:p>
          <a:p>
            <a:pPr indent="0" marL="0">
              <a:buNone/>
            </a:pP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ddf = dd.read_csv("applicants.csv",</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blocksize="32MB",</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usecols=["group", "shortlisted"])</a:t>
            </a:r>
            <a:endParaRPr lang="en-US" sz="1300" dirty="0"/>
          </a:p>
          <a:p>
            <a:pPr indent="0" marL="0">
              <a:buNone/>
            </a:pP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builds a lazy task graph - nothing runs yet</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rates = ddf.groupby("group")["shortlisted"].mean()</a:t>
            </a:r>
            <a:endParaRPr lang="en-US" sz="1300" dirty="0"/>
          </a:p>
          <a:p>
            <a:pPr indent="0" marL="0">
              <a:buNone/>
            </a:pP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rates.compute()   # runs partitions in parallel</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group A: 0.309   group B: 0.184</a:t>
            </a:r>
            <a:endParaRPr lang="en-US" sz="1300" dirty="0"/>
          </a:p>
        </p:txBody>
      </p:sp>
      <p:sp>
        <p:nvSpPr>
          <p:cNvPr id="5" name="Shape 3"/>
          <p:cNvSpPr/>
          <p:nvPr/>
        </p:nvSpPr>
        <p:spPr>
          <a:xfrm>
            <a:off x="548640" y="1371600"/>
            <a:ext cx="685800" cy="685800"/>
          </a:xfrm>
          <a:prstGeom prst="ellipse">
            <a:avLst/>
          </a:prstGeom>
          <a:solidFill>
            <a:srgbClr val="16262E"/>
          </a:solidFill>
          <a:ln w="12700">
            <a:solidFill>
              <a:srgbClr val="16262E"/>
            </a:solidFill>
            <a:prstDash val="solid"/>
          </a:ln>
        </p:spPr>
      </p:sp>
      <p:pic>
        <p:nvPicPr>
          <p:cNvPr id="6" name="Image 0" descr="preencoded.png">    </p:cNvPr>
          <p:cNvPicPr>
            <a:picLocks noChangeAspect="1"/>
          </p:cNvPicPr>
          <p:nvPr/>
        </p:nvPicPr>
        <p:blipFill>
          <a:blip r:embed="rId1"/>
          <a:stretch>
            <a:fillRect/>
          </a:stretch>
        </p:blipFill>
        <p:spPr>
          <a:xfrm>
            <a:off x="720090" y="1543050"/>
            <a:ext cx="342900" cy="342900"/>
          </a:xfrm>
          <a:prstGeom prst="rect">
            <a:avLst/>
          </a:prstGeom>
        </p:spPr>
      </p:pic>
      <p:sp>
        <p:nvSpPr>
          <p:cNvPr id="7" name="Text 4"/>
          <p:cNvSpPr txBox="1"/>
          <p:nvPr/>
        </p:nvSpPr>
        <p:spPr>
          <a:xfrm>
            <a:off x="1463040" y="1353312"/>
            <a:ext cx="3657600" cy="365760"/>
          </a:xfrm>
          <a:prstGeom prst="rect">
            <a:avLst/>
          </a:prstGeom>
          <a:noFill/>
          <a:ln/>
        </p:spPr>
        <p:txBody>
          <a:bodyPr wrap="square" lIns="0" tIns="0" rIns="0" bIns="0" rtlCol="0" anchor="ctr"/>
          <a:lstStyle/>
          <a:p>
            <a:pPr indent="0" marL="0">
              <a:buNone/>
            </a:pPr>
            <a:r>
              <a:rPr lang="en-US" sz="1900" b="1" dirty="0">
                <a:solidFill>
                  <a:srgbClr val="16262E"/>
                </a:solidFill>
                <a:latin typeface="Cambria" pitchFamily="34" charset="0"/>
                <a:ea typeface="Cambria" pitchFamily="34" charset="-122"/>
                <a:cs typeface="Cambria" pitchFamily="34" charset="-120"/>
              </a:rPr>
              <a:t>Partitions</a:t>
            </a:r>
            <a:endParaRPr lang="en-US" sz="1900" dirty="0"/>
          </a:p>
        </p:txBody>
      </p:sp>
      <p:sp>
        <p:nvSpPr>
          <p:cNvPr id="8" name="Text 5"/>
          <p:cNvSpPr txBox="1"/>
          <p:nvPr/>
        </p:nvSpPr>
        <p:spPr>
          <a:xfrm>
            <a:off x="1463040" y="1737360"/>
            <a:ext cx="3657600" cy="731520"/>
          </a:xfrm>
          <a:prstGeom prst="rect">
            <a:avLst/>
          </a:prstGeom>
          <a:noFill/>
          <a:ln/>
        </p:spPr>
        <p:txBody>
          <a:bodyPr wrap="square" lIns="0" tIns="0" rIns="0" bIns="0" rtlCol="0" anchor="t"/>
          <a:lstStyle/>
          <a:p>
            <a:pPr indent="0" marL="0">
              <a:buNone/>
            </a:pPr>
            <a:r>
              <a:rPr lang="en-US" sz="1500" dirty="0">
                <a:solidFill>
                  <a:srgbClr val="1F2D33"/>
                </a:solidFill>
                <a:latin typeface="Calibri" pitchFamily="34" charset="0"/>
                <a:ea typeface="Calibri" pitchFamily="34" charset="-122"/>
                <a:cs typeface="Calibri" pitchFamily="34" charset="-120"/>
              </a:rPr>
              <a:t>Splits the file into pandas-sized blocks.</a:t>
            </a:r>
            <a:endParaRPr lang="en-US" sz="1500" dirty="0"/>
          </a:p>
        </p:txBody>
      </p:sp>
      <p:sp>
        <p:nvSpPr>
          <p:cNvPr id="9" name="Shape 6"/>
          <p:cNvSpPr/>
          <p:nvPr/>
        </p:nvSpPr>
        <p:spPr>
          <a:xfrm>
            <a:off x="548640" y="2743200"/>
            <a:ext cx="685800" cy="685800"/>
          </a:xfrm>
          <a:prstGeom prst="ellipse">
            <a:avLst/>
          </a:prstGeom>
          <a:solidFill>
            <a:srgbClr val="16262E"/>
          </a:solidFill>
          <a:ln w="12700">
            <a:solidFill>
              <a:srgbClr val="16262E"/>
            </a:solidFill>
            <a:prstDash val="solid"/>
          </a:ln>
        </p:spPr>
      </p:sp>
      <p:pic>
        <p:nvPicPr>
          <p:cNvPr id="10" name="Image 1" descr="preencoded.png">    </p:cNvPr>
          <p:cNvPicPr>
            <a:picLocks noChangeAspect="1"/>
          </p:cNvPicPr>
          <p:nvPr/>
        </p:nvPicPr>
        <p:blipFill>
          <a:blip r:embed="rId2"/>
          <a:stretch>
            <a:fillRect/>
          </a:stretch>
        </p:blipFill>
        <p:spPr>
          <a:xfrm>
            <a:off x="720090" y="2914650"/>
            <a:ext cx="342900" cy="342900"/>
          </a:xfrm>
          <a:prstGeom prst="rect">
            <a:avLst/>
          </a:prstGeom>
        </p:spPr>
      </p:pic>
      <p:sp>
        <p:nvSpPr>
          <p:cNvPr id="11" name="Text 7"/>
          <p:cNvSpPr txBox="1"/>
          <p:nvPr/>
        </p:nvSpPr>
        <p:spPr>
          <a:xfrm>
            <a:off x="1463040" y="2724912"/>
            <a:ext cx="3657600" cy="365760"/>
          </a:xfrm>
          <a:prstGeom prst="rect">
            <a:avLst/>
          </a:prstGeom>
          <a:noFill/>
          <a:ln/>
        </p:spPr>
        <p:txBody>
          <a:bodyPr wrap="square" lIns="0" tIns="0" rIns="0" bIns="0" rtlCol="0" anchor="ctr"/>
          <a:lstStyle/>
          <a:p>
            <a:pPr indent="0" marL="0">
              <a:buNone/>
            </a:pPr>
            <a:r>
              <a:rPr lang="en-US" sz="1900" b="1" dirty="0">
                <a:solidFill>
                  <a:srgbClr val="16262E"/>
                </a:solidFill>
                <a:latin typeface="Cambria" pitchFamily="34" charset="0"/>
                <a:ea typeface="Cambria" pitchFamily="34" charset="-122"/>
                <a:cs typeface="Cambria" pitchFamily="34" charset="-120"/>
              </a:rPr>
              <a:t>Lazy graph</a:t>
            </a:r>
            <a:endParaRPr lang="en-US" sz="1900" dirty="0"/>
          </a:p>
        </p:txBody>
      </p:sp>
      <p:sp>
        <p:nvSpPr>
          <p:cNvPr id="12" name="Text 8"/>
          <p:cNvSpPr txBox="1"/>
          <p:nvPr/>
        </p:nvSpPr>
        <p:spPr>
          <a:xfrm>
            <a:off x="1463040" y="3108960"/>
            <a:ext cx="3657600" cy="731520"/>
          </a:xfrm>
          <a:prstGeom prst="rect">
            <a:avLst/>
          </a:prstGeom>
          <a:noFill/>
          <a:ln/>
        </p:spPr>
        <p:txBody>
          <a:bodyPr wrap="square" lIns="0" tIns="0" rIns="0" bIns="0" rtlCol="0" anchor="t"/>
          <a:lstStyle/>
          <a:p>
            <a:pPr indent="0" marL="0">
              <a:buNone/>
            </a:pPr>
            <a:r>
              <a:rPr lang="en-US" sz="1500" dirty="0">
                <a:solidFill>
                  <a:srgbClr val="1F2D33"/>
                </a:solidFill>
                <a:latin typeface="Calibri" pitchFamily="34" charset="0"/>
                <a:ea typeface="Calibri" pitchFamily="34" charset="-122"/>
                <a:cs typeface="Calibri" pitchFamily="34" charset="-120"/>
              </a:rPr>
              <a:t>Plans the whole computation before running it.</a:t>
            </a:r>
            <a:endParaRPr lang="en-US" sz="1500" dirty="0"/>
          </a:p>
        </p:txBody>
      </p:sp>
      <p:sp>
        <p:nvSpPr>
          <p:cNvPr id="13" name="Shape 9"/>
          <p:cNvSpPr/>
          <p:nvPr/>
        </p:nvSpPr>
        <p:spPr>
          <a:xfrm>
            <a:off x="548640" y="4114800"/>
            <a:ext cx="685800" cy="685800"/>
          </a:xfrm>
          <a:prstGeom prst="ellipse">
            <a:avLst/>
          </a:prstGeom>
          <a:solidFill>
            <a:srgbClr val="16262E"/>
          </a:solidFill>
          <a:ln w="12700">
            <a:solidFill>
              <a:srgbClr val="16262E"/>
            </a:solidFill>
            <a:prstDash val="solid"/>
          </a:ln>
        </p:spPr>
      </p:sp>
      <p:pic>
        <p:nvPicPr>
          <p:cNvPr id="14" name="Image 2" descr="preencoded.png">    </p:cNvPr>
          <p:cNvPicPr>
            <a:picLocks noChangeAspect="1"/>
          </p:cNvPicPr>
          <p:nvPr/>
        </p:nvPicPr>
        <p:blipFill>
          <a:blip r:embed="rId3"/>
          <a:stretch>
            <a:fillRect/>
          </a:stretch>
        </p:blipFill>
        <p:spPr>
          <a:xfrm>
            <a:off x="720090" y="4286250"/>
            <a:ext cx="342900" cy="342900"/>
          </a:xfrm>
          <a:prstGeom prst="rect">
            <a:avLst/>
          </a:prstGeom>
        </p:spPr>
      </p:pic>
      <p:sp>
        <p:nvSpPr>
          <p:cNvPr id="15" name="Text 10"/>
          <p:cNvSpPr txBox="1"/>
          <p:nvPr/>
        </p:nvSpPr>
        <p:spPr>
          <a:xfrm>
            <a:off x="1463040" y="4096512"/>
            <a:ext cx="3657600" cy="365760"/>
          </a:xfrm>
          <a:prstGeom prst="rect">
            <a:avLst/>
          </a:prstGeom>
          <a:noFill/>
          <a:ln/>
        </p:spPr>
        <p:txBody>
          <a:bodyPr wrap="square" lIns="0" tIns="0" rIns="0" bIns="0" rtlCol="0" anchor="ctr"/>
          <a:lstStyle/>
          <a:p>
            <a:pPr indent="0" marL="0">
              <a:buNone/>
            </a:pPr>
            <a:r>
              <a:rPr lang="en-US" sz="1900" b="1" dirty="0">
                <a:solidFill>
                  <a:srgbClr val="16262E"/>
                </a:solidFill>
                <a:latin typeface="Cambria" pitchFamily="34" charset="0"/>
                <a:ea typeface="Cambria" pitchFamily="34" charset="-122"/>
                <a:cs typeface="Cambria" pitchFamily="34" charset="-120"/>
              </a:rPr>
              <a:t>Parallel</a:t>
            </a:r>
            <a:endParaRPr lang="en-US" sz="1900" dirty="0"/>
          </a:p>
        </p:txBody>
      </p:sp>
      <p:sp>
        <p:nvSpPr>
          <p:cNvPr id="16" name="Text 11"/>
          <p:cNvSpPr txBox="1"/>
          <p:nvPr/>
        </p:nvSpPr>
        <p:spPr>
          <a:xfrm>
            <a:off x="1463040" y="4480560"/>
            <a:ext cx="3657600" cy="731520"/>
          </a:xfrm>
          <a:prstGeom prst="rect">
            <a:avLst/>
          </a:prstGeom>
          <a:noFill/>
          <a:ln/>
        </p:spPr>
        <p:txBody>
          <a:bodyPr wrap="square" lIns="0" tIns="0" rIns="0" bIns="0" rtlCol="0" anchor="t"/>
          <a:lstStyle/>
          <a:p>
            <a:pPr indent="0" marL="0">
              <a:buNone/>
            </a:pPr>
            <a:r>
              <a:rPr lang="en-US" sz="1500" dirty="0">
                <a:solidFill>
                  <a:srgbClr val="1F2D33"/>
                </a:solidFill>
                <a:latin typeface="Calibri" pitchFamily="34" charset="0"/>
                <a:ea typeface="Calibri" pitchFamily="34" charset="-122"/>
                <a:cs typeface="Calibri" pitchFamily="34" charset="-120"/>
              </a:rPr>
              <a:t>Uses every core, and scales to a cluster.</a:t>
            </a:r>
            <a:endParaRPr lang="en-US" sz="1500" dirty="0"/>
          </a:p>
        </p:txBody>
      </p:sp>
      <p:sp>
        <p:nvSpPr>
          <p:cNvPr id="17" name="Shape 12"/>
          <p:cNvSpPr/>
          <p:nvPr/>
        </p:nvSpPr>
        <p:spPr>
          <a:xfrm>
            <a:off x="548640" y="5532120"/>
            <a:ext cx="11064240" cy="822960"/>
          </a:xfrm>
          <a:prstGeom prst="roundRect">
            <a:avLst>
              <a:gd name="adj" fmla="val 11111"/>
            </a:avLst>
          </a:prstGeom>
          <a:solidFill>
            <a:srgbClr val="FDF3DC"/>
          </a:solidFill>
          <a:ln w="12700">
            <a:solidFill>
              <a:srgbClr val="FDF3DC"/>
            </a:solidFill>
            <a:prstDash val="solid"/>
          </a:ln>
        </p:spPr>
      </p:sp>
      <p:sp>
        <p:nvSpPr>
          <p:cNvPr id="18" name="Text 13"/>
          <p:cNvSpPr txBox="1"/>
          <p:nvPr/>
        </p:nvSpPr>
        <p:spPr>
          <a:xfrm>
            <a:off x="777240" y="5577840"/>
            <a:ext cx="10607040" cy="731520"/>
          </a:xfrm>
          <a:prstGeom prst="rect">
            <a:avLst/>
          </a:prstGeom>
          <a:noFill/>
          <a:ln/>
        </p:spPr>
        <p:txBody>
          <a:bodyPr wrap="square" lIns="0" tIns="0" rIns="0" bIns="0" rtlCol="0" anchor="ctr"/>
          <a:lstStyle/>
          <a:p>
            <a:pPr indent="0" marL="0">
              <a:buNone/>
            </a:pPr>
            <a:r>
              <a:rPr lang="en-US" sz="1500" b="1" dirty="0">
                <a:solidFill>
                  <a:srgbClr val="1F2D33"/>
                </a:solidFill>
                <a:latin typeface="Calibri" pitchFamily="34" charset="0"/>
                <a:ea typeface="Calibri" pitchFamily="34" charset="-122"/>
                <a:cs typeface="Calibri" pitchFamily="34" charset="-120"/>
              </a:rPr>
              <a:t>When to use which: </a:t>
            </a:r>
            <a:pPr indent="0" marL="0">
              <a:buNone/>
            </a:pPr>
            <a:r>
              <a:rPr lang="en-US" sz="1500" dirty="0">
                <a:solidFill>
                  <a:srgbClr val="1F2D33"/>
                </a:solidFill>
                <a:latin typeface="Calibri" pitchFamily="34" charset="0"/>
                <a:ea typeface="Calibri" pitchFamily="34" charset="-122"/>
                <a:cs typeface="Calibri" pitchFamily="34" charset="-120"/>
              </a:rPr>
              <a:t>chunking for simple, one-pass aggregations with no extra dependencies; Dask for joins, group-bys and pipelines that should run in parallel or on a cluster.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6262E"/>
                </a:solidFill>
                <a:latin typeface="Cambria" pitchFamily="34" charset="0"/>
                <a:ea typeface="Cambria" pitchFamily="34" charset="-122"/>
                <a:cs typeface="Cambria" pitchFamily="34" charset="-120"/>
              </a:rPr>
              <a:t>Demo results: same answer, less memory</a:t>
            </a:r>
            <a:endParaRPr lang="en-US" sz="3600" dirty="0"/>
          </a:p>
        </p:txBody>
      </p:sp>
      <p:graphicFrame>
        <p:nvGraphicFramePr>
          <p:cNvPr id="3" name="Chart 0" descr=""/>
          <p:cNvGraphicFramePr/>
          <p:nvPr/>
        </p:nvGraphicFramePr>
        <p:xfrm>
          <a:off x="548640" y="1371600"/>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949440" y="1371600"/>
            <a:ext cx="4663440" cy="1325880"/>
          </a:xfrm>
          <a:prstGeom prst="roundRect">
            <a:avLst>
              <a:gd name="adj" fmla="val 6897"/>
            </a:avLst>
          </a:prstGeom>
          <a:solidFill>
            <a:srgbClr val="F1F5F6"/>
          </a:solidFill>
          <a:ln w="12700">
            <a:solidFill>
              <a:srgbClr val="F1F5F6"/>
            </a:solidFill>
            <a:prstDash val="solid"/>
          </a:ln>
        </p:spPr>
      </p:sp>
      <p:sp>
        <p:nvSpPr>
          <p:cNvPr id="5" name="Text 2"/>
          <p:cNvSpPr txBox="1"/>
          <p:nvPr/>
        </p:nvSpPr>
        <p:spPr>
          <a:xfrm>
            <a:off x="7178040" y="1371600"/>
            <a:ext cx="1737360" cy="132588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~10x</a:t>
            </a:r>
            <a:endParaRPr lang="en-US" sz="4000" dirty="0"/>
          </a:p>
        </p:txBody>
      </p:sp>
      <p:sp>
        <p:nvSpPr>
          <p:cNvPr id="6" name="Text 3"/>
          <p:cNvSpPr txBox="1"/>
          <p:nvPr/>
        </p:nvSpPr>
        <p:spPr>
          <a:xfrm>
            <a:off x="8961120" y="1371600"/>
            <a:ext cx="2514600" cy="1325880"/>
          </a:xfrm>
          <a:prstGeom prst="rect">
            <a:avLst/>
          </a:prstGeom>
          <a:noFill/>
          <a:ln/>
        </p:spPr>
        <p:txBody>
          <a:bodyPr wrap="square" lIns="0" tIns="0" rIns="0" bIns="0" rtlCol="0" anchor="ctr"/>
          <a:lstStyle/>
          <a:p>
            <a:pPr indent="0" marL="0">
              <a:buNone/>
            </a:pPr>
            <a:r>
              <a:rPr lang="en-US" sz="1500" dirty="0">
                <a:solidFill>
                  <a:srgbClr val="1F2D33"/>
                </a:solidFill>
                <a:latin typeface="Calibri" pitchFamily="34" charset="0"/>
                <a:ea typeface="Calibri" pitchFamily="34" charset="-122"/>
                <a:cs typeface="Calibri" pitchFamily="34" charset="-120"/>
              </a:rPr>
              <a:t>less peak memory with chunking (476 MB to 50 MB)</a:t>
            </a:r>
            <a:endParaRPr lang="en-US" sz="1500" dirty="0"/>
          </a:p>
        </p:txBody>
      </p:sp>
      <p:sp>
        <p:nvSpPr>
          <p:cNvPr id="7" name="Shape 4"/>
          <p:cNvSpPr/>
          <p:nvPr/>
        </p:nvSpPr>
        <p:spPr>
          <a:xfrm>
            <a:off x="6949440" y="2926080"/>
            <a:ext cx="4663440" cy="1325880"/>
          </a:xfrm>
          <a:prstGeom prst="roundRect">
            <a:avLst>
              <a:gd name="adj" fmla="val 6897"/>
            </a:avLst>
          </a:prstGeom>
          <a:solidFill>
            <a:srgbClr val="F1F5F6"/>
          </a:solidFill>
          <a:ln w="12700">
            <a:solidFill>
              <a:srgbClr val="F1F5F6"/>
            </a:solidFill>
            <a:prstDash val="solid"/>
          </a:ln>
        </p:spPr>
      </p:sp>
      <p:sp>
        <p:nvSpPr>
          <p:cNvPr id="8" name="Text 5"/>
          <p:cNvSpPr txBox="1"/>
          <p:nvPr/>
        </p:nvSpPr>
        <p:spPr>
          <a:xfrm>
            <a:off x="7178040" y="2926080"/>
            <a:ext cx="1737360" cy="1325880"/>
          </a:xfrm>
          <a:prstGeom prst="rect">
            <a:avLst/>
          </a:prstGeom>
          <a:noFill/>
          <a:ln/>
        </p:spPr>
        <p:txBody>
          <a:bodyPr wrap="square" lIns="0" tIns="0" rIns="0" bIns="0" rtlCol="0" anchor="ctr"/>
          <a:lstStyle/>
          <a:p>
            <a:pPr indent="0" marL="0">
              <a:buNone/>
            </a:pPr>
            <a:r>
              <a:rPr lang="en-US" sz="4000" b="1" dirty="0">
                <a:solidFill>
                  <a:srgbClr val="16262E"/>
                </a:solidFill>
                <a:latin typeface="Cambria" pitchFamily="34" charset="0"/>
                <a:ea typeface="Cambria" pitchFamily="34" charset="-122"/>
                <a:cs typeface="Cambria" pitchFamily="34" charset="-120"/>
              </a:rPr>
              <a:t>1.4 s</a:t>
            </a:r>
            <a:endParaRPr lang="en-US" sz="4000" dirty="0"/>
          </a:p>
        </p:txBody>
      </p:sp>
      <p:sp>
        <p:nvSpPr>
          <p:cNvPr id="9" name="Text 6"/>
          <p:cNvSpPr txBox="1"/>
          <p:nvPr/>
        </p:nvSpPr>
        <p:spPr>
          <a:xfrm>
            <a:off x="8961120" y="2926080"/>
            <a:ext cx="2514600" cy="1325880"/>
          </a:xfrm>
          <a:prstGeom prst="rect">
            <a:avLst/>
          </a:prstGeom>
          <a:noFill/>
          <a:ln/>
        </p:spPr>
        <p:txBody>
          <a:bodyPr wrap="square" lIns="0" tIns="0" rIns="0" bIns="0" rtlCol="0" anchor="ctr"/>
          <a:lstStyle/>
          <a:p>
            <a:pPr indent="0" marL="0">
              <a:buNone/>
            </a:pPr>
            <a:r>
              <a:rPr lang="en-US" sz="1500" dirty="0">
                <a:solidFill>
                  <a:srgbClr val="1F2D33"/>
                </a:solidFill>
                <a:latin typeface="Calibri" pitchFamily="34" charset="0"/>
                <a:ea typeface="Calibri" pitchFamily="34" charset="-122"/>
                <a:cs typeface="Calibri" pitchFamily="34" charset="-120"/>
              </a:rPr>
              <a:t>Dask group-by over all 3M rows, in parallel</a:t>
            </a:r>
            <a:endParaRPr lang="en-US" sz="1500" dirty="0"/>
          </a:p>
        </p:txBody>
      </p:sp>
      <p:sp>
        <p:nvSpPr>
          <p:cNvPr id="10" name="Shape 7"/>
          <p:cNvSpPr/>
          <p:nvPr/>
        </p:nvSpPr>
        <p:spPr>
          <a:xfrm>
            <a:off x="6949440" y="4480560"/>
            <a:ext cx="4663440" cy="1325880"/>
          </a:xfrm>
          <a:prstGeom prst="roundRect">
            <a:avLst>
              <a:gd name="adj" fmla="val 6897"/>
            </a:avLst>
          </a:prstGeom>
          <a:solidFill>
            <a:srgbClr val="F1F5F6"/>
          </a:solidFill>
          <a:ln w="12700">
            <a:solidFill>
              <a:srgbClr val="F1F5F6"/>
            </a:solidFill>
            <a:prstDash val="solid"/>
          </a:ln>
        </p:spPr>
      </p:sp>
      <p:sp>
        <p:nvSpPr>
          <p:cNvPr id="11" name="Text 8"/>
          <p:cNvSpPr txBox="1"/>
          <p:nvPr/>
        </p:nvSpPr>
        <p:spPr>
          <a:xfrm>
            <a:off x="7178040" y="4480560"/>
            <a:ext cx="1737360" cy="1325880"/>
          </a:xfrm>
          <a:prstGeom prst="rect">
            <a:avLst/>
          </a:prstGeom>
          <a:noFill/>
          <a:ln/>
        </p:spPr>
        <p:txBody>
          <a:bodyPr wrap="square" lIns="0" tIns="0" rIns="0" bIns="0" rtlCol="0" anchor="ctr"/>
          <a:lstStyle/>
          <a:p>
            <a:pPr indent="0" marL="0">
              <a:buNone/>
            </a:pPr>
            <a:r>
              <a:rPr lang="en-US" sz="4000" b="1" dirty="0">
                <a:solidFill>
                  <a:srgbClr val="E76F51"/>
                </a:solidFill>
                <a:latin typeface="Cambria" pitchFamily="34" charset="0"/>
                <a:ea typeface="Cambria" pitchFamily="34" charset="-122"/>
                <a:cs typeface="Cambria" pitchFamily="34" charset="-120"/>
              </a:rPr>
              <a:t>100%</a:t>
            </a:r>
            <a:endParaRPr lang="en-US" sz="4000" dirty="0"/>
          </a:p>
        </p:txBody>
      </p:sp>
      <p:sp>
        <p:nvSpPr>
          <p:cNvPr id="12" name="Text 9"/>
          <p:cNvSpPr txBox="1"/>
          <p:nvPr/>
        </p:nvSpPr>
        <p:spPr>
          <a:xfrm>
            <a:off x="8961120" y="4480560"/>
            <a:ext cx="2514600" cy="1325880"/>
          </a:xfrm>
          <a:prstGeom prst="rect">
            <a:avLst/>
          </a:prstGeom>
          <a:noFill/>
          <a:ln/>
        </p:spPr>
        <p:txBody>
          <a:bodyPr wrap="square" lIns="0" tIns="0" rIns="0" bIns="0" rtlCol="0" anchor="ctr"/>
          <a:lstStyle/>
          <a:p>
            <a:pPr indent="0" marL="0">
              <a:buNone/>
            </a:pPr>
            <a:r>
              <a:rPr lang="en-US" sz="1500" dirty="0">
                <a:solidFill>
                  <a:srgbClr val="1F2D33"/>
                </a:solidFill>
                <a:latin typeface="Calibri" pitchFamily="34" charset="0"/>
                <a:ea typeface="Calibri" pitchFamily="34" charset="-122"/>
                <a:cs typeface="Calibri" pitchFamily="34" charset="-120"/>
              </a:rPr>
              <a:t>identical selection rates from all three methods</a:t>
            </a:r>
            <a:endParaRPr lang="en-US" sz="1500" dirty="0"/>
          </a:p>
        </p:txBody>
      </p:sp>
      <p:sp>
        <p:nvSpPr>
          <p:cNvPr id="13" name="Text 10"/>
          <p:cNvSpPr txBox="1"/>
          <p:nvPr/>
        </p:nvSpPr>
        <p:spPr>
          <a:xfrm>
            <a:off x="548640" y="6035040"/>
            <a:ext cx="11064240" cy="365760"/>
          </a:xfrm>
          <a:prstGeom prst="rect">
            <a:avLst/>
          </a:prstGeom>
          <a:noFill/>
          <a:ln/>
        </p:spPr>
        <p:txBody>
          <a:bodyPr wrap="square" lIns="0" tIns="0" rIns="0" bIns="0" rtlCol="0" anchor="ctr"/>
          <a:lstStyle/>
          <a:p>
            <a:pPr indent="0" marL="0">
              <a:buNone/>
            </a:pPr>
            <a:r>
              <a:rPr lang="en-US" sz="1200" dirty="0">
                <a:solidFill>
                  <a:srgbClr val="5B6B72"/>
                </a:solidFill>
                <a:latin typeface="Calibri" pitchFamily="34" charset="0"/>
                <a:ea typeface="Calibri" pitchFamily="34" charset="-122"/>
                <a:cs typeface="Calibri" pitchFamily="34" charset="-120"/>
              </a:rPr>
              <a:t>Measured on a synthetic 3,000,000-row, 122 MB applicant file (Python tracemalloc). Your numbers will vary by hardware.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62E"/>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Real-world case: healthcare risk scores</a:t>
            </a:r>
            <a:endParaRPr lang="en-US" sz="3600" dirty="0"/>
          </a:p>
        </p:txBody>
      </p:sp>
      <p:sp>
        <p:nvSpPr>
          <p:cNvPr id="3" name="Shape 1"/>
          <p:cNvSpPr/>
          <p:nvPr/>
        </p:nvSpPr>
        <p:spPr>
          <a:xfrm>
            <a:off x="548640" y="1463040"/>
            <a:ext cx="822960" cy="822960"/>
          </a:xfrm>
          <a:prstGeom prst="ellipse">
            <a:avLst/>
          </a:prstGeom>
          <a:solidFill>
            <a:srgbClr val="2A9D8F"/>
          </a:solidFill>
          <a:ln w="12700">
            <a:solidFill>
              <a:srgbClr val="2A9D8F"/>
            </a:solidFill>
            <a:prstDash val="solid"/>
          </a:ln>
        </p:spPr>
      </p:sp>
      <p:pic>
        <p:nvPicPr>
          <p:cNvPr id="4" name="Image 0" descr="preencoded.png">    </p:cNvPr>
          <p:cNvPicPr>
            <a:picLocks noChangeAspect="1"/>
          </p:cNvPicPr>
          <p:nvPr/>
        </p:nvPicPr>
        <p:blipFill>
          <a:blip r:embed="rId1"/>
          <a:stretch>
            <a:fillRect/>
          </a:stretch>
        </p:blipFill>
        <p:spPr>
          <a:xfrm>
            <a:off x="754380" y="1668780"/>
            <a:ext cx="411480" cy="411480"/>
          </a:xfrm>
          <a:prstGeom prst="rect">
            <a:avLst/>
          </a:prstGeom>
        </p:spPr>
      </p:pic>
      <p:sp>
        <p:nvSpPr>
          <p:cNvPr id="5" name="Text 2"/>
          <p:cNvSpPr txBox="1"/>
          <p:nvPr/>
        </p:nvSpPr>
        <p:spPr>
          <a:xfrm>
            <a:off x="1645920" y="1417320"/>
            <a:ext cx="4846320" cy="146304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A widely used US algorithm, applied to roughly 200 million people a year, predicted which patients needed extra care. It used past healthcare cost as a proxy for health need.</a:t>
            </a:r>
            <a:endParaRPr lang="en-US" sz="1700" dirty="0"/>
          </a:p>
        </p:txBody>
      </p:sp>
      <p:sp>
        <p:nvSpPr>
          <p:cNvPr id="6" name="Text 3"/>
          <p:cNvSpPr txBox="1"/>
          <p:nvPr/>
        </p:nvSpPr>
        <p:spPr>
          <a:xfrm>
            <a:off x="1645920" y="2971800"/>
            <a:ext cx="4846320" cy="1280160"/>
          </a:xfrm>
          <a:prstGeom prst="rect">
            <a:avLst/>
          </a:prstGeom>
          <a:noFill/>
          <a:ln/>
        </p:spPr>
        <p:txBody>
          <a:bodyPr wrap="square" lIns="0" tIns="0" rIns="0" bIns="0" rtlCol="0" anchor="t"/>
          <a:lstStyle/>
          <a:p>
            <a:pPr indent="0" marL="0">
              <a:buNone/>
            </a:pPr>
            <a:r>
              <a:rPr lang="en-US" sz="1700" b="1" dirty="0">
                <a:solidFill>
                  <a:srgbClr val="E9C46A"/>
                </a:solidFill>
                <a:latin typeface="Calibri" pitchFamily="34" charset="0"/>
                <a:ea typeface="Calibri" pitchFamily="34" charset="-122"/>
                <a:cs typeface="Calibri" pitchFamily="34" charset="-120"/>
              </a:rPr>
              <a:t>The problem: </a:t>
            </a:r>
            <a:pPr indent="0" marL="0">
              <a:buNone/>
            </a:pPr>
            <a:r>
              <a:rPr lang="en-US" sz="1700" dirty="0">
                <a:solidFill>
                  <a:srgbClr val="FFFFFF"/>
                </a:solidFill>
                <a:latin typeface="Calibri" pitchFamily="34" charset="0"/>
                <a:ea typeface="Calibri" pitchFamily="34" charset="-122"/>
                <a:cs typeface="Calibri" pitchFamily="34" charset="-120"/>
              </a:rPr>
              <a:t>less money was historically spent on Black patients with the same level of illness, so the model scored them as healthier than they were.</a:t>
            </a:r>
            <a:endParaRPr lang="en-US" sz="1700" dirty="0"/>
          </a:p>
        </p:txBody>
      </p:sp>
      <p:sp>
        <p:nvSpPr>
          <p:cNvPr id="7" name="Text 4"/>
          <p:cNvSpPr txBox="1"/>
          <p:nvPr/>
        </p:nvSpPr>
        <p:spPr>
          <a:xfrm>
            <a:off x="1645920" y="4343400"/>
            <a:ext cx="4846320" cy="1280160"/>
          </a:xfrm>
          <a:prstGeom prst="rect">
            <a:avLst/>
          </a:prstGeom>
          <a:noFill/>
          <a:ln/>
        </p:spPr>
        <p:txBody>
          <a:bodyPr wrap="square" lIns="0" tIns="0" rIns="0" bIns="0" rtlCol="0" anchor="t"/>
          <a:lstStyle/>
          <a:p>
            <a:pPr indent="0" marL="0">
              <a:buNone/>
            </a:pPr>
            <a:r>
              <a:rPr lang="en-US" sz="1700" b="1" dirty="0">
                <a:solidFill>
                  <a:srgbClr val="E9C46A"/>
                </a:solidFill>
                <a:latin typeface="Calibri" pitchFamily="34" charset="0"/>
                <a:ea typeface="Calibri" pitchFamily="34" charset="-122"/>
                <a:cs typeface="Calibri" pitchFamily="34" charset="-120"/>
              </a:rPr>
              <a:t>The lesson: </a:t>
            </a:r>
            <a:pPr indent="0" marL="0">
              <a:buNone/>
            </a:pPr>
            <a:r>
              <a:rPr lang="en-US" sz="1700" dirty="0">
                <a:solidFill>
                  <a:srgbClr val="FFFFFF"/>
                </a:solidFill>
                <a:latin typeface="Calibri" pitchFamily="34" charset="0"/>
                <a:ea typeface="Calibri" pitchFamily="34" charset="-122"/>
                <a:cs typeface="Calibri" pitchFamily="34" charset="-120"/>
              </a:rPr>
              <a:t>no protected attribute was used, and the model was accurate at predicting cost. Bias entered through the choice of label.</a:t>
            </a:r>
            <a:endParaRPr lang="en-US" sz="1700" dirty="0"/>
          </a:p>
        </p:txBody>
      </p:sp>
      <p:sp>
        <p:nvSpPr>
          <p:cNvPr id="8" name="Shape 5"/>
          <p:cNvSpPr/>
          <p:nvPr/>
        </p:nvSpPr>
        <p:spPr>
          <a:xfrm>
            <a:off x="6949440" y="1417320"/>
            <a:ext cx="4663440" cy="4206240"/>
          </a:xfrm>
          <a:prstGeom prst="roundRect">
            <a:avLst>
              <a:gd name="adj" fmla="val 2174"/>
            </a:avLst>
          </a:prstGeom>
          <a:solidFill>
            <a:srgbClr val="22363F"/>
          </a:solidFill>
          <a:ln w="12700">
            <a:solidFill>
              <a:srgbClr val="22363F"/>
            </a:solidFill>
            <a:prstDash val="solid"/>
          </a:ln>
        </p:spPr>
      </p:sp>
      <p:sp>
        <p:nvSpPr>
          <p:cNvPr id="9" name="Text 6"/>
          <p:cNvSpPr txBox="1"/>
          <p:nvPr/>
        </p:nvSpPr>
        <p:spPr>
          <a:xfrm>
            <a:off x="7223760" y="1600200"/>
            <a:ext cx="4114800" cy="457200"/>
          </a:xfrm>
          <a:prstGeom prst="rect">
            <a:avLst/>
          </a:prstGeom>
          <a:noFill/>
          <a:ln/>
        </p:spPr>
        <p:txBody>
          <a:bodyPr wrap="square" lIns="0" tIns="0" rIns="0" bIns="0" rtlCol="0" anchor="ctr"/>
          <a:lstStyle/>
          <a:p>
            <a:pPr indent="0" marL="0">
              <a:buNone/>
            </a:pPr>
            <a:r>
              <a:rPr lang="en-US" sz="1500" dirty="0">
                <a:solidFill>
                  <a:srgbClr val="AFC3C9"/>
                </a:solidFill>
                <a:latin typeface="Calibri" pitchFamily="34" charset="0"/>
                <a:ea typeface="Calibri" pitchFamily="34" charset="-122"/>
                <a:cs typeface="Calibri" pitchFamily="34" charset="-120"/>
              </a:rPr>
              <a:t>Share of Black patients flagged for extra care</a:t>
            </a:r>
            <a:endParaRPr lang="en-US" sz="1500" dirty="0"/>
          </a:p>
        </p:txBody>
      </p:sp>
      <p:sp>
        <p:nvSpPr>
          <p:cNvPr id="10" name="Text 7"/>
          <p:cNvSpPr txBox="1"/>
          <p:nvPr/>
        </p:nvSpPr>
        <p:spPr>
          <a:xfrm>
            <a:off x="7223760" y="2103120"/>
            <a:ext cx="4114800" cy="914400"/>
          </a:xfrm>
          <a:prstGeom prst="rect">
            <a:avLst/>
          </a:prstGeom>
          <a:noFill/>
          <a:ln/>
        </p:spPr>
        <p:txBody>
          <a:bodyPr wrap="square" lIns="0" tIns="0" rIns="0" bIns="0" rtlCol="0" anchor="ctr"/>
          <a:lstStyle/>
          <a:p>
            <a:pPr indent="0" marL="0">
              <a:buNone/>
            </a:pPr>
            <a:r>
              <a:rPr lang="en-US" sz="6000" b="1" dirty="0">
                <a:solidFill>
                  <a:srgbClr val="E76F51"/>
                </a:solidFill>
                <a:latin typeface="Cambria" pitchFamily="34" charset="0"/>
                <a:ea typeface="Cambria" pitchFamily="34" charset="-122"/>
                <a:cs typeface="Cambria" pitchFamily="34" charset="-120"/>
              </a:rPr>
              <a:t>17.7%</a:t>
            </a:r>
            <a:endParaRPr lang="en-US" sz="6000" dirty="0"/>
          </a:p>
        </p:txBody>
      </p:sp>
      <p:sp>
        <p:nvSpPr>
          <p:cNvPr id="11" name="Text 8"/>
          <p:cNvSpPr txBox="1"/>
          <p:nvPr/>
        </p:nvSpPr>
        <p:spPr>
          <a:xfrm>
            <a:off x="7223760" y="3017520"/>
            <a:ext cx="41148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with the original cost-based label</a:t>
            </a:r>
            <a:endParaRPr lang="en-US" sz="1400" dirty="0"/>
          </a:p>
        </p:txBody>
      </p:sp>
      <p:sp>
        <p:nvSpPr>
          <p:cNvPr id="12" name="Text 9"/>
          <p:cNvSpPr txBox="1"/>
          <p:nvPr/>
        </p:nvSpPr>
        <p:spPr>
          <a:xfrm>
            <a:off x="7223760" y="3611880"/>
            <a:ext cx="4114800" cy="914400"/>
          </a:xfrm>
          <a:prstGeom prst="rect">
            <a:avLst/>
          </a:prstGeom>
          <a:noFill/>
          <a:ln/>
        </p:spPr>
        <p:txBody>
          <a:bodyPr wrap="square" lIns="0" tIns="0" rIns="0" bIns="0" rtlCol="0" anchor="ctr"/>
          <a:lstStyle/>
          <a:p>
            <a:pPr indent="0" marL="0">
              <a:buNone/>
            </a:pPr>
            <a:r>
              <a:rPr lang="en-US" sz="6000" b="1" dirty="0">
                <a:solidFill>
                  <a:srgbClr val="2A9D8F"/>
                </a:solidFill>
                <a:latin typeface="Cambria" pitchFamily="34" charset="0"/>
                <a:ea typeface="Cambria" pitchFamily="34" charset="-122"/>
                <a:cs typeface="Cambria" pitchFamily="34" charset="-120"/>
              </a:rPr>
              <a:t>46.5%</a:t>
            </a:r>
            <a:endParaRPr lang="en-US" sz="6000" dirty="0"/>
          </a:p>
        </p:txBody>
      </p:sp>
      <p:sp>
        <p:nvSpPr>
          <p:cNvPr id="13" name="Text 10"/>
          <p:cNvSpPr txBox="1"/>
          <p:nvPr/>
        </p:nvSpPr>
        <p:spPr>
          <a:xfrm>
            <a:off x="7223760" y="4526280"/>
            <a:ext cx="41148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after correcting the bias (simulated)</a:t>
            </a:r>
            <a:endParaRPr lang="en-US" sz="1400" dirty="0"/>
          </a:p>
        </p:txBody>
      </p:sp>
      <p:sp>
        <p:nvSpPr>
          <p:cNvPr id="14" name="Text 11"/>
          <p:cNvSpPr txBox="1"/>
          <p:nvPr/>
        </p:nvSpPr>
        <p:spPr>
          <a:xfrm>
            <a:off x="548640" y="6035040"/>
            <a:ext cx="11064240" cy="365760"/>
          </a:xfrm>
          <a:prstGeom prst="rect">
            <a:avLst/>
          </a:prstGeom>
          <a:noFill/>
          <a:ln/>
        </p:spPr>
        <p:txBody>
          <a:bodyPr wrap="square" lIns="0" tIns="0" rIns="0" bIns="0" rtlCol="0" anchor="ctr"/>
          <a:lstStyle/>
          <a:p>
            <a:pPr indent="0" marL="0">
              <a:buNone/>
            </a:pPr>
            <a:r>
              <a:rPr lang="en-US" sz="1200" dirty="0">
                <a:solidFill>
                  <a:srgbClr val="AFC3C9"/>
                </a:solidFill>
                <a:latin typeface="Calibri" pitchFamily="34" charset="0"/>
                <a:ea typeface="Calibri" pitchFamily="34" charset="-122"/>
                <a:cs typeface="Calibri" pitchFamily="34" charset="-120"/>
              </a:rPr>
              <a:t>Source: Obermeyer et al., Science 366 (2019): 447-453.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6262E"/>
                </a:solidFill>
                <a:latin typeface="Cambria" pitchFamily="34" charset="0"/>
                <a:ea typeface="Cambria" pitchFamily="34" charset="-122"/>
                <a:cs typeface="Cambria" pitchFamily="34" charset="-120"/>
              </a:rPr>
              <a:t>The same risk in our HR demo data</a:t>
            </a:r>
            <a:endParaRPr lang="en-US" sz="3600" dirty="0"/>
          </a:p>
        </p:txBody>
      </p:sp>
      <p:graphicFrame>
        <p:nvGraphicFramePr>
          <p:cNvPr id="3" name="Chart 0" descr=""/>
          <p:cNvGraphicFramePr/>
          <p:nvPr/>
        </p:nvGraphicFramePr>
        <p:xfrm>
          <a:off x="548640" y="1371600"/>
          <a:ext cx="5669280" cy="43891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675120" y="1371600"/>
            <a:ext cx="4937760" cy="2103120"/>
          </a:xfrm>
          <a:prstGeom prst="roundRect">
            <a:avLst>
              <a:gd name="adj" fmla="val 4348"/>
            </a:avLst>
          </a:prstGeom>
          <a:solidFill>
            <a:srgbClr val="FCE7E1"/>
          </a:solidFill>
          <a:ln w="12700">
            <a:solidFill>
              <a:srgbClr val="FCE7E1"/>
            </a:solidFill>
            <a:prstDash val="solid"/>
          </a:ln>
        </p:spPr>
      </p:sp>
      <p:sp>
        <p:nvSpPr>
          <p:cNvPr id="5" name="Text 2"/>
          <p:cNvSpPr txBox="1"/>
          <p:nvPr/>
        </p:nvSpPr>
        <p:spPr>
          <a:xfrm>
            <a:off x="6949440" y="1508760"/>
            <a:ext cx="4389120" cy="365760"/>
          </a:xfrm>
          <a:prstGeom prst="rect">
            <a:avLst/>
          </a:prstGeom>
          <a:noFill/>
          <a:ln/>
        </p:spPr>
        <p:txBody>
          <a:bodyPr wrap="square" lIns="0" tIns="0" rIns="0" bIns="0" rtlCol="0" anchor="ctr"/>
          <a:lstStyle/>
          <a:p>
            <a:pPr indent="0" marL="0">
              <a:buNone/>
            </a:pPr>
            <a:r>
              <a:rPr lang="en-US" sz="1600" b="1" dirty="0">
                <a:solidFill>
                  <a:srgbClr val="16262E"/>
                </a:solidFill>
                <a:latin typeface="Calibri" pitchFamily="34" charset="0"/>
                <a:ea typeface="Calibri" pitchFamily="34" charset="-122"/>
                <a:cs typeface="Calibri" pitchFamily="34" charset="-120"/>
              </a:rPr>
              <a:t>Disparate impact ratio</a:t>
            </a:r>
            <a:endParaRPr lang="en-US" sz="1600" dirty="0"/>
          </a:p>
        </p:txBody>
      </p:sp>
      <p:sp>
        <p:nvSpPr>
          <p:cNvPr id="6" name="Text 3"/>
          <p:cNvSpPr txBox="1"/>
          <p:nvPr/>
        </p:nvSpPr>
        <p:spPr>
          <a:xfrm>
            <a:off x="6949440" y="1874520"/>
            <a:ext cx="2011680" cy="1371600"/>
          </a:xfrm>
          <a:prstGeom prst="rect">
            <a:avLst/>
          </a:prstGeom>
          <a:noFill/>
          <a:ln/>
        </p:spPr>
        <p:txBody>
          <a:bodyPr wrap="square" lIns="0" tIns="0" rIns="0" bIns="0" rtlCol="0" anchor="ctr"/>
          <a:lstStyle/>
          <a:p>
            <a:pPr indent="0" marL="0">
              <a:buNone/>
            </a:pPr>
            <a:r>
              <a:rPr lang="en-US" sz="6000" b="1" dirty="0">
                <a:solidFill>
                  <a:srgbClr val="E76F51"/>
                </a:solidFill>
                <a:latin typeface="Cambria" pitchFamily="34" charset="0"/>
                <a:ea typeface="Cambria" pitchFamily="34" charset="-122"/>
                <a:cs typeface="Cambria" pitchFamily="34" charset="-120"/>
              </a:rPr>
              <a:t>0.60</a:t>
            </a:r>
            <a:endParaRPr lang="en-US" sz="6000" dirty="0"/>
          </a:p>
        </p:txBody>
      </p:sp>
      <p:sp>
        <p:nvSpPr>
          <p:cNvPr id="7" name="Text 4"/>
          <p:cNvSpPr txBox="1"/>
          <p:nvPr/>
        </p:nvSpPr>
        <p:spPr>
          <a:xfrm>
            <a:off x="8869680" y="1874520"/>
            <a:ext cx="2560320" cy="1371600"/>
          </a:xfrm>
          <a:prstGeom prst="rect">
            <a:avLst/>
          </a:prstGeom>
          <a:noFill/>
          <a:ln/>
        </p:spPr>
        <p:txBody>
          <a:bodyPr wrap="square" lIns="0" tIns="0" rIns="0" bIns="0" rtlCol="0" anchor="ctr"/>
          <a:lstStyle/>
          <a:p>
            <a:pPr indent="0" marL="0">
              <a:buNone/>
            </a:pPr>
            <a:r>
              <a:rPr lang="en-US" sz="1400" dirty="0">
                <a:solidFill>
                  <a:srgbClr val="1F2D33"/>
                </a:solidFill>
                <a:latin typeface="Calibri" pitchFamily="34" charset="0"/>
                <a:ea typeface="Calibri" pitchFamily="34" charset="-122"/>
                <a:cs typeface="Calibri" pitchFamily="34" charset="-120"/>
              </a:rPr>
              <a:t>18.4% ÷ 30.9%, well below the 0.80 "four-fifths" threshold used in US hiring guidance</a:t>
            </a:r>
            <a:endParaRPr lang="en-US" sz="1400" dirty="0"/>
          </a:p>
        </p:txBody>
      </p:sp>
      <p:sp>
        <p:nvSpPr>
          <p:cNvPr id="8" name="Text 5"/>
          <p:cNvSpPr txBox="1"/>
          <p:nvPr/>
        </p:nvSpPr>
        <p:spPr>
          <a:xfrm>
            <a:off x="6675120" y="3703320"/>
            <a:ext cx="4937760" cy="2377440"/>
          </a:xfrm>
          <a:prstGeom prst="rect">
            <a:avLst/>
          </a:prstGeom>
          <a:noFill/>
          <a:ln/>
        </p:spPr>
        <p:txBody>
          <a:bodyPr wrap="square" lIns="0" tIns="0" rIns="0" bIns="0" rtlCol="0" anchor="t"/>
          <a:lstStyle/>
          <a:p>
            <a:pPr indent="0" marL="0">
              <a:spcAft>
                <a:spcPts val="1000"/>
              </a:spcAft>
              <a:buNone/>
            </a:pPr>
            <a:r>
              <a:rPr lang="en-US" sz="1500" b="1" dirty="0">
                <a:solidFill>
                  <a:srgbClr val="1F2D33"/>
                </a:solidFill>
                <a:latin typeface="Calibri" pitchFamily="34" charset="0"/>
                <a:ea typeface="Calibri" pitchFamily="34" charset="-122"/>
                <a:cs typeface="Calibri" pitchFamily="34" charset="-120"/>
              </a:rPr>
              <a:t>Why it happened: </a:t>
            </a:r>
            <a:pPr indent="0" marL="0">
              <a:spcAft>
                <a:spcPts val="1000"/>
              </a:spcAft>
              <a:buNone/>
            </a:pPr>
            <a:r>
              <a:rPr lang="en-US" sz="1500" dirty="0">
                <a:solidFill>
                  <a:srgbClr val="1F2D33"/>
                </a:solidFill>
                <a:latin typeface="Calibri" pitchFamily="34" charset="0"/>
                <a:ea typeface="Calibri" pitchFamily="34" charset="-122"/>
                <a:cs typeface="Calibri" pitchFamily="34" charset="-120"/>
              </a:rPr>
              <a:t>the screening score carried a built-in historical penalty for Group B, exactly like the cost label in the healthcare case.</a:t>
            </a:r>
            <a:endParaRPr lang="en-US" sz="1500" dirty="0"/>
          </a:p>
          <a:p>
            <a:pPr indent="0" marL="0">
              <a:spcAft>
                <a:spcPts val="1000"/>
              </a:spcAft>
              <a:buNone/>
            </a:pPr>
            <a:r>
              <a:rPr lang="en-US" sz="1500" b="1" dirty="0">
                <a:solidFill>
                  <a:srgbClr val="1F2D33"/>
                </a:solidFill>
                <a:latin typeface="Calibri" pitchFamily="34" charset="0"/>
                <a:ea typeface="Calibri" pitchFamily="34" charset="-122"/>
                <a:cs typeface="Calibri" pitchFamily="34" charset="-120"/>
              </a:rPr>
              <a:t>Why scale matters: </a:t>
            </a:r>
            <a:pPr indent="0" marL="0">
              <a:spcAft>
                <a:spcPts val="1000"/>
              </a:spcAft>
              <a:buNone/>
            </a:pPr>
            <a:r>
              <a:rPr lang="en-US" sz="1500" dirty="0">
                <a:solidFill>
                  <a:srgbClr val="1F2D33"/>
                </a:solidFill>
                <a:latin typeface="Calibri" pitchFamily="34" charset="0"/>
                <a:ea typeface="Calibri" pitchFamily="34" charset="-122"/>
                <a:cs typeface="Calibri" pitchFamily="34" charset="-120"/>
              </a:rPr>
              <a:t>this audit ran as one extra group-by inside the chunked/Dask pipeline. Fairness checks are cheap when they are part of the pipeline.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6262E"/>
                </a:solidFill>
                <a:latin typeface="Cambria" pitchFamily="34" charset="0"/>
                <a:ea typeface="Cambria" pitchFamily="34" charset="-122"/>
                <a:cs typeface="Cambria" pitchFamily="34" charset="-120"/>
              </a:rPr>
              <a:t>Where ethics enters the data pipeline</a:t>
            </a:r>
            <a:endParaRPr lang="en-US" sz="3600" dirty="0"/>
          </a:p>
        </p:txBody>
      </p:sp>
      <p:sp>
        <p:nvSpPr>
          <p:cNvPr id="3" name="Shape 1"/>
          <p:cNvSpPr/>
          <p:nvPr/>
        </p:nvSpPr>
        <p:spPr>
          <a:xfrm>
            <a:off x="548640" y="1645920"/>
            <a:ext cx="2011680" cy="3017520"/>
          </a:xfrm>
          <a:prstGeom prst="roundRect">
            <a:avLst>
              <a:gd name="adj" fmla="val 4545"/>
            </a:avLst>
          </a:prstGeom>
          <a:solidFill>
            <a:srgbClr val="F1F5F6"/>
          </a:solidFill>
          <a:ln w="12700">
            <a:solidFill>
              <a:srgbClr val="F1F5F6"/>
            </a:solidFill>
            <a:prstDash val="solid"/>
          </a:ln>
        </p:spPr>
      </p:sp>
      <p:sp>
        <p:nvSpPr>
          <p:cNvPr id="4" name="Shape 2"/>
          <p:cNvSpPr/>
          <p:nvPr/>
        </p:nvSpPr>
        <p:spPr>
          <a:xfrm>
            <a:off x="1143000" y="1920240"/>
            <a:ext cx="822960" cy="822960"/>
          </a:xfrm>
          <a:prstGeom prst="ellipse">
            <a:avLst/>
          </a:prstGeom>
          <a:solidFill>
            <a:srgbClr val="2A9D8F"/>
          </a:solidFill>
          <a:ln w="12700">
            <a:solidFill>
              <a:srgbClr val="2A9D8F"/>
            </a:solidFill>
            <a:prstDash val="solid"/>
          </a:ln>
        </p:spPr>
      </p:sp>
      <p:pic>
        <p:nvPicPr>
          <p:cNvPr id="5" name="Image 0" descr="preencoded.png">    </p:cNvPr>
          <p:cNvPicPr>
            <a:picLocks noChangeAspect="1"/>
          </p:cNvPicPr>
          <p:nvPr/>
        </p:nvPicPr>
        <p:blipFill>
          <a:blip r:embed="rId1"/>
          <a:stretch>
            <a:fillRect/>
          </a:stretch>
        </p:blipFill>
        <p:spPr>
          <a:xfrm>
            <a:off x="1348740" y="2125980"/>
            <a:ext cx="411480" cy="411480"/>
          </a:xfrm>
          <a:prstGeom prst="rect">
            <a:avLst/>
          </a:prstGeom>
        </p:spPr>
      </p:pic>
      <p:sp>
        <p:nvSpPr>
          <p:cNvPr id="6" name="Text 3"/>
          <p:cNvSpPr txBox="1"/>
          <p:nvPr/>
        </p:nvSpPr>
        <p:spPr>
          <a:xfrm>
            <a:off x="640080" y="2926080"/>
            <a:ext cx="1828800" cy="457200"/>
          </a:xfrm>
          <a:prstGeom prst="rect">
            <a:avLst/>
          </a:prstGeom>
          <a:noFill/>
          <a:ln/>
        </p:spPr>
        <p:txBody>
          <a:bodyPr wrap="square" lIns="0" tIns="0" rIns="0" bIns="0" rtlCol="0" anchor="ctr"/>
          <a:lstStyle/>
          <a:p>
            <a:pPr algn="ctr" indent="0" marL="0">
              <a:buNone/>
            </a:pPr>
            <a:r>
              <a:rPr lang="en-US" sz="2000" b="1" dirty="0">
                <a:solidFill>
                  <a:srgbClr val="16262E"/>
                </a:solidFill>
                <a:latin typeface="Cambria" pitchFamily="34" charset="0"/>
                <a:ea typeface="Cambria" pitchFamily="34" charset="-122"/>
                <a:cs typeface="Cambria" pitchFamily="34" charset="-120"/>
              </a:rPr>
              <a:t>Collect</a:t>
            </a:r>
            <a:endParaRPr lang="en-US" sz="2000" dirty="0"/>
          </a:p>
        </p:txBody>
      </p:sp>
      <p:sp>
        <p:nvSpPr>
          <p:cNvPr id="7" name="Text 4"/>
          <p:cNvSpPr txBox="1"/>
          <p:nvPr/>
        </p:nvSpPr>
        <p:spPr>
          <a:xfrm>
            <a:off x="731520" y="3474720"/>
            <a:ext cx="1645920" cy="1554480"/>
          </a:xfrm>
          <a:prstGeom prst="rect">
            <a:avLst/>
          </a:prstGeom>
          <a:noFill/>
          <a:ln/>
        </p:spPr>
        <p:txBody>
          <a:bodyPr wrap="square" lIns="0" tIns="0" rIns="0" bIns="0" rtlCol="0" anchor="t"/>
          <a:lstStyle/>
          <a:p>
            <a:pPr algn="ctr" indent="0" marL="0">
              <a:buNone/>
            </a:pPr>
            <a:r>
              <a:rPr lang="en-US" sz="1400" dirty="0">
                <a:solidFill>
                  <a:srgbClr val="1F2D33"/>
                </a:solidFill>
                <a:latin typeface="Calibri" pitchFamily="34" charset="0"/>
                <a:ea typeface="Calibri" pitchFamily="34" charset="-122"/>
                <a:cs typeface="Calibri" pitchFamily="34" charset="-120"/>
              </a:rPr>
              <a:t>Consent, purpose, representative sampling</a:t>
            </a:r>
            <a:endParaRPr lang="en-US" sz="1400" dirty="0"/>
          </a:p>
        </p:txBody>
      </p:sp>
      <p:sp>
        <p:nvSpPr>
          <p:cNvPr id="8" name="Shape 5"/>
          <p:cNvSpPr/>
          <p:nvPr/>
        </p:nvSpPr>
        <p:spPr>
          <a:xfrm>
            <a:off x="2606040" y="3246120"/>
            <a:ext cx="182880" cy="365760"/>
          </a:xfrm>
          <a:prstGeom prst="chevron">
            <a:avLst/>
          </a:prstGeom>
          <a:solidFill>
            <a:srgbClr val="E9C46A"/>
          </a:solidFill>
          <a:ln w="12700">
            <a:solidFill>
              <a:srgbClr val="E9C46A"/>
            </a:solidFill>
            <a:prstDash val="solid"/>
          </a:ln>
        </p:spPr>
      </p:sp>
      <p:sp>
        <p:nvSpPr>
          <p:cNvPr id="9" name="Shape 6"/>
          <p:cNvSpPr/>
          <p:nvPr/>
        </p:nvSpPr>
        <p:spPr>
          <a:xfrm>
            <a:off x="2834640" y="1645920"/>
            <a:ext cx="2011680" cy="3017520"/>
          </a:xfrm>
          <a:prstGeom prst="roundRect">
            <a:avLst>
              <a:gd name="adj" fmla="val 4545"/>
            </a:avLst>
          </a:prstGeom>
          <a:solidFill>
            <a:srgbClr val="F1F5F6"/>
          </a:solidFill>
          <a:ln w="12700">
            <a:solidFill>
              <a:srgbClr val="F1F5F6"/>
            </a:solidFill>
            <a:prstDash val="solid"/>
          </a:ln>
        </p:spPr>
      </p:sp>
      <p:sp>
        <p:nvSpPr>
          <p:cNvPr id="10" name="Shape 7"/>
          <p:cNvSpPr/>
          <p:nvPr/>
        </p:nvSpPr>
        <p:spPr>
          <a:xfrm>
            <a:off x="3429000" y="1920240"/>
            <a:ext cx="822960" cy="822960"/>
          </a:xfrm>
          <a:prstGeom prst="ellipse">
            <a:avLst/>
          </a:prstGeom>
          <a:solidFill>
            <a:srgbClr val="16262E"/>
          </a:solidFill>
          <a:ln w="12700">
            <a:solidFill>
              <a:srgbClr val="16262E"/>
            </a:solidFill>
            <a:prstDash val="solid"/>
          </a:ln>
        </p:spPr>
      </p:sp>
      <p:pic>
        <p:nvPicPr>
          <p:cNvPr id="11" name="Image 1" descr="preencoded.png">    </p:cNvPr>
          <p:cNvPicPr>
            <a:picLocks noChangeAspect="1"/>
          </p:cNvPicPr>
          <p:nvPr/>
        </p:nvPicPr>
        <p:blipFill>
          <a:blip r:embed="rId2"/>
          <a:stretch>
            <a:fillRect/>
          </a:stretch>
        </p:blipFill>
        <p:spPr>
          <a:xfrm>
            <a:off x="3634740" y="2125980"/>
            <a:ext cx="411480" cy="411480"/>
          </a:xfrm>
          <a:prstGeom prst="rect">
            <a:avLst/>
          </a:prstGeom>
        </p:spPr>
      </p:pic>
      <p:sp>
        <p:nvSpPr>
          <p:cNvPr id="12" name="Text 8"/>
          <p:cNvSpPr txBox="1"/>
          <p:nvPr/>
        </p:nvSpPr>
        <p:spPr>
          <a:xfrm>
            <a:off x="2926080" y="2926080"/>
            <a:ext cx="1828800" cy="457200"/>
          </a:xfrm>
          <a:prstGeom prst="rect">
            <a:avLst/>
          </a:prstGeom>
          <a:noFill/>
          <a:ln/>
        </p:spPr>
        <p:txBody>
          <a:bodyPr wrap="square" lIns="0" tIns="0" rIns="0" bIns="0" rtlCol="0" anchor="ctr"/>
          <a:lstStyle/>
          <a:p>
            <a:pPr algn="ctr" indent="0" marL="0">
              <a:buNone/>
            </a:pPr>
            <a:r>
              <a:rPr lang="en-US" sz="2000" b="1" dirty="0">
                <a:solidFill>
                  <a:srgbClr val="16262E"/>
                </a:solidFill>
                <a:latin typeface="Cambria" pitchFamily="34" charset="0"/>
                <a:ea typeface="Cambria" pitchFamily="34" charset="-122"/>
                <a:cs typeface="Cambria" pitchFamily="34" charset="-120"/>
              </a:rPr>
              <a:t>Store</a:t>
            </a:r>
            <a:endParaRPr lang="en-US" sz="2000" dirty="0"/>
          </a:p>
        </p:txBody>
      </p:sp>
      <p:sp>
        <p:nvSpPr>
          <p:cNvPr id="13" name="Text 9"/>
          <p:cNvSpPr txBox="1"/>
          <p:nvPr/>
        </p:nvSpPr>
        <p:spPr>
          <a:xfrm>
            <a:off x="3017520" y="3474720"/>
            <a:ext cx="1645920" cy="1554480"/>
          </a:xfrm>
          <a:prstGeom prst="rect">
            <a:avLst/>
          </a:prstGeom>
          <a:noFill/>
          <a:ln/>
        </p:spPr>
        <p:txBody>
          <a:bodyPr wrap="square" lIns="0" tIns="0" rIns="0" bIns="0" rtlCol="0" anchor="t"/>
          <a:lstStyle/>
          <a:p>
            <a:pPr algn="ctr" indent="0" marL="0">
              <a:buNone/>
            </a:pPr>
            <a:r>
              <a:rPr lang="en-US" sz="1400" dirty="0">
                <a:solidFill>
                  <a:srgbClr val="1F2D33"/>
                </a:solidFill>
                <a:latin typeface="Calibri" pitchFamily="34" charset="0"/>
                <a:ea typeface="Calibri" pitchFamily="34" charset="-122"/>
                <a:cs typeface="Calibri" pitchFamily="34" charset="-120"/>
              </a:rPr>
              <a:t>Encryption, access control, retention limits</a:t>
            </a:r>
            <a:endParaRPr lang="en-US" sz="1400" dirty="0"/>
          </a:p>
        </p:txBody>
      </p:sp>
      <p:sp>
        <p:nvSpPr>
          <p:cNvPr id="14" name="Shape 10"/>
          <p:cNvSpPr/>
          <p:nvPr/>
        </p:nvSpPr>
        <p:spPr>
          <a:xfrm>
            <a:off x="4892040" y="3246120"/>
            <a:ext cx="182880" cy="365760"/>
          </a:xfrm>
          <a:prstGeom prst="chevron">
            <a:avLst/>
          </a:prstGeom>
          <a:solidFill>
            <a:srgbClr val="E9C46A"/>
          </a:solidFill>
          <a:ln w="12700">
            <a:solidFill>
              <a:srgbClr val="E9C46A"/>
            </a:solidFill>
            <a:prstDash val="solid"/>
          </a:ln>
        </p:spPr>
      </p:sp>
      <p:sp>
        <p:nvSpPr>
          <p:cNvPr id="15" name="Shape 11"/>
          <p:cNvSpPr/>
          <p:nvPr/>
        </p:nvSpPr>
        <p:spPr>
          <a:xfrm>
            <a:off x="5120640" y="1645920"/>
            <a:ext cx="2011680" cy="3017520"/>
          </a:xfrm>
          <a:prstGeom prst="roundRect">
            <a:avLst>
              <a:gd name="adj" fmla="val 4545"/>
            </a:avLst>
          </a:prstGeom>
          <a:solidFill>
            <a:srgbClr val="F1F5F6"/>
          </a:solidFill>
          <a:ln w="12700">
            <a:solidFill>
              <a:srgbClr val="F1F5F6"/>
            </a:solidFill>
            <a:prstDash val="solid"/>
          </a:ln>
        </p:spPr>
      </p:sp>
      <p:sp>
        <p:nvSpPr>
          <p:cNvPr id="16" name="Shape 12"/>
          <p:cNvSpPr/>
          <p:nvPr/>
        </p:nvSpPr>
        <p:spPr>
          <a:xfrm>
            <a:off x="5715000" y="1920240"/>
            <a:ext cx="822960" cy="822960"/>
          </a:xfrm>
          <a:prstGeom prst="ellipse">
            <a:avLst/>
          </a:prstGeom>
          <a:solidFill>
            <a:srgbClr val="2A9D8F"/>
          </a:solidFill>
          <a:ln w="12700">
            <a:solidFill>
              <a:srgbClr val="2A9D8F"/>
            </a:solidFill>
            <a:prstDash val="solid"/>
          </a:ln>
        </p:spPr>
      </p:sp>
      <p:pic>
        <p:nvPicPr>
          <p:cNvPr id="17" name="Image 2" descr="preencoded.png">    </p:cNvPr>
          <p:cNvPicPr>
            <a:picLocks noChangeAspect="1"/>
          </p:cNvPicPr>
          <p:nvPr/>
        </p:nvPicPr>
        <p:blipFill>
          <a:blip r:embed="rId3"/>
          <a:stretch>
            <a:fillRect/>
          </a:stretch>
        </p:blipFill>
        <p:spPr>
          <a:xfrm>
            <a:off x="5920740" y="2125980"/>
            <a:ext cx="411480" cy="411480"/>
          </a:xfrm>
          <a:prstGeom prst="rect">
            <a:avLst/>
          </a:prstGeom>
        </p:spPr>
      </p:pic>
      <p:sp>
        <p:nvSpPr>
          <p:cNvPr id="18" name="Text 13"/>
          <p:cNvSpPr txBox="1"/>
          <p:nvPr/>
        </p:nvSpPr>
        <p:spPr>
          <a:xfrm>
            <a:off x="5212080" y="2926080"/>
            <a:ext cx="1828800" cy="457200"/>
          </a:xfrm>
          <a:prstGeom prst="rect">
            <a:avLst/>
          </a:prstGeom>
          <a:noFill/>
          <a:ln/>
        </p:spPr>
        <p:txBody>
          <a:bodyPr wrap="square" lIns="0" tIns="0" rIns="0" bIns="0" rtlCol="0" anchor="ctr"/>
          <a:lstStyle/>
          <a:p>
            <a:pPr algn="ctr" indent="0" marL="0">
              <a:buNone/>
            </a:pPr>
            <a:r>
              <a:rPr lang="en-US" sz="2000" b="1" dirty="0">
                <a:solidFill>
                  <a:srgbClr val="16262E"/>
                </a:solidFill>
                <a:latin typeface="Cambria" pitchFamily="34" charset="0"/>
                <a:ea typeface="Cambria" pitchFamily="34" charset="-122"/>
                <a:cs typeface="Cambria" pitchFamily="34" charset="-120"/>
              </a:rPr>
              <a:t>Process</a:t>
            </a:r>
            <a:endParaRPr lang="en-US" sz="2000" dirty="0"/>
          </a:p>
        </p:txBody>
      </p:sp>
      <p:sp>
        <p:nvSpPr>
          <p:cNvPr id="19" name="Text 14"/>
          <p:cNvSpPr txBox="1"/>
          <p:nvPr/>
        </p:nvSpPr>
        <p:spPr>
          <a:xfrm>
            <a:off x="5303520" y="3474720"/>
            <a:ext cx="1645920" cy="1554480"/>
          </a:xfrm>
          <a:prstGeom prst="rect">
            <a:avLst/>
          </a:prstGeom>
          <a:noFill/>
          <a:ln/>
        </p:spPr>
        <p:txBody>
          <a:bodyPr wrap="square" lIns="0" tIns="0" rIns="0" bIns="0" rtlCol="0" anchor="t"/>
          <a:lstStyle/>
          <a:p>
            <a:pPr algn="ctr" indent="0" marL="0">
              <a:buNone/>
            </a:pPr>
            <a:r>
              <a:rPr lang="en-US" sz="1400" dirty="0">
                <a:solidFill>
                  <a:srgbClr val="1F2D33"/>
                </a:solidFill>
                <a:latin typeface="Calibri" pitchFamily="34" charset="0"/>
                <a:ea typeface="Calibri" pitchFamily="34" charset="-122"/>
                <a:cs typeface="Calibri" pitchFamily="34" charset="-120"/>
              </a:rPr>
              <a:t>Minimise columns, pseudonymise IDs in each chunk</a:t>
            </a:r>
            <a:endParaRPr lang="en-US" sz="1400" dirty="0"/>
          </a:p>
        </p:txBody>
      </p:sp>
      <p:sp>
        <p:nvSpPr>
          <p:cNvPr id="20" name="Shape 15"/>
          <p:cNvSpPr/>
          <p:nvPr/>
        </p:nvSpPr>
        <p:spPr>
          <a:xfrm>
            <a:off x="7178040" y="3246120"/>
            <a:ext cx="182880" cy="365760"/>
          </a:xfrm>
          <a:prstGeom prst="chevron">
            <a:avLst/>
          </a:prstGeom>
          <a:solidFill>
            <a:srgbClr val="E9C46A"/>
          </a:solidFill>
          <a:ln w="12700">
            <a:solidFill>
              <a:srgbClr val="E9C46A"/>
            </a:solidFill>
            <a:prstDash val="solid"/>
          </a:ln>
        </p:spPr>
      </p:sp>
      <p:sp>
        <p:nvSpPr>
          <p:cNvPr id="21" name="Shape 16"/>
          <p:cNvSpPr/>
          <p:nvPr/>
        </p:nvSpPr>
        <p:spPr>
          <a:xfrm>
            <a:off x="7406640" y="1645920"/>
            <a:ext cx="2011680" cy="3017520"/>
          </a:xfrm>
          <a:prstGeom prst="roundRect">
            <a:avLst>
              <a:gd name="adj" fmla="val 4545"/>
            </a:avLst>
          </a:prstGeom>
          <a:solidFill>
            <a:srgbClr val="F1F5F6"/>
          </a:solidFill>
          <a:ln w="12700">
            <a:solidFill>
              <a:srgbClr val="F1F5F6"/>
            </a:solidFill>
            <a:prstDash val="solid"/>
          </a:ln>
        </p:spPr>
      </p:sp>
      <p:sp>
        <p:nvSpPr>
          <p:cNvPr id="22" name="Shape 17"/>
          <p:cNvSpPr/>
          <p:nvPr/>
        </p:nvSpPr>
        <p:spPr>
          <a:xfrm>
            <a:off x="8001000" y="1920240"/>
            <a:ext cx="822960" cy="822960"/>
          </a:xfrm>
          <a:prstGeom prst="ellipse">
            <a:avLst/>
          </a:prstGeom>
          <a:solidFill>
            <a:srgbClr val="16262E"/>
          </a:solidFill>
          <a:ln w="12700">
            <a:solidFill>
              <a:srgbClr val="16262E"/>
            </a:solidFill>
            <a:prstDash val="solid"/>
          </a:ln>
        </p:spPr>
      </p:sp>
      <p:pic>
        <p:nvPicPr>
          <p:cNvPr id="23" name="Image 3" descr="preencoded.png">    </p:cNvPr>
          <p:cNvPicPr>
            <a:picLocks noChangeAspect="1"/>
          </p:cNvPicPr>
          <p:nvPr/>
        </p:nvPicPr>
        <p:blipFill>
          <a:blip r:embed="rId4"/>
          <a:stretch>
            <a:fillRect/>
          </a:stretch>
        </p:blipFill>
        <p:spPr>
          <a:xfrm>
            <a:off x="8206740" y="2125980"/>
            <a:ext cx="411480" cy="411480"/>
          </a:xfrm>
          <a:prstGeom prst="rect">
            <a:avLst/>
          </a:prstGeom>
        </p:spPr>
      </p:pic>
      <p:sp>
        <p:nvSpPr>
          <p:cNvPr id="24" name="Text 18"/>
          <p:cNvSpPr txBox="1"/>
          <p:nvPr/>
        </p:nvSpPr>
        <p:spPr>
          <a:xfrm>
            <a:off x="7498080" y="2926080"/>
            <a:ext cx="1828800" cy="457200"/>
          </a:xfrm>
          <a:prstGeom prst="rect">
            <a:avLst/>
          </a:prstGeom>
          <a:noFill/>
          <a:ln/>
        </p:spPr>
        <p:txBody>
          <a:bodyPr wrap="square" lIns="0" tIns="0" rIns="0" bIns="0" rtlCol="0" anchor="ctr"/>
          <a:lstStyle/>
          <a:p>
            <a:pPr algn="ctr" indent="0" marL="0">
              <a:buNone/>
            </a:pPr>
            <a:r>
              <a:rPr lang="en-US" sz="2000" b="1" dirty="0">
                <a:solidFill>
                  <a:srgbClr val="16262E"/>
                </a:solidFill>
                <a:latin typeface="Cambria" pitchFamily="34" charset="0"/>
                <a:ea typeface="Cambria" pitchFamily="34" charset="-122"/>
                <a:cs typeface="Cambria" pitchFamily="34" charset="-120"/>
              </a:rPr>
              <a:t>Model</a:t>
            </a:r>
            <a:endParaRPr lang="en-US" sz="2000" dirty="0"/>
          </a:p>
        </p:txBody>
      </p:sp>
      <p:sp>
        <p:nvSpPr>
          <p:cNvPr id="25" name="Text 19"/>
          <p:cNvSpPr txBox="1"/>
          <p:nvPr/>
        </p:nvSpPr>
        <p:spPr>
          <a:xfrm>
            <a:off x="7589520" y="3474720"/>
            <a:ext cx="1645920" cy="1554480"/>
          </a:xfrm>
          <a:prstGeom prst="rect">
            <a:avLst/>
          </a:prstGeom>
          <a:noFill/>
          <a:ln/>
        </p:spPr>
        <p:txBody>
          <a:bodyPr wrap="square" lIns="0" tIns="0" rIns="0" bIns="0" rtlCol="0" anchor="t"/>
          <a:lstStyle/>
          <a:p>
            <a:pPr algn="ctr" indent="0" marL="0">
              <a:buNone/>
            </a:pPr>
            <a:r>
              <a:rPr lang="en-US" sz="1400" dirty="0">
                <a:solidFill>
                  <a:srgbClr val="1F2D33"/>
                </a:solidFill>
                <a:latin typeface="Calibri" pitchFamily="34" charset="0"/>
                <a:ea typeface="Calibri" pitchFamily="34" charset="-122"/>
                <a:cs typeface="Calibri" pitchFamily="34" charset="-120"/>
              </a:rPr>
              <a:t>Label choice, bias audit, explainability</a:t>
            </a:r>
            <a:endParaRPr lang="en-US" sz="1400" dirty="0"/>
          </a:p>
        </p:txBody>
      </p:sp>
      <p:sp>
        <p:nvSpPr>
          <p:cNvPr id="26" name="Shape 20"/>
          <p:cNvSpPr/>
          <p:nvPr/>
        </p:nvSpPr>
        <p:spPr>
          <a:xfrm>
            <a:off x="9464040" y="3246120"/>
            <a:ext cx="182880" cy="365760"/>
          </a:xfrm>
          <a:prstGeom prst="chevron">
            <a:avLst/>
          </a:prstGeom>
          <a:solidFill>
            <a:srgbClr val="E9C46A"/>
          </a:solidFill>
          <a:ln w="12700">
            <a:solidFill>
              <a:srgbClr val="E9C46A"/>
            </a:solidFill>
            <a:prstDash val="solid"/>
          </a:ln>
        </p:spPr>
      </p:sp>
      <p:sp>
        <p:nvSpPr>
          <p:cNvPr id="27" name="Shape 21"/>
          <p:cNvSpPr/>
          <p:nvPr/>
        </p:nvSpPr>
        <p:spPr>
          <a:xfrm>
            <a:off x="9692640" y="1645920"/>
            <a:ext cx="2011680" cy="3017520"/>
          </a:xfrm>
          <a:prstGeom prst="roundRect">
            <a:avLst>
              <a:gd name="adj" fmla="val 4545"/>
            </a:avLst>
          </a:prstGeom>
          <a:solidFill>
            <a:srgbClr val="F1F5F6"/>
          </a:solidFill>
          <a:ln w="12700">
            <a:solidFill>
              <a:srgbClr val="F1F5F6"/>
            </a:solidFill>
            <a:prstDash val="solid"/>
          </a:ln>
        </p:spPr>
      </p:sp>
      <p:sp>
        <p:nvSpPr>
          <p:cNvPr id="28" name="Shape 22"/>
          <p:cNvSpPr/>
          <p:nvPr/>
        </p:nvSpPr>
        <p:spPr>
          <a:xfrm>
            <a:off x="10287000" y="1920240"/>
            <a:ext cx="822960" cy="822960"/>
          </a:xfrm>
          <a:prstGeom prst="ellipse">
            <a:avLst/>
          </a:prstGeom>
          <a:solidFill>
            <a:srgbClr val="2A9D8F"/>
          </a:solidFill>
          <a:ln w="12700">
            <a:solidFill>
              <a:srgbClr val="2A9D8F"/>
            </a:solidFill>
            <a:prstDash val="solid"/>
          </a:ln>
        </p:spPr>
      </p:sp>
      <p:pic>
        <p:nvPicPr>
          <p:cNvPr id="29" name="Image 4" descr="preencoded.png">    </p:cNvPr>
          <p:cNvPicPr>
            <a:picLocks noChangeAspect="1"/>
          </p:cNvPicPr>
          <p:nvPr/>
        </p:nvPicPr>
        <p:blipFill>
          <a:blip r:embed="rId5"/>
          <a:stretch>
            <a:fillRect/>
          </a:stretch>
        </p:blipFill>
        <p:spPr>
          <a:xfrm>
            <a:off x="10492740" y="2125980"/>
            <a:ext cx="411480" cy="411480"/>
          </a:xfrm>
          <a:prstGeom prst="rect">
            <a:avLst/>
          </a:prstGeom>
        </p:spPr>
      </p:pic>
      <p:sp>
        <p:nvSpPr>
          <p:cNvPr id="30" name="Text 23"/>
          <p:cNvSpPr txBox="1"/>
          <p:nvPr/>
        </p:nvSpPr>
        <p:spPr>
          <a:xfrm>
            <a:off x="9784080" y="2926080"/>
            <a:ext cx="1828800" cy="457200"/>
          </a:xfrm>
          <a:prstGeom prst="rect">
            <a:avLst/>
          </a:prstGeom>
          <a:noFill/>
          <a:ln/>
        </p:spPr>
        <p:txBody>
          <a:bodyPr wrap="square" lIns="0" tIns="0" rIns="0" bIns="0" rtlCol="0" anchor="ctr"/>
          <a:lstStyle/>
          <a:p>
            <a:pPr algn="ctr" indent="0" marL="0">
              <a:buNone/>
            </a:pPr>
            <a:r>
              <a:rPr lang="en-US" sz="2000" b="1" dirty="0">
                <a:solidFill>
                  <a:srgbClr val="16262E"/>
                </a:solidFill>
                <a:latin typeface="Cambria" pitchFamily="34" charset="0"/>
                <a:ea typeface="Cambria" pitchFamily="34" charset="-122"/>
                <a:cs typeface="Cambria" pitchFamily="34" charset="-120"/>
              </a:rPr>
              <a:t>Deploy</a:t>
            </a:r>
            <a:endParaRPr lang="en-US" sz="2000" dirty="0"/>
          </a:p>
        </p:txBody>
      </p:sp>
      <p:sp>
        <p:nvSpPr>
          <p:cNvPr id="31" name="Text 24"/>
          <p:cNvSpPr txBox="1"/>
          <p:nvPr/>
        </p:nvSpPr>
        <p:spPr>
          <a:xfrm>
            <a:off x="9875520" y="3474720"/>
            <a:ext cx="1645920" cy="1554480"/>
          </a:xfrm>
          <a:prstGeom prst="rect">
            <a:avLst/>
          </a:prstGeom>
          <a:noFill/>
          <a:ln/>
        </p:spPr>
        <p:txBody>
          <a:bodyPr wrap="square" lIns="0" tIns="0" rIns="0" bIns="0" rtlCol="0" anchor="t"/>
          <a:lstStyle/>
          <a:p>
            <a:pPr algn="ctr" indent="0" marL="0">
              <a:buNone/>
            </a:pPr>
            <a:r>
              <a:rPr lang="en-US" sz="1400" dirty="0">
                <a:solidFill>
                  <a:srgbClr val="1F2D33"/>
                </a:solidFill>
                <a:latin typeface="Calibri" pitchFamily="34" charset="0"/>
                <a:ea typeface="Calibri" pitchFamily="34" charset="-122"/>
                <a:cs typeface="Calibri" pitchFamily="34" charset="-120"/>
              </a:rPr>
              <a:t>Monitoring, drift, appeals, human review</a:t>
            </a:r>
            <a:endParaRPr lang="en-US" sz="1400" dirty="0"/>
          </a:p>
        </p:txBody>
      </p:sp>
      <p:sp>
        <p:nvSpPr>
          <p:cNvPr id="32" name="Text 25"/>
          <p:cNvSpPr txBox="1"/>
          <p:nvPr/>
        </p:nvSpPr>
        <p:spPr>
          <a:xfrm>
            <a:off x="548640" y="5029200"/>
            <a:ext cx="11064240" cy="457200"/>
          </a:xfrm>
          <a:prstGeom prst="rect">
            <a:avLst/>
          </a:prstGeom>
          <a:noFill/>
          <a:ln/>
        </p:spPr>
        <p:txBody>
          <a:bodyPr wrap="square" lIns="0" tIns="0" rIns="0" bIns="0" rtlCol="0" anchor="ctr"/>
          <a:lstStyle/>
          <a:p>
            <a:pPr indent="0" marL="0">
              <a:buNone/>
            </a:pPr>
            <a:r>
              <a:rPr lang="en-US" sz="1600" i="1" dirty="0">
                <a:solidFill>
                  <a:srgbClr val="5B6B72"/>
                </a:solidFill>
                <a:latin typeface="Calibri" pitchFamily="34" charset="0"/>
                <a:ea typeface="Calibri" pitchFamily="34" charset="-122"/>
                <a:cs typeface="Calibri" pitchFamily="34" charset="-120"/>
              </a:rPr>
              <a:t>Every stage has a technical decision that is also an ethical one.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6262E"/>
                </a:solidFill>
                <a:latin typeface="Cambria" pitchFamily="34" charset="0"/>
                <a:ea typeface="Cambria" pitchFamily="34" charset="-122"/>
                <a:cs typeface="Cambria" pitchFamily="34" charset="-120"/>
              </a:rPr>
              <a:t>Privacy by design, inside the chunk loop</a:t>
            </a:r>
            <a:endParaRPr lang="en-US" sz="3600" dirty="0"/>
          </a:p>
        </p:txBody>
      </p:sp>
      <p:sp>
        <p:nvSpPr>
          <p:cNvPr id="3" name="Shape 1"/>
          <p:cNvSpPr/>
          <p:nvPr/>
        </p:nvSpPr>
        <p:spPr>
          <a:xfrm>
            <a:off x="548640" y="1371600"/>
            <a:ext cx="6949440" cy="4206240"/>
          </a:xfrm>
          <a:prstGeom prst="roundRect">
            <a:avLst>
              <a:gd name="adj" fmla="val 1739"/>
            </a:avLst>
          </a:prstGeom>
          <a:solidFill>
            <a:srgbClr val="16262E"/>
          </a:solidFill>
          <a:ln w="12700">
            <a:solidFill>
              <a:srgbClr val="16262E"/>
            </a:solidFill>
            <a:prstDash val="solid"/>
          </a:ln>
        </p:spPr>
      </p:sp>
      <p:sp>
        <p:nvSpPr>
          <p:cNvPr id="4" name="Text 2"/>
          <p:cNvSpPr txBox="1"/>
          <p:nvPr/>
        </p:nvSpPr>
        <p:spPr>
          <a:xfrm>
            <a:off x="731520" y="1508760"/>
            <a:ext cx="6583680" cy="3931920"/>
          </a:xfrm>
          <a:prstGeom prst="rect">
            <a:avLst/>
          </a:prstGeom>
          <a:noFill/>
          <a:ln/>
        </p:spPr>
        <p:txBody>
          <a:bodyPr wrap="square" lIns="0" tIns="0" rIns="0" bIns="0" rtlCol="0" anchor="t"/>
          <a:lstStyle/>
          <a:p>
            <a:pPr indent="0" marL="0">
              <a:buNone/>
            </a:pPr>
            <a:r>
              <a:rPr lang="en-US" sz="1250" dirty="0">
                <a:solidFill>
                  <a:srgbClr val="E6EEF0"/>
                </a:solidFill>
                <a:latin typeface="Courier New" pitchFamily="34" charset="0"/>
                <a:ea typeface="Courier New" pitchFamily="34" charset="-122"/>
                <a:cs typeface="Courier New" pitchFamily="34" charset="-120"/>
              </a:rPr>
              <a:t>import hashlib, os</a:t>
            </a:r>
            <a:endParaRPr lang="en-US" sz="1250" dirty="0"/>
          </a:p>
          <a:p>
            <a:pPr indent="0" marL="0">
              <a:buNone/>
            </a:pPr>
            <a:r>
              <a:rPr lang="en-US" sz="1250" dirty="0">
                <a:solidFill>
                  <a:srgbClr val="E6EEF0"/>
                </a:solidFill>
                <a:latin typeface="Courier New" pitchFamily="34" charset="0"/>
                <a:ea typeface="Courier New" pitchFamily="34" charset="-122"/>
                <a:cs typeface="Courier New" pitchFamily="34" charset="-120"/>
              </a:rPr>
              <a:t>SALT = os.environ["ID_SALT"].encode()   # secret, not in code</a:t>
            </a:r>
            <a:endParaRPr lang="en-US" sz="1250" dirty="0"/>
          </a:p>
          <a:p>
            <a:pPr indent="0" marL="0">
              <a:buNone/>
            </a:pPr>
            <a:endParaRPr lang="en-US" sz="1250" dirty="0"/>
          </a:p>
          <a:p>
            <a:pPr indent="0" marL="0">
              <a:buNone/>
            </a:pPr>
            <a:r>
              <a:rPr lang="en-US" sz="1250" dirty="0">
                <a:solidFill>
                  <a:srgbClr val="E6EEF0"/>
                </a:solidFill>
                <a:latin typeface="Courier New" pitchFamily="34" charset="0"/>
                <a:ea typeface="Courier New" pitchFamily="34" charset="-122"/>
                <a:cs typeface="Courier New" pitchFamily="34" charset="-120"/>
              </a:rPr>
              <a:t>def pseudonymise(x):</a:t>
            </a:r>
            <a:endParaRPr lang="en-US" sz="1250" dirty="0"/>
          </a:p>
          <a:p>
            <a:pPr indent="0" marL="0">
              <a:buNone/>
            </a:pPr>
            <a:r>
              <a:rPr lang="en-US" sz="1250" dirty="0">
                <a:solidFill>
                  <a:srgbClr val="E6EEF0"/>
                </a:solidFill>
                <a:latin typeface="Courier New" pitchFamily="34" charset="0"/>
                <a:ea typeface="Courier New" pitchFamily="34" charset="-122"/>
                <a:cs typeface="Courier New" pitchFamily="34" charset="-120"/>
              </a:rPr>
              <a:t>    return hashlib.sha256(SALT + str(x).encode()).hexdigest()[:16]</a:t>
            </a:r>
            <a:endParaRPr lang="en-US" sz="1250" dirty="0"/>
          </a:p>
          <a:p>
            <a:pPr indent="0" marL="0">
              <a:buNone/>
            </a:pPr>
            <a:endParaRPr lang="en-US" sz="1250" dirty="0"/>
          </a:p>
          <a:p>
            <a:pPr indent="0" marL="0">
              <a:buNone/>
            </a:pPr>
            <a:r>
              <a:rPr lang="en-US" sz="1250" dirty="0">
                <a:solidFill>
                  <a:srgbClr val="E6EEF0"/>
                </a:solidFill>
                <a:latin typeface="Courier New" pitchFamily="34" charset="0"/>
                <a:ea typeface="Courier New" pitchFamily="34" charset="-122"/>
                <a:cs typeface="Courier New" pitchFamily="34" charset="-120"/>
              </a:rPr>
              <a:t>reader = pd.read_csv("applicants.csv", chunksize=250_000,</a:t>
            </a:r>
            <a:endParaRPr lang="en-US" sz="1250" dirty="0"/>
          </a:p>
          <a:p>
            <a:pPr indent="0" marL="0">
              <a:buNone/>
            </a:pPr>
            <a:r>
              <a:rPr lang="en-US" sz="1250" dirty="0">
                <a:solidFill>
                  <a:srgbClr val="E6EEF0"/>
                </a:solidFill>
                <a:latin typeface="Courier New" pitchFamily="34" charset="0"/>
                <a:ea typeface="Courier New" pitchFamily="34" charset="-122"/>
                <a:cs typeface="Courier New" pitchFamily="34" charset="-120"/>
              </a:rPr>
              <a:t>                     usecols=["applicant_id", "group",</a:t>
            </a:r>
            <a:endParaRPr lang="en-US" sz="1250" dirty="0"/>
          </a:p>
          <a:p>
            <a:pPr indent="0" marL="0">
              <a:buNone/>
            </a:pPr>
            <a:r>
              <a:rPr lang="en-US" sz="1250" dirty="0">
                <a:solidFill>
                  <a:srgbClr val="E6EEF0"/>
                </a:solidFill>
                <a:latin typeface="Courier New" pitchFamily="34" charset="0"/>
                <a:ea typeface="Courier New" pitchFamily="34" charset="-122"/>
                <a:cs typeface="Courier New" pitchFamily="34" charset="-120"/>
              </a:rPr>
              <a:t>                              "shortlisted"])   # no email</a:t>
            </a:r>
            <a:endParaRPr lang="en-US" sz="1250" dirty="0"/>
          </a:p>
          <a:p>
            <a:pPr indent="0" marL="0">
              <a:buNone/>
            </a:pPr>
            <a:r>
              <a:rPr lang="en-US" sz="1250" dirty="0">
                <a:solidFill>
                  <a:srgbClr val="E6EEF0"/>
                </a:solidFill>
                <a:latin typeface="Courier New" pitchFamily="34" charset="0"/>
                <a:ea typeface="Courier New" pitchFamily="34" charset="-122"/>
                <a:cs typeface="Courier New" pitchFamily="34" charset="-120"/>
              </a:rPr>
              <a:t>for i, chunk in enumerate(reader):</a:t>
            </a:r>
            <a:endParaRPr lang="en-US" sz="1250" dirty="0"/>
          </a:p>
          <a:p>
            <a:pPr indent="0" marL="0">
              <a:buNone/>
            </a:pPr>
            <a:r>
              <a:rPr lang="en-US" sz="1250" dirty="0">
                <a:solidFill>
                  <a:srgbClr val="E6EEF0"/>
                </a:solidFill>
                <a:latin typeface="Courier New" pitchFamily="34" charset="0"/>
                <a:ea typeface="Courier New" pitchFamily="34" charset="-122"/>
                <a:cs typeface="Courier New" pitchFamily="34" charset="-120"/>
              </a:rPr>
              <a:t>    chunk["pid"] = chunk["applicant_id"].map(pseudonymise)</a:t>
            </a:r>
            <a:endParaRPr lang="en-US" sz="1250" dirty="0"/>
          </a:p>
          <a:p>
            <a:pPr indent="0" marL="0">
              <a:buNone/>
            </a:pPr>
            <a:r>
              <a:rPr lang="en-US" sz="1250" dirty="0">
                <a:solidFill>
                  <a:srgbClr val="E6EEF0"/>
                </a:solidFill>
                <a:latin typeface="Courier New" pitchFamily="34" charset="0"/>
                <a:ea typeface="Courier New" pitchFamily="34" charset="-122"/>
                <a:cs typeface="Courier New" pitchFamily="34" charset="-120"/>
              </a:rPr>
              <a:t>    chunk = chunk.drop(columns="applicant_id")</a:t>
            </a:r>
            <a:endParaRPr lang="en-US" sz="1250" dirty="0"/>
          </a:p>
          <a:p>
            <a:pPr indent="0" marL="0">
              <a:buNone/>
            </a:pPr>
            <a:r>
              <a:rPr lang="en-US" sz="1250" dirty="0">
                <a:solidFill>
                  <a:srgbClr val="E6EEF0"/>
                </a:solidFill>
                <a:latin typeface="Courier New" pitchFamily="34" charset="0"/>
                <a:ea typeface="Courier New" pitchFamily="34" charset="-122"/>
                <a:cs typeface="Courier New" pitchFamily="34" charset="-120"/>
              </a:rPr>
              <a:t>    chunk.to_parquet(f"clean/part_{i}.parquet")   # safe copy</a:t>
            </a:r>
            <a:endParaRPr lang="en-US" sz="1250" dirty="0"/>
          </a:p>
        </p:txBody>
      </p:sp>
      <p:sp>
        <p:nvSpPr>
          <p:cNvPr id="5" name="Shape 3"/>
          <p:cNvSpPr/>
          <p:nvPr/>
        </p:nvSpPr>
        <p:spPr>
          <a:xfrm>
            <a:off x="7863840" y="1371600"/>
            <a:ext cx="685800" cy="685800"/>
          </a:xfrm>
          <a:prstGeom prst="ellipse">
            <a:avLst/>
          </a:prstGeom>
          <a:solidFill>
            <a:srgbClr val="2A9D8F"/>
          </a:solidFill>
          <a:ln w="12700">
            <a:solidFill>
              <a:srgbClr val="2A9D8F"/>
            </a:solidFill>
            <a:prstDash val="solid"/>
          </a:ln>
        </p:spPr>
      </p:sp>
      <p:pic>
        <p:nvPicPr>
          <p:cNvPr id="6" name="Image 0" descr="preencoded.png">    </p:cNvPr>
          <p:cNvPicPr>
            <a:picLocks noChangeAspect="1"/>
          </p:cNvPicPr>
          <p:nvPr/>
        </p:nvPicPr>
        <p:blipFill>
          <a:blip r:embed="rId1"/>
          <a:stretch>
            <a:fillRect/>
          </a:stretch>
        </p:blipFill>
        <p:spPr>
          <a:xfrm>
            <a:off x="8035290" y="1543050"/>
            <a:ext cx="342900" cy="342900"/>
          </a:xfrm>
          <a:prstGeom prst="rect">
            <a:avLst/>
          </a:prstGeom>
        </p:spPr>
      </p:pic>
      <p:sp>
        <p:nvSpPr>
          <p:cNvPr id="7" name="Text 4"/>
          <p:cNvSpPr txBox="1"/>
          <p:nvPr/>
        </p:nvSpPr>
        <p:spPr>
          <a:xfrm>
            <a:off x="8732520" y="1353312"/>
            <a:ext cx="2926080" cy="365760"/>
          </a:xfrm>
          <a:prstGeom prst="rect">
            <a:avLst/>
          </a:prstGeom>
          <a:noFill/>
          <a:ln/>
        </p:spPr>
        <p:txBody>
          <a:bodyPr wrap="square" lIns="0" tIns="0" rIns="0" bIns="0" rtlCol="0" anchor="ctr"/>
          <a:lstStyle/>
          <a:p>
            <a:pPr indent="0" marL="0">
              <a:buNone/>
            </a:pPr>
            <a:r>
              <a:rPr lang="en-US" sz="1900" b="1" dirty="0">
                <a:solidFill>
                  <a:srgbClr val="16262E"/>
                </a:solidFill>
                <a:latin typeface="Cambria" pitchFamily="34" charset="0"/>
                <a:ea typeface="Cambria" pitchFamily="34" charset="-122"/>
                <a:cs typeface="Cambria" pitchFamily="34" charset="-120"/>
              </a:rPr>
              <a:t>Minimise</a:t>
            </a:r>
            <a:endParaRPr lang="en-US" sz="1900" dirty="0"/>
          </a:p>
        </p:txBody>
      </p:sp>
      <p:sp>
        <p:nvSpPr>
          <p:cNvPr id="8" name="Text 5"/>
          <p:cNvSpPr txBox="1"/>
          <p:nvPr/>
        </p:nvSpPr>
        <p:spPr>
          <a:xfrm>
            <a:off x="8732520" y="1737360"/>
            <a:ext cx="2926080" cy="822960"/>
          </a:xfrm>
          <a:prstGeom prst="rect">
            <a:avLst/>
          </a:prstGeom>
          <a:noFill/>
          <a:ln/>
        </p:spPr>
        <p:txBody>
          <a:bodyPr wrap="square" lIns="0" tIns="0" rIns="0" bIns="0" rtlCol="0" anchor="t"/>
          <a:lstStyle/>
          <a:p>
            <a:pPr indent="0" marL="0">
              <a:buNone/>
            </a:pPr>
            <a:r>
              <a:rPr lang="en-US" sz="1400" dirty="0">
                <a:solidFill>
                  <a:srgbClr val="1F2D33"/>
                </a:solidFill>
                <a:latin typeface="Calibri" pitchFamily="34" charset="0"/>
                <a:ea typeface="Calibri" pitchFamily="34" charset="-122"/>
                <a:cs typeface="Calibri" pitchFamily="34" charset="-120"/>
              </a:rPr>
              <a:t>Direct identifiers like email are never read.</a:t>
            </a:r>
            <a:endParaRPr lang="en-US" sz="1400" dirty="0"/>
          </a:p>
        </p:txBody>
      </p:sp>
      <p:sp>
        <p:nvSpPr>
          <p:cNvPr id="9" name="Shape 6"/>
          <p:cNvSpPr/>
          <p:nvPr/>
        </p:nvSpPr>
        <p:spPr>
          <a:xfrm>
            <a:off x="7863840" y="2788920"/>
            <a:ext cx="685800" cy="685800"/>
          </a:xfrm>
          <a:prstGeom prst="ellipse">
            <a:avLst/>
          </a:prstGeom>
          <a:solidFill>
            <a:srgbClr val="2A9D8F"/>
          </a:solidFill>
          <a:ln w="12700">
            <a:solidFill>
              <a:srgbClr val="2A9D8F"/>
            </a:solidFill>
            <a:prstDash val="solid"/>
          </a:ln>
        </p:spPr>
      </p:sp>
      <p:pic>
        <p:nvPicPr>
          <p:cNvPr id="10" name="Image 1" descr="preencoded.png">    </p:cNvPr>
          <p:cNvPicPr>
            <a:picLocks noChangeAspect="1"/>
          </p:cNvPicPr>
          <p:nvPr/>
        </p:nvPicPr>
        <p:blipFill>
          <a:blip r:embed="rId2"/>
          <a:stretch>
            <a:fillRect/>
          </a:stretch>
        </p:blipFill>
        <p:spPr>
          <a:xfrm>
            <a:off x="8035290" y="2960370"/>
            <a:ext cx="342900" cy="342900"/>
          </a:xfrm>
          <a:prstGeom prst="rect">
            <a:avLst/>
          </a:prstGeom>
        </p:spPr>
      </p:pic>
      <p:sp>
        <p:nvSpPr>
          <p:cNvPr id="11" name="Text 7"/>
          <p:cNvSpPr txBox="1"/>
          <p:nvPr/>
        </p:nvSpPr>
        <p:spPr>
          <a:xfrm>
            <a:off x="8732520" y="2770632"/>
            <a:ext cx="2926080" cy="365760"/>
          </a:xfrm>
          <a:prstGeom prst="rect">
            <a:avLst/>
          </a:prstGeom>
          <a:noFill/>
          <a:ln/>
        </p:spPr>
        <p:txBody>
          <a:bodyPr wrap="square" lIns="0" tIns="0" rIns="0" bIns="0" rtlCol="0" anchor="ctr"/>
          <a:lstStyle/>
          <a:p>
            <a:pPr indent="0" marL="0">
              <a:buNone/>
            </a:pPr>
            <a:r>
              <a:rPr lang="en-US" sz="1900" b="1" dirty="0">
                <a:solidFill>
                  <a:srgbClr val="16262E"/>
                </a:solidFill>
                <a:latin typeface="Cambria" pitchFamily="34" charset="0"/>
                <a:ea typeface="Cambria" pitchFamily="34" charset="-122"/>
                <a:cs typeface="Cambria" pitchFamily="34" charset="-120"/>
              </a:rPr>
              <a:t>Pseudonymise</a:t>
            </a:r>
            <a:endParaRPr lang="en-US" sz="1900" dirty="0"/>
          </a:p>
        </p:txBody>
      </p:sp>
      <p:sp>
        <p:nvSpPr>
          <p:cNvPr id="12" name="Text 8"/>
          <p:cNvSpPr txBox="1"/>
          <p:nvPr/>
        </p:nvSpPr>
        <p:spPr>
          <a:xfrm>
            <a:off x="8732520" y="3154680"/>
            <a:ext cx="2926080" cy="822960"/>
          </a:xfrm>
          <a:prstGeom prst="rect">
            <a:avLst/>
          </a:prstGeom>
          <a:noFill/>
          <a:ln/>
        </p:spPr>
        <p:txBody>
          <a:bodyPr wrap="square" lIns="0" tIns="0" rIns="0" bIns="0" rtlCol="0" anchor="t"/>
          <a:lstStyle/>
          <a:p>
            <a:pPr indent="0" marL="0">
              <a:buNone/>
            </a:pPr>
            <a:r>
              <a:rPr lang="en-US" sz="1400" dirty="0">
                <a:solidFill>
                  <a:srgbClr val="1F2D33"/>
                </a:solidFill>
                <a:latin typeface="Calibri" pitchFamily="34" charset="0"/>
                <a:ea typeface="Calibri" pitchFamily="34" charset="-122"/>
                <a:cs typeface="Calibri" pitchFamily="34" charset="-120"/>
              </a:rPr>
              <a:t>Salted hashes keep records linkable, not identifiable.</a:t>
            </a:r>
            <a:endParaRPr lang="en-US" sz="1400" dirty="0"/>
          </a:p>
        </p:txBody>
      </p:sp>
      <p:sp>
        <p:nvSpPr>
          <p:cNvPr id="13" name="Shape 9"/>
          <p:cNvSpPr/>
          <p:nvPr/>
        </p:nvSpPr>
        <p:spPr>
          <a:xfrm>
            <a:off x="7863840" y="4206240"/>
            <a:ext cx="685800" cy="685800"/>
          </a:xfrm>
          <a:prstGeom prst="ellipse">
            <a:avLst/>
          </a:prstGeom>
          <a:solidFill>
            <a:srgbClr val="2A9D8F"/>
          </a:solidFill>
          <a:ln w="12700">
            <a:solidFill>
              <a:srgbClr val="2A9D8F"/>
            </a:solidFill>
            <a:prstDash val="solid"/>
          </a:ln>
        </p:spPr>
      </p:sp>
      <p:pic>
        <p:nvPicPr>
          <p:cNvPr id="14" name="Image 2" descr="preencoded.png">    </p:cNvPr>
          <p:cNvPicPr>
            <a:picLocks noChangeAspect="1"/>
          </p:cNvPicPr>
          <p:nvPr/>
        </p:nvPicPr>
        <p:blipFill>
          <a:blip r:embed="rId3"/>
          <a:stretch>
            <a:fillRect/>
          </a:stretch>
        </p:blipFill>
        <p:spPr>
          <a:xfrm>
            <a:off x="8035290" y="4377690"/>
            <a:ext cx="342900" cy="342900"/>
          </a:xfrm>
          <a:prstGeom prst="rect">
            <a:avLst/>
          </a:prstGeom>
        </p:spPr>
      </p:pic>
      <p:sp>
        <p:nvSpPr>
          <p:cNvPr id="15" name="Text 10"/>
          <p:cNvSpPr txBox="1"/>
          <p:nvPr/>
        </p:nvSpPr>
        <p:spPr>
          <a:xfrm>
            <a:off x="8732520" y="4187952"/>
            <a:ext cx="2926080" cy="365760"/>
          </a:xfrm>
          <a:prstGeom prst="rect">
            <a:avLst/>
          </a:prstGeom>
          <a:noFill/>
          <a:ln/>
        </p:spPr>
        <p:txBody>
          <a:bodyPr wrap="square" lIns="0" tIns="0" rIns="0" bIns="0" rtlCol="0" anchor="ctr"/>
          <a:lstStyle/>
          <a:p>
            <a:pPr indent="0" marL="0">
              <a:buNone/>
            </a:pPr>
            <a:r>
              <a:rPr lang="en-US" sz="1900" b="1" dirty="0">
                <a:solidFill>
                  <a:srgbClr val="16262E"/>
                </a:solidFill>
                <a:latin typeface="Cambria" pitchFamily="34" charset="0"/>
                <a:ea typeface="Cambria" pitchFamily="34" charset="-122"/>
                <a:cs typeface="Cambria" pitchFamily="34" charset="-120"/>
              </a:rPr>
              <a:t>Separate secrets</a:t>
            </a:r>
            <a:endParaRPr lang="en-US" sz="1900" dirty="0"/>
          </a:p>
        </p:txBody>
      </p:sp>
      <p:sp>
        <p:nvSpPr>
          <p:cNvPr id="16" name="Text 11"/>
          <p:cNvSpPr txBox="1"/>
          <p:nvPr/>
        </p:nvSpPr>
        <p:spPr>
          <a:xfrm>
            <a:off x="8732520" y="4572000"/>
            <a:ext cx="2926080" cy="822960"/>
          </a:xfrm>
          <a:prstGeom prst="rect">
            <a:avLst/>
          </a:prstGeom>
          <a:noFill/>
          <a:ln/>
        </p:spPr>
        <p:txBody>
          <a:bodyPr wrap="square" lIns="0" tIns="0" rIns="0" bIns="0" rtlCol="0" anchor="t"/>
          <a:lstStyle/>
          <a:p>
            <a:pPr indent="0" marL="0">
              <a:buNone/>
            </a:pPr>
            <a:r>
              <a:rPr lang="en-US" sz="1400" dirty="0">
                <a:solidFill>
                  <a:srgbClr val="1F2D33"/>
                </a:solidFill>
                <a:latin typeface="Calibri" pitchFamily="34" charset="0"/>
                <a:ea typeface="Calibri" pitchFamily="34" charset="-122"/>
                <a:cs typeface="Calibri" pitchFamily="34" charset="-120"/>
              </a:rPr>
              <a:t>The salt lives in a secrets store, away from the data.</a:t>
            </a:r>
            <a:endParaRPr lang="en-US" sz="1400" dirty="0"/>
          </a:p>
        </p:txBody>
      </p:sp>
      <p:sp>
        <p:nvSpPr>
          <p:cNvPr id="17" name="Text 12"/>
          <p:cNvSpPr txBox="1"/>
          <p:nvPr/>
        </p:nvSpPr>
        <p:spPr>
          <a:xfrm>
            <a:off x="548640" y="5852160"/>
            <a:ext cx="11064240" cy="457200"/>
          </a:xfrm>
          <a:prstGeom prst="rect">
            <a:avLst/>
          </a:prstGeom>
          <a:noFill/>
          <a:ln/>
        </p:spPr>
        <p:txBody>
          <a:bodyPr wrap="square" lIns="0" tIns="0" rIns="0" bIns="0" rtlCol="0" anchor="ctr"/>
          <a:lstStyle/>
          <a:p>
            <a:pPr indent="0" marL="0">
              <a:buNone/>
            </a:pPr>
            <a:r>
              <a:rPr lang="en-US" sz="1400" i="1" dirty="0">
                <a:solidFill>
                  <a:srgbClr val="5B6B72"/>
                </a:solidFill>
                <a:latin typeface="Calibri" pitchFamily="34" charset="0"/>
                <a:ea typeface="Calibri" pitchFamily="34" charset="-122"/>
                <a:cs typeface="Calibri" pitchFamily="34" charset="-120"/>
              </a:rPr>
              <a:t>Note: pseudonymised data is still personal data under GDPR. Combine with access control and aggregation before sharing.</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6262E"/>
                </a:solidFill>
                <a:latin typeface="Cambria" pitchFamily="34" charset="0"/>
                <a:ea typeface="Cambria" pitchFamily="34" charset="-122"/>
                <a:cs typeface="Cambria" pitchFamily="34" charset="-120"/>
              </a:rPr>
              <a:t>Six steps for ethical data practice</a:t>
            </a:r>
            <a:endParaRPr lang="en-US" sz="3600" dirty="0"/>
          </a:p>
        </p:txBody>
      </p:sp>
      <p:sp>
        <p:nvSpPr>
          <p:cNvPr id="3" name="Shape 1"/>
          <p:cNvSpPr/>
          <p:nvPr/>
        </p:nvSpPr>
        <p:spPr>
          <a:xfrm>
            <a:off x="548640" y="1371600"/>
            <a:ext cx="5394960" cy="1417320"/>
          </a:xfrm>
          <a:prstGeom prst="roundRect">
            <a:avLst>
              <a:gd name="adj" fmla="val 6452"/>
            </a:avLst>
          </a:prstGeom>
          <a:solidFill>
            <a:srgbClr val="F1F5F6"/>
          </a:solidFill>
          <a:ln w="12700">
            <a:solidFill>
              <a:srgbClr val="F1F5F6"/>
            </a:solidFill>
            <a:prstDash val="solid"/>
          </a:ln>
        </p:spPr>
      </p:sp>
      <p:sp>
        <p:nvSpPr>
          <p:cNvPr id="4" name="Shape 2"/>
          <p:cNvSpPr/>
          <p:nvPr/>
        </p:nvSpPr>
        <p:spPr>
          <a:xfrm>
            <a:off x="777240" y="1691640"/>
            <a:ext cx="777240" cy="777240"/>
          </a:xfrm>
          <a:prstGeom prst="ellipse">
            <a:avLst/>
          </a:prstGeom>
          <a:solidFill>
            <a:srgbClr val="2A9D8F"/>
          </a:solidFill>
          <a:ln w="12700">
            <a:solidFill>
              <a:srgbClr val="2A9D8F"/>
            </a:solidFill>
            <a:prstDash val="solid"/>
          </a:ln>
        </p:spPr>
      </p:sp>
      <p:pic>
        <p:nvPicPr>
          <p:cNvPr id="5" name="Image 0" descr="preencoded.png">    </p:cNvPr>
          <p:cNvPicPr>
            <a:picLocks noChangeAspect="1"/>
          </p:cNvPicPr>
          <p:nvPr/>
        </p:nvPicPr>
        <p:blipFill>
          <a:blip r:embed="rId1"/>
          <a:stretch>
            <a:fillRect/>
          </a:stretch>
        </p:blipFill>
        <p:spPr>
          <a:xfrm>
            <a:off x="971550" y="1885950"/>
            <a:ext cx="388620" cy="388620"/>
          </a:xfrm>
          <a:prstGeom prst="rect">
            <a:avLst/>
          </a:prstGeom>
        </p:spPr>
      </p:pic>
      <p:sp>
        <p:nvSpPr>
          <p:cNvPr id="6" name="Text 3"/>
          <p:cNvSpPr txBox="1"/>
          <p:nvPr/>
        </p:nvSpPr>
        <p:spPr>
          <a:xfrm>
            <a:off x="1737360" y="1508760"/>
            <a:ext cx="4023360" cy="411480"/>
          </a:xfrm>
          <a:prstGeom prst="rect">
            <a:avLst/>
          </a:prstGeom>
          <a:noFill/>
          <a:ln/>
        </p:spPr>
        <p:txBody>
          <a:bodyPr wrap="square" lIns="0" tIns="0" rIns="0" bIns="0" rtlCol="0" anchor="ctr"/>
          <a:lstStyle/>
          <a:p>
            <a:pPr indent="0" marL="0">
              <a:buNone/>
            </a:pPr>
            <a:r>
              <a:rPr lang="en-US" sz="1800" b="1" dirty="0">
                <a:solidFill>
                  <a:srgbClr val="16262E"/>
                </a:solidFill>
                <a:latin typeface="Cambria" pitchFamily="34" charset="0"/>
                <a:ea typeface="Cambria" pitchFamily="34" charset="-122"/>
                <a:cs typeface="Cambria" pitchFamily="34" charset="-120"/>
              </a:rPr>
              <a:t>1. Define purpose and consent</a:t>
            </a:r>
            <a:endParaRPr lang="en-US" sz="1800" dirty="0"/>
          </a:p>
        </p:txBody>
      </p:sp>
      <p:sp>
        <p:nvSpPr>
          <p:cNvPr id="7" name="Text 4"/>
          <p:cNvSpPr txBox="1"/>
          <p:nvPr/>
        </p:nvSpPr>
        <p:spPr>
          <a:xfrm>
            <a:off x="1737360" y="1938528"/>
            <a:ext cx="4023360" cy="777240"/>
          </a:xfrm>
          <a:prstGeom prst="rect">
            <a:avLst/>
          </a:prstGeom>
          <a:noFill/>
          <a:ln/>
        </p:spPr>
        <p:txBody>
          <a:bodyPr wrap="square" lIns="0" tIns="0" rIns="0" bIns="0" rtlCol="0" anchor="t"/>
          <a:lstStyle/>
          <a:p>
            <a:pPr indent="0" marL="0">
              <a:buNone/>
            </a:pPr>
            <a:r>
              <a:rPr lang="en-US" sz="1400" dirty="0">
                <a:solidFill>
                  <a:srgbClr val="1F2D33"/>
                </a:solidFill>
                <a:latin typeface="Calibri" pitchFamily="34" charset="0"/>
                <a:ea typeface="Calibri" pitchFamily="34" charset="-122"/>
                <a:cs typeface="Calibri" pitchFamily="34" charset="-120"/>
              </a:rPr>
              <a:t>Document why data is needed; collect only that. Check the legal basis (GDPR, HIPAA).</a:t>
            </a:r>
            <a:endParaRPr lang="en-US" sz="1400" dirty="0"/>
          </a:p>
        </p:txBody>
      </p:sp>
      <p:sp>
        <p:nvSpPr>
          <p:cNvPr id="8" name="Shape 5"/>
          <p:cNvSpPr/>
          <p:nvPr/>
        </p:nvSpPr>
        <p:spPr>
          <a:xfrm>
            <a:off x="6263640" y="1371600"/>
            <a:ext cx="5394960" cy="1417320"/>
          </a:xfrm>
          <a:prstGeom prst="roundRect">
            <a:avLst>
              <a:gd name="adj" fmla="val 6452"/>
            </a:avLst>
          </a:prstGeom>
          <a:solidFill>
            <a:srgbClr val="F1F5F6"/>
          </a:solidFill>
          <a:ln w="12700">
            <a:solidFill>
              <a:srgbClr val="F1F5F6"/>
            </a:solidFill>
            <a:prstDash val="solid"/>
          </a:ln>
        </p:spPr>
      </p:sp>
      <p:sp>
        <p:nvSpPr>
          <p:cNvPr id="9" name="Shape 6"/>
          <p:cNvSpPr/>
          <p:nvPr/>
        </p:nvSpPr>
        <p:spPr>
          <a:xfrm>
            <a:off x="6492240" y="1691640"/>
            <a:ext cx="777240" cy="777240"/>
          </a:xfrm>
          <a:prstGeom prst="ellipse">
            <a:avLst/>
          </a:prstGeom>
          <a:solidFill>
            <a:srgbClr val="2A9D8F"/>
          </a:solidFill>
          <a:ln w="12700">
            <a:solidFill>
              <a:srgbClr val="2A9D8F"/>
            </a:solidFill>
            <a:prstDash val="solid"/>
          </a:ln>
        </p:spPr>
      </p:sp>
      <p:pic>
        <p:nvPicPr>
          <p:cNvPr id="10" name="Image 1" descr="preencoded.png">    </p:cNvPr>
          <p:cNvPicPr>
            <a:picLocks noChangeAspect="1"/>
          </p:cNvPicPr>
          <p:nvPr/>
        </p:nvPicPr>
        <p:blipFill>
          <a:blip r:embed="rId2"/>
          <a:stretch>
            <a:fillRect/>
          </a:stretch>
        </p:blipFill>
        <p:spPr>
          <a:xfrm>
            <a:off x="6686550" y="1885950"/>
            <a:ext cx="388620" cy="388620"/>
          </a:xfrm>
          <a:prstGeom prst="rect">
            <a:avLst/>
          </a:prstGeom>
        </p:spPr>
      </p:pic>
      <p:sp>
        <p:nvSpPr>
          <p:cNvPr id="11" name="Text 7"/>
          <p:cNvSpPr txBox="1"/>
          <p:nvPr/>
        </p:nvSpPr>
        <p:spPr>
          <a:xfrm>
            <a:off x="7452360" y="1508760"/>
            <a:ext cx="4023360" cy="411480"/>
          </a:xfrm>
          <a:prstGeom prst="rect">
            <a:avLst/>
          </a:prstGeom>
          <a:noFill/>
          <a:ln/>
        </p:spPr>
        <p:txBody>
          <a:bodyPr wrap="square" lIns="0" tIns="0" rIns="0" bIns="0" rtlCol="0" anchor="ctr"/>
          <a:lstStyle/>
          <a:p>
            <a:pPr indent="0" marL="0">
              <a:buNone/>
            </a:pPr>
            <a:r>
              <a:rPr lang="en-US" sz="1800" b="1" dirty="0">
                <a:solidFill>
                  <a:srgbClr val="16262E"/>
                </a:solidFill>
                <a:latin typeface="Cambria" pitchFamily="34" charset="0"/>
                <a:ea typeface="Cambria" pitchFamily="34" charset="-122"/>
                <a:cs typeface="Cambria" pitchFamily="34" charset="-120"/>
              </a:rPr>
              <a:t>2. Protect privacy</a:t>
            </a:r>
            <a:endParaRPr lang="en-US" sz="1800" dirty="0"/>
          </a:p>
        </p:txBody>
      </p:sp>
      <p:sp>
        <p:nvSpPr>
          <p:cNvPr id="12" name="Text 8"/>
          <p:cNvSpPr txBox="1"/>
          <p:nvPr/>
        </p:nvSpPr>
        <p:spPr>
          <a:xfrm>
            <a:off x="7452360" y="1938528"/>
            <a:ext cx="4023360" cy="777240"/>
          </a:xfrm>
          <a:prstGeom prst="rect">
            <a:avLst/>
          </a:prstGeom>
          <a:noFill/>
          <a:ln/>
        </p:spPr>
        <p:txBody>
          <a:bodyPr wrap="square" lIns="0" tIns="0" rIns="0" bIns="0" rtlCol="0" anchor="t"/>
          <a:lstStyle/>
          <a:p>
            <a:pPr indent="0" marL="0">
              <a:buNone/>
            </a:pPr>
            <a:r>
              <a:rPr lang="en-US" sz="1400" dirty="0">
                <a:solidFill>
                  <a:srgbClr val="1F2D33"/>
                </a:solidFill>
                <a:latin typeface="Calibri" pitchFamily="34" charset="0"/>
                <a:ea typeface="Calibri" pitchFamily="34" charset="-122"/>
                <a:cs typeface="Calibri" pitchFamily="34" charset="-120"/>
              </a:rPr>
              <a:t>Minimise, pseudonymise or anonymise, encrypt and restrict access. Aggregate before sharing.</a:t>
            </a:r>
            <a:endParaRPr lang="en-US" sz="1400" dirty="0"/>
          </a:p>
        </p:txBody>
      </p:sp>
      <p:sp>
        <p:nvSpPr>
          <p:cNvPr id="13" name="Shape 9"/>
          <p:cNvSpPr/>
          <p:nvPr/>
        </p:nvSpPr>
        <p:spPr>
          <a:xfrm>
            <a:off x="548640" y="3017520"/>
            <a:ext cx="5394960" cy="1417320"/>
          </a:xfrm>
          <a:prstGeom prst="roundRect">
            <a:avLst>
              <a:gd name="adj" fmla="val 6452"/>
            </a:avLst>
          </a:prstGeom>
          <a:solidFill>
            <a:srgbClr val="F1F5F6"/>
          </a:solidFill>
          <a:ln w="12700">
            <a:solidFill>
              <a:srgbClr val="F1F5F6"/>
            </a:solidFill>
            <a:prstDash val="solid"/>
          </a:ln>
        </p:spPr>
      </p:sp>
      <p:sp>
        <p:nvSpPr>
          <p:cNvPr id="14" name="Shape 10"/>
          <p:cNvSpPr/>
          <p:nvPr/>
        </p:nvSpPr>
        <p:spPr>
          <a:xfrm>
            <a:off x="777240" y="3337560"/>
            <a:ext cx="777240" cy="777240"/>
          </a:xfrm>
          <a:prstGeom prst="ellipse">
            <a:avLst/>
          </a:prstGeom>
          <a:solidFill>
            <a:srgbClr val="16262E"/>
          </a:solidFill>
          <a:ln w="12700">
            <a:solidFill>
              <a:srgbClr val="16262E"/>
            </a:solidFill>
            <a:prstDash val="solid"/>
          </a:ln>
        </p:spPr>
      </p:sp>
      <p:pic>
        <p:nvPicPr>
          <p:cNvPr id="15" name="Image 2" descr="preencoded.png">    </p:cNvPr>
          <p:cNvPicPr>
            <a:picLocks noChangeAspect="1"/>
          </p:cNvPicPr>
          <p:nvPr/>
        </p:nvPicPr>
        <p:blipFill>
          <a:blip r:embed="rId3"/>
          <a:stretch>
            <a:fillRect/>
          </a:stretch>
        </p:blipFill>
        <p:spPr>
          <a:xfrm>
            <a:off x="971550" y="3531870"/>
            <a:ext cx="388620" cy="388620"/>
          </a:xfrm>
          <a:prstGeom prst="rect">
            <a:avLst/>
          </a:prstGeom>
        </p:spPr>
      </p:pic>
      <p:sp>
        <p:nvSpPr>
          <p:cNvPr id="16" name="Text 11"/>
          <p:cNvSpPr txBox="1"/>
          <p:nvPr/>
        </p:nvSpPr>
        <p:spPr>
          <a:xfrm>
            <a:off x="1737360" y="3154680"/>
            <a:ext cx="4023360" cy="411480"/>
          </a:xfrm>
          <a:prstGeom prst="rect">
            <a:avLst/>
          </a:prstGeom>
          <a:noFill/>
          <a:ln/>
        </p:spPr>
        <p:txBody>
          <a:bodyPr wrap="square" lIns="0" tIns="0" rIns="0" bIns="0" rtlCol="0" anchor="ctr"/>
          <a:lstStyle/>
          <a:p>
            <a:pPr indent="0" marL="0">
              <a:buNone/>
            </a:pPr>
            <a:r>
              <a:rPr lang="en-US" sz="1800" b="1" dirty="0">
                <a:solidFill>
                  <a:srgbClr val="16262E"/>
                </a:solidFill>
                <a:latin typeface="Cambria" pitchFamily="34" charset="0"/>
                <a:ea typeface="Cambria" pitchFamily="34" charset="-122"/>
                <a:cs typeface="Cambria" pitchFamily="34" charset="-120"/>
              </a:rPr>
              <a:t>3. Audit data and labels</a:t>
            </a:r>
            <a:endParaRPr lang="en-US" sz="1800" dirty="0"/>
          </a:p>
        </p:txBody>
      </p:sp>
      <p:sp>
        <p:nvSpPr>
          <p:cNvPr id="17" name="Text 12"/>
          <p:cNvSpPr txBox="1"/>
          <p:nvPr/>
        </p:nvSpPr>
        <p:spPr>
          <a:xfrm>
            <a:off x="1737360" y="3584448"/>
            <a:ext cx="4023360" cy="777240"/>
          </a:xfrm>
          <a:prstGeom prst="rect">
            <a:avLst/>
          </a:prstGeom>
          <a:noFill/>
          <a:ln/>
        </p:spPr>
        <p:txBody>
          <a:bodyPr wrap="square" lIns="0" tIns="0" rIns="0" bIns="0" rtlCol="0" anchor="t"/>
          <a:lstStyle/>
          <a:p>
            <a:pPr indent="0" marL="0">
              <a:buNone/>
            </a:pPr>
            <a:r>
              <a:rPr lang="en-US" sz="1400" dirty="0">
                <a:solidFill>
                  <a:srgbClr val="1F2D33"/>
                </a:solidFill>
                <a:latin typeface="Calibri" pitchFamily="34" charset="0"/>
                <a:ea typeface="Calibri" pitchFamily="34" charset="-122"/>
                <a:cs typeface="Calibri" pitchFamily="34" charset="-120"/>
              </a:rPr>
              <a:t>Check representation, missing data and proxy labels, like cost standing in for need.</a:t>
            </a:r>
            <a:endParaRPr lang="en-US" sz="1400" dirty="0"/>
          </a:p>
        </p:txBody>
      </p:sp>
      <p:sp>
        <p:nvSpPr>
          <p:cNvPr id="18" name="Shape 13"/>
          <p:cNvSpPr/>
          <p:nvPr/>
        </p:nvSpPr>
        <p:spPr>
          <a:xfrm>
            <a:off x="6263640" y="3017520"/>
            <a:ext cx="5394960" cy="1417320"/>
          </a:xfrm>
          <a:prstGeom prst="roundRect">
            <a:avLst>
              <a:gd name="adj" fmla="val 6452"/>
            </a:avLst>
          </a:prstGeom>
          <a:solidFill>
            <a:srgbClr val="F1F5F6"/>
          </a:solidFill>
          <a:ln w="12700">
            <a:solidFill>
              <a:srgbClr val="F1F5F6"/>
            </a:solidFill>
            <a:prstDash val="solid"/>
          </a:ln>
        </p:spPr>
      </p:sp>
      <p:sp>
        <p:nvSpPr>
          <p:cNvPr id="19" name="Shape 14"/>
          <p:cNvSpPr/>
          <p:nvPr/>
        </p:nvSpPr>
        <p:spPr>
          <a:xfrm>
            <a:off x="6492240" y="3337560"/>
            <a:ext cx="777240" cy="777240"/>
          </a:xfrm>
          <a:prstGeom prst="ellipse">
            <a:avLst/>
          </a:prstGeom>
          <a:solidFill>
            <a:srgbClr val="16262E"/>
          </a:solidFill>
          <a:ln w="12700">
            <a:solidFill>
              <a:srgbClr val="16262E"/>
            </a:solidFill>
            <a:prstDash val="solid"/>
          </a:ln>
        </p:spPr>
      </p:sp>
      <p:pic>
        <p:nvPicPr>
          <p:cNvPr id="20" name="Image 3" descr="preencoded.png">    </p:cNvPr>
          <p:cNvPicPr>
            <a:picLocks noChangeAspect="1"/>
          </p:cNvPicPr>
          <p:nvPr/>
        </p:nvPicPr>
        <p:blipFill>
          <a:blip r:embed="rId4"/>
          <a:stretch>
            <a:fillRect/>
          </a:stretch>
        </p:blipFill>
        <p:spPr>
          <a:xfrm>
            <a:off x="6686550" y="3531870"/>
            <a:ext cx="388620" cy="388620"/>
          </a:xfrm>
          <a:prstGeom prst="rect">
            <a:avLst/>
          </a:prstGeom>
        </p:spPr>
      </p:pic>
      <p:sp>
        <p:nvSpPr>
          <p:cNvPr id="21" name="Text 15"/>
          <p:cNvSpPr txBox="1"/>
          <p:nvPr/>
        </p:nvSpPr>
        <p:spPr>
          <a:xfrm>
            <a:off x="7452360" y="3154680"/>
            <a:ext cx="4023360" cy="411480"/>
          </a:xfrm>
          <a:prstGeom prst="rect">
            <a:avLst/>
          </a:prstGeom>
          <a:noFill/>
          <a:ln/>
        </p:spPr>
        <p:txBody>
          <a:bodyPr wrap="square" lIns="0" tIns="0" rIns="0" bIns="0" rtlCol="0" anchor="ctr"/>
          <a:lstStyle/>
          <a:p>
            <a:pPr indent="0" marL="0">
              <a:buNone/>
            </a:pPr>
            <a:r>
              <a:rPr lang="en-US" sz="1800" b="1" dirty="0">
                <a:solidFill>
                  <a:srgbClr val="16262E"/>
                </a:solidFill>
                <a:latin typeface="Cambria" pitchFamily="34" charset="0"/>
                <a:ea typeface="Cambria" pitchFamily="34" charset="-122"/>
                <a:cs typeface="Cambria" pitchFamily="34" charset="-120"/>
              </a:rPr>
              <a:t>4. Measure fairness</a:t>
            </a:r>
            <a:endParaRPr lang="en-US" sz="1800" dirty="0"/>
          </a:p>
        </p:txBody>
      </p:sp>
      <p:sp>
        <p:nvSpPr>
          <p:cNvPr id="22" name="Text 16"/>
          <p:cNvSpPr txBox="1"/>
          <p:nvPr/>
        </p:nvSpPr>
        <p:spPr>
          <a:xfrm>
            <a:off x="7452360" y="3584448"/>
            <a:ext cx="4023360" cy="777240"/>
          </a:xfrm>
          <a:prstGeom prst="rect">
            <a:avLst/>
          </a:prstGeom>
          <a:noFill/>
          <a:ln/>
        </p:spPr>
        <p:txBody>
          <a:bodyPr wrap="square" lIns="0" tIns="0" rIns="0" bIns="0" rtlCol="0" anchor="t"/>
          <a:lstStyle/>
          <a:p>
            <a:pPr indent="0" marL="0">
              <a:buNone/>
            </a:pPr>
            <a:r>
              <a:rPr lang="en-US" sz="1400" dirty="0">
                <a:solidFill>
                  <a:srgbClr val="1F2D33"/>
                </a:solidFill>
                <a:latin typeface="Calibri" pitchFamily="34" charset="0"/>
                <a:ea typeface="Calibri" pitchFamily="34" charset="-122"/>
                <a:cs typeface="Calibri" pitchFamily="34" charset="-120"/>
              </a:rPr>
              <a:t>Compare outcomes and error rates across groups; mitigate by re-weighting or re-labelling.</a:t>
            </a:r>
            <a:endParaRPr lang="en-US" sz="1400" dirty="0"/>
          </a:p>
        </p:txBody>
      </p:sp>
      <p:sp>
        <p:nvSpPr>
          <p:cNvPr id="23" name="Shape 17"/>
          <p:cNvSpPr/>
          <p:nvPr/>
        </p:nvSpPr>
        <p:spPr>
          <a:xfrm>
            <a:off x="548640" y="4663440"/>
            <a:ext cx="5394960" cy="1417320"/>
          </a:xfrm>
          <a:prstGeom prst="roundRect">
            <a:avLst>
              <a:gd name="adj" fmla="val 6452"/>
            </a:avLst>
          </a:prstGeom>
          <a:solidFill>
            <a:srgbClr val="F1F5F6"/>
          </a:solidFill>
          <a:ln w="12700">
            <a:solidFill>
              <a:srgbClr val="F1F5F6"/>
            </a:solidFill>
            <a:prstDash val="solid"/>
          </a:ln>
        </p:spPr>
      </p:sp>
      <p:sp>
        <p:nvSpPr>
          <p:cNvPr id="24" name="Shape 18"/>
          <p:cNvSpPr/>
          <p:nvPr/>
        </p:nvSpPr>
        <p:spPr>
          <a:xfrm>
            <a:off x="777240" y="4983480"/>
            <a:ext cx="777240" cy="777240"/>
          </a:xfrm>
          <a:prstGeom prst="ellipse">
            <a:avLst/>
          </a:prstGeom>
          <a:solidFill>
            <a:srgbClr val="E76F51"/>
          </a:solidFill>
          <a:ln w="12700">
            <a:solidFill>
              <a:srgbClr val="E76F51"/>
            </a:solidFill>
            <a:prstDash val="solid"/>
          </a:ln>
        </p:spPr>
      </p:sp>
      <p:pic>
        <p:nvPicPr>
          <p:cNvPr id="25" name="Image 4" descr="preencoded.png">    </p:cNvPr>
          <p:cNvPicPr>
            <a:picLocks noChangeAspect="1"/>
          </p:cNvPicPr>
          <p:nvPr/>
        </p:nvPicPr>
        <p:blipFill>
          <a:blip r:embed="rId5"/>
          <a:stretch>
            <a:fillRect/>
          </a:stretch>
        </p:blipFill>
        <p:spPr>
          <a:xfrm>
            <a:off x="971550" y="5177790"/>
            <a:ext cx="388620" cy="388620"/>
          </a:xfrm>
          <a:prstGeom prst="rect">
            <a:avLst/>
          </a:prstGeom>
        </p:spPr>
      </p:pic>
      <p:sp>
        <p:nvSpPr>
          <p:cNvPr id="26" name="Text 19"/>
          <p:cNvSpPr txBox="1"/>
          <p:nvPr/>
        </p:nvSpPr>
        <p:spPr>
          <a:xfrm>
            <a:off x="1737360" y="4800600"/>
            <a:ext cx="4023360" cy="411480"/>
          </a:xfrm>
          <a:prstGeom prst="rect">
            <a:avLst/>
          </a:prstGeom>
          <a:noFill/>
          <a:ln/>
        </p:spPr>
        <p:txBody>
          <a:bodyPr wrap="square" lIns="0" tIns="0" rIns="0" bIns="0" rtlCol="0" anchor="ctr"/>
          <a:lstStyle/>
          <a:p>
            <a:pPr indent="0" marL="0">
              <a:buNone/>
            </a:pPr>
            <a:r>
              <a:rPr lang="en-US" sz="1800" b="1" dirty="0">
                <a:solidFill>
                  <a:srgbClr val="16262E"/>
                </a:solidFill>
                <a:latin typeface="Cambria" pitchFamily="34" charset="0"/>
                <a:ea typeface="Cambria" pitchFamily="34" charset="-122"/>
                <a:cs typeface="Cambria" pitchFamily="34" charset="-120"/>
              </a:rPr>
              <a:t>5. Be transparent</a:t>
            </a:r>
            <a:endParaRPr lang="en-US" sz="1800" dirty="0"/>
          </a:p>
        </p:txBody>
      </p:sp>
      <p:sp>
        <p:nvSpPr>
          <p:cNvPr id="27" name="Text 20"/>
          <p:cNvSpPr txBox="1"/>
          <p:nvPr/>
        </p:nvSpPr>
        <p:spPr>
          <a:xfrm>
            <a:off x="1737360" y="5230368"/>
            <a:ext cx="4023360" cy="777240"/>
          </a:xfrm>
          <a:prstGeom prst="rect">
            <a:avLst/>
          </a:prstGeom>
          <a:noFill/>
          <a:ln/>
        </p:spPr>
        <p:txBody>
          <a:bodyPr wrap="square" lIns="0" tIns="0" rIns="0" bIns="0" rtlCol="0" anchor="t"/>
          <a:lstStyle/>
          <a:p>
            <a:pPr indent="0" marL="0">
              <a:buNone/>
            </a:pPr>
            <a:r>
              <a:rPr lang="en-US" sz="1400" dirty="0">
                <a:solidFill>
                  <a:srgbClr val="1F2D33"/>
                </a:solidFill>
                <a:latin typeface="Calibri" pitchFamily="34" charset="0"/>
                <a:ea typeface="Calibri" pitchFamily="34" charset="-122"/>
                <a:cs typeface="Calibri" pitchFamily="34" charset="-120"/>
              </a:rPr>
              <a:t>Publish datasheets and model cards; use explainability tools such as SHAP.</a:t>
            </a:r>
            <a:endParaRPr lang="en-US" sz="1400" dirty="0"/>
          </a:p>
        </p:txBody>
      </p:sp>
      <p:sp>
        <p:nvSpPr>
          <p:cNvPr id="28" name="Shape 21"/>
          <p:cNvSpPr/>
          <p:nvPr/>
        </p:nvSpPr>
        <p:spPr>
          <a:xfrm>
            <a:off x="6263640" y="4663440"/>
            <a:ext cx="5394960" cy="1417320"/>
          </a:xfrm>
          <a:prstGeom prst="roundRect">
            <a:avLst>
              <a:gd name="adj" fmla="val 6452"/>
            </a:avLst>
          </a:prstGeom>
          <a:solidFill>
            <a:srgbClr val="F1F5F6"/>
          </a:solidFill>
          <a:ln w="12700">
            <a:solidFill>
              <a:srgbClr val="F1F5F6"/>
            </a:solidFill>
            <a:prstDash val="solid"/>
          </a:ln>
        </p:spPr>
      </p:sp>
      <p:sp>
        <p:nvSpPr>
          <p:cNvPr id="29" name="Shape 22"/>
          <p:cNvSpPr/>
          <p:nvPr/>
        </p:nvSpPr>
        <p:spPr>
          <a:xfrm>
            <a:off x="6492240" y="4983480"/>
            <a:ext cx="777240" cy="777240"/>
          </a:xfrm>
          <a:prstGeom prst="ellipse">
            <a:avLst/>
          </a:prstGeom>
          <a:solidFill>
            <a:srgbClr val="E76F51"/>
          </a:solidFill>
          <a:ln w="12700">
            <a:solidFill>
              <a:srgbClr val="E76F51"/>
            </a:solidFill>
            <a:prstDash val="solid"/>
          </a:ln>
        </p:spPr>
      </p:sp>
      <p:pic>
        <p:nvPicPr>
          <p:cNvPr id="30" name="Image 5" descr="preencoded.png">    </p:cNvPr>
          <p:cNvPicPr>
            <a:picLocks noChangeAspect="1"/>
          </p:cNvPicPr>
          <p:nvPr/>
        </p:nvPicPr>
        <p:blipFill>
          <a:blip r:embed="rId6"/>
          <a:stretch>
            <a:fillRect/>
          </a:stretch>
        </p:blipFill>
        <p:spPr>
          <a:xfrm>
            <a:off x="6686550" y="5177790"/>
            <a:ext cx="388620" cy="388620"/>
          </a:xfrm>
          <a:prstGeom prst="rect">
            <a:avLst/>
          </a:prstGeom>
        </p:spPr>
      </p:pic>
      <p:sp>
        <p:nvSpPr>
          <p:cNvPr id="31" name="Text 23"/>
          <p:cNvSpPr txBox="1"/>
          <p:nvPr/>
        </p:nvSpPr>
        <p:spPr>
          <a:xfrm>
            <a:off x="7452360" y="4800600"/>
            <a:ext cx="4023360" cy="411480"/>
          </a:xfrm>
          <a:prstGeom prst="rect">
            <a:avLst/>
          </a:prstGeom>
          <a:noFill/>
          <a:ln/>
        </p:spPr>
        <p:txBody>
          <a:bodyPr wrap="square" lIns="0" tIns="0" rIns="0" bIns="0" rtlCol="0" anchor="ctr"/>
          <a:lstStyle/>
          <a:p>
            <a:pPr indent="0" marL="0">
              <a:buNone/>
            </a:pPr>
            <a:r>
              <a:rPr lang="en-US" sz="1800" b="1" dirty="0">
                <a:solidFill>
                  <a:srgbClr val="16262E"/>
                </a:solidFill>
                <a:latin typeface="Cambria" pitchFamily="34" charset="0"/>
                <a:ea typeface="Cambria" pitchFamily="34" charset="-122"/>
                <a:cs typeface="Cambria" pitchFamily="34" charset="-120"/>
              </a:rPr>
              <a:t>6. Stay accountable</a:t>
            </a:r>
            <a:endParaRPr lang="en-US" sz="1800" dirty="0"/>
          </a:p>
        </p:txBody>
      </p:sp>
      <p:sp>
        <p:nvSpPr>
          <p:cNvPr id="32" name="Text 24"/>
          <p:cNvSpPr txBox="1"/>
          <p:nvPr/>
        </p:nvSpPr>
        <p:spPr>
          <a:xfrm>
            <a:off x="7452360" y="5230368"/>
            <a:ext cx="4023360" cy="777240"/>
          </a:xfrm>
          <a:prstGeom prst="rect">
            <a:avLst/>
          </a:prstGeom>
          <a:noFill/>
          <a:ln/>
        </p:spPr>
        <p:txBody>
          <a:bodyPr wrap="square" lIns="0" tIns="0" rIns="0" bIns="0" rtlCol="0" anchor="t"/>
          <a:lstStyle/>
          <a:p>
            <a:pPr indent="0" marL="0">
              <a:buNone/>
            </a:pPr>
            <a:r>
              <a:rPr lang="en-US" sz="1400" dirty="0">
                <a:solidFill>
                  <a:srgbClr val="1F2D33"/>
                </a:solidFill>
                <a:latin typeface="Calibri" pitchFamily="34" charset="0"/>
                <a:ea typeface="Calibri" pitchFamily="34" charset="-122"/>
                <a:cs typeface="Calibri" pitchFamily="34" charset="-120"/>
              </a:rPr>
              <a:t>Assign owners, keep humans in the loop, monitor drift and offer appeals.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62E"/>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Mapping to core ethical principles</a:t>
            </a:r>
            <a:endParaRPr lang="en-US" sz="3600" dirty="0"/>
          </a:p>
        </p:txBody>
      </p:sp>
      <p:sp>
        <p:nvSpPr>
          <p:cNvPr id="3" name="Shape 1"/>
          <p:cNvSpPr/>
          <p:nvPr/>
        </p:nvSpPr>
        <p:spPr>
          <a:xfrm>
            <a:off x="548640" y="1463040"/>
            <a:ext cx="2560320" cy="4206240"/>
          </a:xfrm>
          <a:prstGeom prst="roundRect">
            <a:avLst>
              <a:gd name="adj" fmla="val 3571"/>
            </a:avLst>
          </a:prstGeom>
          <a:solidFill>
            <a:srgbClr val="22363F"/>
          </a:solidFill>
          <a:ln w="12700">
            <a:solidFill>
              <a:srgbClr val="22363F"/>
            </a:solidFill>
            <a:prstDash val="solid"/>
          </a:ln>
        </p:spPr>
      </p:sp>
      <p:sp>
        <p:nvSpPr>
          <p:cNvPr id="4" name="Shape 2"/>
          <p:cNvSpPr/>
          <p:nvPr/>
        </p:nvSpPr>
        <p:spPr>
          <a:xfrm>
            <a:off x="1417320" y="1737360"/>
            <a:ext cx="822960" cy="822960"/>
          </a:xfrm>
          <a:prstGeom prst="ellipse">
            <a:avLst/>
          </a:prstGeom>
          <a:solidFill>
            <a:srgbClr val="2A9D8F"/>
          </a:solidFill>
          <a:ln w="12700">
            <a:solidFill>
              <a:srgbClr val="2A9D8F"/>
            </a:solidFill>
            <a:prstDash val="solid"/>
          </a:ln>
        </p:spPr>
      </p:sp>
      <p:pic>
        <p:nvPicPr>
          <p:cNvPr id="5" name="Image 0" descr="preencoded.png">    </p:cNvPr>
          <p:cNvPicPr>
            <a:picLocks noChangeAspect="1"/>
          </p:cNvPicPr>
          <p:nvPr/>
        </p:nvPicPr>
        <p:blipFill>
          <a:blip r:embed="rId1"/>
          <a:stretch>
            <a:fillRect/>
          </a:stretch>
        </p:blipFill>
        <p:spPr>
          <a:xfrm>
            <a:off x="1623060" y="1943100"/>
            <a:ext cx="411480" cy="411480"/>
          </a:xfrm>
          <a:prstGeom prst="rect">
            <a:avLst/>
          </a:prstGeom>
        </p:spPr>
      </p:pic>
      <p:sp>
        <p:nvSpPr>
          <p:cNvPr id="6" name="Text 3"/>
          <p:cNvSpPr txBox="1"/>
          <p:nvPr/>
        </p:nvSpPr>
        <p:spPr>
          <a:xfrm>
            <a:off x="685800" y="2743200"/>
            <a:ext cx="22860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Fairness</a:t>
            </a:r>
            <a:endParaRPr lang="en-US" sz="2200" dirty="0"/>
          </a:p>
        </p:txBody>
      </p:sp>
      <p:sp>
        <p:nvSpPr>
          <p:cNvPr id="7" name="Text 4"/>
          <p:cNvSpPr txBox="1"/>
          <p:nvPr/>
        </p:nvSpPr>
        <p:spPr>
          <a:xfrm>
            <a:off x="731520" y="3291840"/>
            <a:ext cx="2194560" cy="822960"/>
          </a:xfrm>
          <a:prstGeom prst="rect">
            <a:avLst/>
          </a:prstGeom>
          <a:noFill/>
          <a:ln/>
        </p:spPr>
        <p:txBody>
          <a:bodyPr wrap="square" lIns="0" tIns="0" rIns="0" bIns="0" rtlCol="0" anchor="t"/>
          <a:lstStyle/>
          <a:p>
            <a:pPr algn="ctr" indent="0" marL="0">
              <a:buNone/>
            </a:pPr>
            <a:r>
              <a:rPr lang="en-US" sz="1500" dirty="0">
                <a:solidFill>
                  <a:srgbClr val="D5E1E4"/>
                </a:solidFill>
                <a:latin typeface="Calibri" pitchFamily="34" charset="0"/>
                <a:ea typeface="Calibri" pitchFamily="34" charset="-122"/>
                <a:cs typeface="Calibri" pitchFamily="34" charset="-120"/>
              </a:rPr>
              <a:t>Equitable outcomes across groups</a:t>
            </a:r>
            <a:endParaRPr lang="en-US" sz="1500" dirty="0"/>
          </a:p>
        </p:txBody>
      </p:sp>
      <p:sp>
        <p:nvSpPr>
          <p:cNvPr id="8" name="Text 5"/>
          <p:cNvSpPr txBox="1"/>
          <p:nvPr/>
        </p:nvSpPr>
        <p:spPr>
          <a:xfrm>
            <a:off x="731520" y="4206240"/>
            <a:ext cx="2194560" cy="1280160"/>
          </a:xfrm>
          <a:prstGeom prst="rect">
            <a:avLst/>
          </a:prstGeom>
          <a:noFill/>
          <a:ln/>
        </p:spPr>
        <p:txBody>
          <a:bodyPr wrap="square" lIns="0" tIns="0" rIns="0" bIns="0" rtlCol="0" anchor="t"/>
          <a:lstStyle/>
          <a:p>
            <a:pPr algn="ctr" indent="0" marL="0">
              <a:buNone/>
            </a:pPr>
            <a:r>
              <a:rPr lang="en-US" sz="1400" b="1" dirty="0">
                <a:solidFill>
                  <a:srgbClr val="2A9D8F"/>
                </a:solidFill>
                <a:latin typeface="Calibri" pitchFamily="34" charset="0"/>
                <a:ea typeface="Calibri" pitchFamily="34" charset="-122"/>
                <a:cs typeface="Calibri" pitchFamily="34" charset="-120"/>
              </a:rPr>
              <a:t>In practice</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Disparate impact ratio, equalised odds</a:t>
            </a:r>
            <a:endParaRPr lang="en-US" sz="1400" dirty="0"/>
          </a:p>
        </p:txBody>
      </p:sp>
      <p:sp>
        <p:nvSpPr>
          <p:cNvPr id="9" name="Shape 6"/>
          <p:cNvSpPr/>
          <p:nvPr/>
        </p:nvSpPr>
        <p:spPr>
          <a:xfrm>
            <a:off x="3383280" y="1463040"/>
            <a:ext cx="2560320" cy="4206240"/>
          </a:xfrm>
          <a:prstGeom prst="roundRect">
            <a:avLst>
              <a:gd name="adj" fmla="val 3571"/>
            </a:avLst>
          </a:prstGeom>
          <a:solidFill>
            <a:srgbClr val="22363F"/>
          </a:solidFill>
          <a:ln w="12700">
            <a:solidFill>
              <a:srgbClr val="22363F"/>
            </a:solidFill>
            <a:prstDash val="solid"/>
          </a:ln>
        </p:spPr>
      </p:sp>
      <p:sp>
        <p:nvSpPr>
          <p:cNvPr id="10" name="Shape 7"/>
          <p:cNvSpPr/>
          <p:nvPr/>
        </p:nvSpPr>
        <p:spPr>
          <a:xfrm>
            <a:off x="4251960" y="1737360"/>
            <a:ext cx="822960" cy="822960"/>
          </a:xfrm>
          <a:prstGeom prst="ellipse">
            <a:avLst/>
          </a:prstGeom>
          <a:solidFill>
            <a:srgbClr val="E9C46A"/>
          </a:solidFill>
          <a:ln w="12700">
            <a:solidFill>
              <a:srgbClr val="E9C46A"/>
            </a:solidFill>
            <a:prstDash val="solid"/>
          </a:ln>
        </p:spPr>
      </p:sp>
      <p:pic>
        <p:nvPicPr>
          <p:cNvPr id="11" name="Image 1" descr="preencoded.png">    </p:cNvPr>
          <p:cNvPicPr>
            <a:picLocks noChangeAspect="1"/>
          </p:cNvPicPr>
          <p:nvPr/>
        </p:nvPicPr>
        <p:blipFill>
          <a:blip r:embed="rId2"/>
          <a:stretch>
            <a:fillRect/>
          </a:stretch>
        </p:blipFill>
        <p:spPr>
          <a:xfrm>
            <a:off x="4457700" y="1943100"/>
            <a:ext cx="411480" cy="411480"/>
          </a:xfrm>
          <a:prstGeom prst="rect">
            <a:avLst/>
          </a:prstGeom>
        </p:spPr>
      </p:pic>
      <p:sp>
        <p:nvSpPr>
          <p:cNvPr id="12" name="Text 8"/>
          <p:cNvSpPr txBox="1"/>
          <p:nvPr/>
        </p:nvSpPr>
        <p:spPr>
          <a:xfrm>
            <a:off x="3520440" y="2743200"/>
            <a:ext cx="22860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Transparency</a:t>
            </a:r>
            <a:endParaRPr lang="en-US" sz="2200" dirty="0"/>
          </a:p>
        </p:txBody>
      </p:sp>
      <p:sp>
        <p:nvSpPr>
          <p:cNvPr id="13" name="Text 9"/>
          <p:cNvSpPr txBox="1"/>
          <p:nvPr/>
        </p:nvSpPr>
        <p:spPr>
          <a:xfrm>
            <a:off x="3566160" y="3291840"/>
            <a:ext cx="2194560" cy="822960"/>
          </a:xfrm>
          <a:prstGeom prst="rect">
            <a:avLst/>
          </a:prstGeom>
          <a:noFill/>
          <a:ln/>
        </p:spPr>
        <p:txBody>
          <a:bodyPr wrap="square" lIns="0" tIns="0" rIns="0" bIns="0" rtlCol="0" anchor="t"/>
          <a:lstStyle/>
          <a:p>
            <a:pPr algn="ctr" indent="0" marL="0">
              <a:buNone/>
            </a:pPr>
            <a:r>
              <a:rPr lang="en-US" sz="1500" dirty="0">
                <a:solidFill>
                  <a:srgbClr val="D5E1E4"/>
                </a:solidFill>
                <a:latin typeface="Calibri" pitchFamily="34" charset="0"/>
                <a:ea typeface="Calibri" pitchFamily="34" charset="-122"/>
                <a:cs typeface="Calibri" pitchFamily="34" charset="-120"/>
              </a:rPr>
              <a:t>Decisions people can understand</a:t>
            </a:r>
            <a:endParaRPr lang="en-US" sz="1500" dirty="0"/>
          </a:p>
        </p:txBody>
      </p:sp>
      <p:sp>
        <p:nvSpPr>
          <p:cNvPr id="14" name="Text 10"/>
          <p:cNvSpPr txBox="1"/>
          <p:nvPr/>
        </p:nvSpPr>
        <p:spPr>
          <a:xfrm>
            <a:off x="3566160" y="4206240"/>
            <a:ext cx="2194560" cy="1280160"/>
          </a:xfrm>
          <a:prstGeom prst="rect">
            <a:avLst/>
          </a:prstGeom>
          <a:noFill/>
          <a:ln/>
        </p:spPr>
        <p:txBody>
          <a:bodyPr wrap="square" lIns="0" tIns="0" rIns="0" bIns="0" rtlCol="0" anchor="t"/>
          <a:lstStyle/>
          <a:p>
            <a:pPr algn="ctr" indent="0" marL="0">
              <a:buNone/>
            </a:pPr>
            <a:r>
              <a:rPr lang="en-US" sz="1400" b="1" dirty="0">
                <a:solidFill>
                  <a:srgbClr val="E9C46A"/>
                </a:solidFill>
                <a:latin typeface="Calibri" pitchFamily="34" charset="0"/>
                <a:ea typeface="Calibri" pitchFamily="34" charset="-122"/>
                <a:cs typeface="Calibri" pitchFamily="34" charset="-120"/>
              </a:rPr>
              <a:t>In practice</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Model cards, SHAP, documented labels</a:t>
            </a:r>
            <a:endParaRPr lang="en-US" sz="1400" dirty="0"/>
          </a:p>
        </p:txBody>
      </p:sp>
      <p:sp>
        <p:nvSpPr>
          <p:cNvPr id="15" name="Shape 11"/>
          <p:cNvSpPr/>
          <p:nvPr/>
        </p:nvSpPr>
        <p:spPr>
          <a:xfrm>
            <a:off x="6217920" y="1463040"/>
            <a:ext cx="2560320" cy="4206240"/>
          </a:xfrm>
          <a:prstGeom prst="roundRect">
            <a:avLst>
              <a:gd name="adj" fmla="val 3571"/>
            </a:avLst>
          </a:prstGeom>
          <a:solidFill>
            <a:srgbClr val="22363F"/>
          </a:solidFill>
          <a:ln w="12700">
            <a:solidFill>
              <a:srgbClr val="22363F"/>
            </a:solidFill>
            <a:prstDash val="solid"/>
          </a:ln>
        </p:spPr>
      </p:sp>
      <p:sp>
        <p:nvSpPr>
          <p:cNvPr id="16" name="Shape 12"/>
          <p:cNvSpPr/>
          <p:nvPr/>
        </p:nvSpPr>
        <p:spPr>
          <a:xfrm>
            <a:off x="7086600" y="1737360"/>
            <a:ext cx="822960" cy="822960"/>
          </a:xfrm>
          <a:prstGeom prst="ellipse">
            <a:avLst/>
          </a:prstGeom>
          <a:solidFill>
            <a:srgbClr val="E76F51"/>
          </a:solidFill>
          <a:ln w="12700">
            <a:solidFill>
              <a:srgbClr val="E76F51"/>
            </a:solidFill>
            <a:prstDash val="solid"/>
          </a:ln>
        </p:spPr>
      </p:sp>
      <p:pic>
        <p:nvPicPr>
          <p:cNvPr id="17" name="Image 2" descr="preencoded.png">    </p:cNvPr>
          <p:cNvPicPr>
            <a:picLocks noChangeAspect="1"/>
          </p:cNvPicPr>
          <p:nvPr/>
        </p:nvPicPr>
        <p:blipFill>
          <a:blip r:embed="rId3"/>
          <a:stretch>
            <a:fillRect/>
          </a:stretch>
        </p:blipFill>
        <p:spPr>
          <a:xfrm>
            <a:off x="7292340" y="1943100"/>
            <a:ext cx="411480" cy="411480"/>
          </a:xfrm>
          <a:prstGeom prst="rect">
            <a:avLst/>
          </a:prstGeom>
        </p:spPr>
      </p:pic>
      <p:sp>
        <p:nvSpPr>
          <p:cNvPr id="18" name="Text 13"/>
          <p:cNvSpPr txBox="1"/>
          <p:nvPr/>
        </p:nvSpPr>
        <p:spPr>
          <a:xfrm>
            <a:off x="6355080" y="2743200"/>
            <a:ext cx="22860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Accountability</a:t>
            </a:r>
            <a:endParaRPr lang="en-US" sz="2200" dirty="0"/>
          </a:p>
        </p:txBody>
      </p:sp>
      <p:sp>
        <p:nvSpPr>
          <p:cNvPr id="19" name="Text 14"/>
          <p:cNvSpPr txBox="1"/>
          <p:nvPr/>
        </p:nvSpPr>
        <p:spPr>
          <a:xfrm>
            <a:off x="6400800" y="3291840"/>
            <a:ext cx="2194560" cy="822960"/>
          </a:xfrm>
          <a:prstGeom prst="rect">
            <a:avLst/>
          </a:prstGeom>
          <a:noFill/>
          <a:ln/>
        </p:spPr>
        <p:txBody>
          <a:bodyPr wrap="square" lIns="0" tIns="0" rIns="0" bIns="0" rtlCol="0" anchor="t"/>
          <a:lstStyle/>
          <a:p>
            <a:pPr algn="ctr" indent="0" marL="0">
              <a:buNone/>
            </a:pPr>
            <a:r>
              <a:rPr lang="en-US" sz="1500" dirty="0">
                <a:solidFill>
                  <a:srgbClr val="D5E1E4"/>
                </a:solidFill>
                <a:latin typeface="Calibri" pitchFamily="34" charset="0"/>
                <a:ea typeface="Calibri" pitchFamily="34" charset="-122"/>
                <a:cs typeface="Calibri" pitchFamily="34" charset="-120"/>
              </a:rPr>
              <a:t>Clear ownership and redress</a:t>
            </a:r>
            <a:endParaRPr lang="en-US" sz="1500" dirty="0"/>
          </a:p>
        </p:txBody>
      </p:sp>
      <p:sp>
        <p:nvSpPr>
          <p:cNvPr id="20" name="Text 15"/>
          <p:cNvSpPr txBox="1"/>
          <p:nvPr/>
        </p:nvSpPr>
        <p:spPr>
          <a:xfrm>
            <a:off x="6400800" y="4206240"/>
            <a:ext cx="2194560" cy="1280160"/>
          </a:xfrm>
          <a:prstGeom prst="rect">
            <a:avLst/>
          </a:prstGeom>
          <a:noFill/>
          <a:ln/>
        </p:spPr>
        <p:txBody>
          <a:bodyPr wrap="square" lIns="0" tIns="0" rIns="0" bIns="0" rtlCol="0" anchor="t"/>
          <a:lstStyle/>
          <a:p>
            <a:pPr algn="ctr" indent="0" marL="0">
              <a:buNone/>
            </a:pPr>
            <a:r>
              <a:rPr lang="en-US" sz="1400" b="1" dirty="0">
                <a:solidFill>
                  <a:srgbClr val="E76F51"/>
                </a:solidFill>
                <a:latin typeface="Calibri" pitchFamily="34" charset="0"/>
                <a:ea typeface="Calibri" pitchFamily="34" charset="-122"/>
                <a:cs typeface="Calibri" pitchFamily="34" charset="-120"/>
              </a:rPr>
              <a:t>In practice</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Audit logs, human review, appeals</a:t>
            </a:r>
            <a:endParaRPr lang="en-US" sz="1400" dirty="0"/>
          </a:p>
        </p:txBody>
      </p:sp>
      <p:sp>
        <p:nvSpPr>
          <p:cNvPr id="21" name="Shape 16"/>
          <p:cNvSpPr/>
          <p:nvPr/>
        </p:nvSpPr>
        <p:spPr>
          <a:xfrm>
            <a:off x="9052560" y="1463040"/>
            <a:ext cx="2560320" cy="4206240"/>
          </a:xfrm>
          <a:prstGeom prst="roundRect">
            <a:avLst>
              <a:gd name="adj" fmla="val 3571"/>
            </a:avLst>
          </a:prstGeom>
          <a:solidFill>
            <a:srgbClr val="22363F"/>
          </a:solidFill>
          <a:ln w="12700">
            <a:solidFill>
              <a:srgbClr val="22363F"/>
            </a:solidFill>
            <a:prstDash val="solid"/>
          </a:ln>
        </p:spPr>
      </p:sp>
      <p:sp>
        <p:nvSpPr>
          <p:cNvPr id="22" name="Shape 17"/>
          <p:cNvSpPr/>
          <p:nvPr/>
        </p:nvSpPr>
        <p:spPr>
          <a:xfrm>
            <a:off x="9921240" y="1737360"/>
            <a:ext cx="822960" cy="822960"/>
          </a:xfrm>
          <a:prstGeom prst="ellipse">
            <a:avLst/>
          </a:prstGeom>
          <a:solidFill>
            <a:srgbClr val="2A9D8F"/>
          </a:solidFill>
          <a:ln w="12700">
            <a:solidFill>
              <a:srgbClr val="2A9D8F"/>
            </a:solidFill>
            <a:prstDash val="solid"/>
          </a:ln>
        </p:spPr>
      </p:sp>
      <p:pic>
        <p:nvPicPr>
          <p:cNvPr id="23" name="Image 3" descr="preencoded.png">    </p:cNvPr>
          <p:cNvPicPr>
            <a:picLocks noChangeAspect="1"/>
          </p:cNvPicPr>
          <p:nvPr/>
        </p:nvPicPr>
        <p:blipFill>
          <a:blip r:embed="rId4"/>
          <a:stretch>
            <a:fillRect/>
          </a:stretch>
        </p:blipFill>
        <p:spPr>
          <a:xfrm>
            <a:off x="10126980" y="1943100"/>
            <a:ext cx="411480" cy="411480"/>
          </a:xfrm>
          <a:prstGeom prst="rect">
            <a:avLst/>
          </a:prstGeom>
        </p:spPr>
      </p:pic>
      <p:sp>
        <p:nvSpPr>
          <p:cNvPr id="24" name="Text 18"/>
          <p:cNvSpPr txBox="1"/>
          <p:nvPr/>
        </p:nvSpPr>
        <p:spPr>
          <a:xfrm>
            <a:off x="9189720" y="2743200"/>
            <a:ext cx="22860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Privacy</a:t>
            </a:r>
            <a:endParaRPr lang="en-US" sz="2200" dirty="0"/>
          </a:p>
        </p:txBody>
      </p:sp>
      <p:sp>
        <p:nvSpPr>
          <p:cNvPr id="25" name="Text 19"/>
          <p:cNvSpPr txBox="1"/>
          <p:nvPr/>
        </p:nvSpPr>
        <p:spPr>
          <a:xfrm>
            <a:off x="9235440" y="3291840"/>
            <a:ext cx="2194560" cy="822960"/>
          </a:xfrm>
          <a:prstGeom prst="rect">
            <a:avLst/>
          </a:prstGeom>
          <a:noFill/>
          <a:ln/>
        </p:spPr>
        <p:txBody>
          <a:bodyPr wrap="square" lIns="0" tIns="0" rIns="0" bIns="0" rtlCol="0" anchor="t"/>
          <a:lstStyle/>
          <a:p>
            <a:pPr algn="ctr" indent="0" marL="0">
              <a:buNone/>
            </a:pPr>
            <a:r>
              <a:rPr lang="en-US" sz="1500" dirty="0">
                <a:solidFill>
                  <a:srgbClr val="D5E1E4"/>
                </a:solidFill>
                <a:latin typeface="Calibri" pitchFamily="34" charset="0"/>
                <a:ea typeface="Calibri" pitchFamily="34" charset="-122"/>
                <a:cs typeface="Calibri" pitchFamily="34" charset="-120"/>
              </a:rPr>
              <a:t>Least data, strongest protection</a:t>
            </a:r>
            <a:endParaRPr lang="en-US" sz="1500" dirty="0"/>
          </a:p>
        </p:txBody>
      </p:sp>
      <p:sp>
        <p:nvSpPr>
          <p:cNvPr id="26" name="Text 20"/>
          <p:cNvSpPr txBox="1"/>
          <p:nvPr/>
        </p:nvSpPr>
        <p:spPr>
          <a:xfrm>
            <a:off x="9235440" y="4206240"/>
            <a:ext cx="2194560" cy="1280160"/>
          </a:xfrm>
          <a:prstGeom prst="rect">
            <a:avLst/>
          </a:prstGeom>
          <a:noFill/>
          <a:ln/>
        </p:spPr>
        <p:txBody>
          <a:bodyPr wrap="square" lIns="0" tIns="0" rIns="0" bIns="0" rtlCol="0" anchor="t"/>
          <a:lstStyle/>
          <a:p>
            <a:pPr algn="ctr" indent="0" marL="0">
              <a:buNone/>
            </a:pPr>
            <a:r>
              <a:rPr lang="en-US" sz="1400" b="1" dirty="0">
                <a:solidFill>
                  <a:srgbClr val="2A9D8F"/>
                </a:solidFill>
                <a:latin typeface="Calibri" pitchFamily="34" charset="0"/>
                <a:ea typeface="Calibri" pitchFamily="34" charset="-122"/>
                <a:cs typeface="Calibri" pitchFamily="34" charset="-120"/>
              </a:rPr>
              <a:t>In practice</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usecols, hashing, encryption, retention</a:t>
            </a:r>
            <a:endParaRPr lang="en-US" sz="1400" dirty="0"/>
          </a:p>
        </p:txBody>
      </p:sp>
      <p:sp>
        <p:nvSpPr>
          <p:cNvPr id="27" name="Text 21"/>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300" dirty="0">
                <a:solidFill>
                  <a:srgbClr val="AFC3C9"/>
                </a:solidFill>
                <a:latin typeface="Calibri" pitchFamily="34" charset="0"/>
                <a:ea typeface="Calibri" pitchFamily="34" charset="-122"/>
                <a:cs typeface="Calibri" pitchFamily="34" charset="-120"/>
              </a:rPr>
              <a:t>Frameworks: OECD AI Principles · NIST AI Risk Management Framework · EU AI Act (hiring and credit are "high-risk")</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62E"/>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Takeaways</a:t>
            </a:r>
            <a:endParaRPr lang="en-US" sz="3600" dirty="0"/>
          </a:p>
        </p:txBody>
      </p:sp>
      <p:sp>
        <p:nvSpPr>
          <p:cNvPr id="3" name="Shape 1"/>
          <p:cNvSpPr/>
          <p:nvPr/>
        </p:nvSpPr>
        <p:spPr>
          <a:xfrm>
            <a:off x="548640" y="1417320"/>
            <a:ext cx="685800" cy="685800"/>
          </a:xfrm>
          <a:prstGeom prst="ellipse">
            <a:avLst/>
          </a:prstGeom>
          <a:solidFill>
            <a:srgbClr val="E9C46A"/>
          </a:solidFill>
          <a:ln w="12700">
            <a:solidFill>
              <a:srgbClr val="E9C46A"/>
            </a:solidFill>
            <a:prstDash val="solid"/>
          </a:ln>
        </p:spPr>
      </p:sp>
      <p:sp>
        <p:nvSpPr>
          <p:cNvPr id="4" name="Text 2"/>
          <p:cNvSpPr txBox="1"/>
          <p:nvPr/>
        </p:nvSpPr>
        <p:spPr>
          <a:xfrm>
            <a:off x="548640" y="1417320"/>
            <a:ext cx="685800" cy="685800"/>
          </a:xfrm>
          <a:prstGeom prst="rect">
            <a:avLst/>
          </a:prstGeom>
          <a:noFill/>
          <a:ln/>
        </p:spPr>
        <p:txBody>
          <a:bodyPr wrap="square" lIns="0" tIns="0" rIns="0" bIns="0" rtlCol="0" anchor="ctr"/>
          <a:lstStyle/>
          <a:p>
            <a:pPr algn="ctr" indent="0" marL="0">
              <a:buNone/>
            </a:pPr>
            <a:r>
              <a:rPr lang="en-US" sz="2200" b="1" dirty="0">
                <a:solidFill>
                  <a:srgbClr val="16262E"/>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463040" y="1344168"/>
            <a:ext cx="9875520" cy="8686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Scale responsibly</a:t>
            </a:r>
            <a:endParaRPr lang="en-US" sz="2000" dirty="0"/>
          </a:p>
          <a:p>
            <a:pPr indent="0" marL="0">
              <a:buNone/>
            </a:pPr>
            <a:r>
              <a:rPr lang="en-US" sz="1500" dirty="0">
                <a:solidFill>
                  <a:srgbClr val="D5E1E4"/>
                </a:solidFill>
                <a:latin typeface="Calibri" pitchFamily="34" charset="0"/>
                <a:ea typeface="Calibri" pitchFamily="34" charset="-122"/>
                <a:cs typeface="Calibri" pitchFamily="34" charset="-120"/>
              </a:rPr>
              <a:t>Chunking and Dask let you process data larger than memory with exact results.</a:t>
            </a:r>
            <a:endParaRPr lang="en-US" sz="2000" dirty="0"/>
          </a:p>
        </p:txBody>
      </p:sp>
      <p:sp>
        <p:nvSpPr>
          <p:cNvPr id="6" name="Shape 4"/>
          <p:cNvSpPr/>
          <p:nvPr/>
        </p:nvSpPr>
        <p:spPr>
          <a:xfrm>
            <a:off x="548640" y="2514600"/>
            <a:ext cx="685800" cy="685800"/>
          </a:xfrm>
          <a:prstGeom prst="ellipse">
            <a:avLst/>
          </a:prstGeom>
          <a:solidFill>
            <a:srgbClr val="E9C46A"/>
          </a:solidFill>
          <a:ln w="12700">
            <a:solidFill>
              <a:srgbClr val="E9C46A"/>
            </a:solidFill>
            <a:prstDash val="solid"/>
          </a:ln>
        </p:spPr>
      </p:sp>
      <p:sp>
        <p:nvSpPr>
          <p:cNvPr id="7" name="Text 5"/>
          <p:cNvSpPr txBox="1"/>
          <p:nvPr/>
        </p:nvSpPr>
        <p:spPr>
          <a:xfrm>
            <a:off x="548640" y="2514600"/>
            <a:ext cx="685800" cy="685800"/>
          </a:xfrm>
          <a:prstGeom prst="rect">
            <a:avLst/>
          </a:prstGeom>
          <a:noFill/>
          <a:ln/>
        </p:spPr>
        <p:txBody>
          <a:bodyPr wrap="square" lIns="0" tIns="0" rIns="0" bIns="0" rtlCol="0" anchor="ctr"/>
          <a:lstStyle/>
          <a:p>
            <a:pPr algn="ctr" indent="0" marL="0">
              <a:buNone/>
            </a:pPr>
            <a:r>
              <a:rPr lang="en-US" sz="2200" b="1" dirty="0">
                <a:solidFill>
                  <a:srgbClr val="16262E"/>
                </a:solidFill>
                <a:latin typeface="Cambria" pitchFamily="34" charset="0"/>
                <a:ea typeface="Cambria" pitchFamily="34" charset="-122"/>
                <a:cs typeface="Cambria" pitchFamily="34" charset="-120"/>
              </a:rPr>
              <a:t>2</a:t>
            </a:r>
            <a:endParaRPr lang="en-US" sz="2200" dirty="0"/>
          </a:p>
        </p:txBody>
      </p:sp>
      <p:sp>
        <p:nvSpPr>
          <p:cNvPr id="8" name="Text 6"/>
          <p:cNvSpPr txBox="1"/>
          <p:nvPr/>
        </p:nvSpPr>
        <p:spPr>
          <a:xfrm>
            <a:off x="1463040" y="2441448"/>
            <a:ext cx="9875520" cy="8686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Minimise by default</a:t>
            </a:r>
            <a:endParaRPr lang="en-US" sz="2000" dirty="0"/>
          </a:p>
          <a:p>
            <a:pPr indent="0" marL="0">
              <a:buNone/>
            </a:pPr>
            <a:r>
              <a:rPr lang="en-US" sz="1500" dirty="0">
                <a:solidFill>
                  <a:srgbClr val="D5E1E4"/>
                </a:solidFill>
                <a:latin typeface="Calibri" pitchFamily="34" charset="0"/>
                <a:ea typeface="Calibri" pitchFamily="34" charset="-122"/>
                <a:cs typeface="Calibri" pitchFamily="34" charset="-120"/>
              </a:rPr>
              <a:t>Loading fewer columns saves memory and protects privacy at the same time.</a:t>
            </a:r>
            <a:endParaRPr lang="en-US" sz="2000" dirty="0"/>
          </a:p>
        </p:txBody>
      </p:sp>
      <p:sp>
        <p:nvSpPr>
          <p:cNvPr id="9" name="Shape 7"/>
          <p:cNvSpPr/>
          <p:nvPr/>
        </p:nvSpPr>
        <p:spPr>
          <a:xfrm>
            <a:off x="548640" y="3611880"/>
            <a:ext cx="685800" cy="685800"/>
          </a:xfrm>
          <a:prstGeom prst="ellipse">
            <a:avLst/>
          </a:prstGeom>
          <a:solidFill>
            <a:srgbClr val="E9C46A"/>
          </a:solidFill>
          <a:ln w="12700">
            <a:solidFill>
              <a:srgbClr val="E9C46A"/>
            </a:solidFill>
            <a:prstDash val="solid"/>
          </a:ln>
        </p:spPr>
      </p:sp>
      <p:sp>
        <p:nvSpPr>
          <p:cNvPr id="10" name="Text 8"/>
          <p:cNvSpPr txBox="1"/>
          <p:nvPr/>
        </p:nvSpPr>
        <p:spPr>
          <a:xfrm>
            <a:off x="548640" y="3611880"/>
            <a:ext cx="685800" cy="685800"/>
          </a:xfrm>
          <a:prstGeom prst="rect">
            <a:avLst/>
          </a:prstGeom>
          <a:noFill/>
          <a:ln/>
        </p:spPr>
        <p:txBody>
          <a:bodyPr wrap="square" lIns="0" tIns="0" rIns="0" bIns="0" rtlCol="0" anchor="ctr"/>
          <a:lstStyle/>
          <a:p>
            <a:pPr algn="ctr" indent="0" marL="0">
              <a:buNone/>
            </a:pPr>
            <a:r>
              <a:rPr lang="en-US" sz="2200" b="1" dirty="0">
                <a:solidFill>
                  <a:srgbClr val="16262E"/>
                </a:solidFill>
                <a:latin typeface="Cambria" pitchFamily="34" charset="0"/>
                <a:ea typeface="Cambria" pitchFamily="34" charset="-122"/>
                <a:cs typeface="Cambria" pitchFamily="34" charset="-120"/>
              </a:rPr>
              <a:t>3</a:t>
            </a:r>
            <a:endParaRPr lang="en-US" sz="2200" dirty="0"/>
          </a:p>
        </p:txBody>
      </p:sp>
      <p:sp>
        <p:nvSpPr>
          <p:cNvPr id="11" name="Text 9"/>
          <p:cNvSpPr txBox="1"/>
          <p:nvPr/>
        </p:nvSpPr>
        <p:spPr>
          <a:xfrm>
            <a:off x="1463040" y="3538728"/>
            <a:ext cx="9875520" cy="8686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Audit the label, not just the features</a:t>
            </a:r>
            <a:endParaRPr lang="en-US" sz="2000" dirty="0"/>
          </a:p>
          <a:p>
            <a:pPr indent="0" marL="0">
              <a:buNone/>
            </a:pPr>
            <a:r>
              <a:rPr lang="en-US" sz="1500" dirty="0">
                <a:solidFill>
                  <a:srgbClr val="D5E1E4"/>
                </a:solidFill>
                <a:latin typeface="Calibri" pitchFamily="34" charset="0"/>
                <a:ea typeface="Calibri" pitchFamily="34" charset="-122"/>
                <a:cs typeface="Calibri" pitchFamily="34" charset="-120"/>
              </a:rPr>
              <a:t>Bias often hides in what you predict, as the healthcare case showed.</a:t>
            </a:r>
            <a:endParaRPr lang="en-US" sz="2000" dirty="0"/>
          </a:p>
        </p:txBody>
      </p:sp>
      <p:sp>
        <p:nvSpPr>
          <p:cNvPr id="12" name="Shape 10"/>
          <p:cNvSpPr/>
          <p:nvPr/>
        </p:nvSpPr>
        <p:spPr>
          <a:xfrm>
            <a:off x="548640" y="4709160"/>
            <a:ext cx="685800" cy="685800"/>
          </a:xfrm>
          <a:prstGeom prst="ellipse">
            <a:avLst/>
          </a:prstGeom>
          <a:solidFill>
            <a:srgbClr val="E9C46A"/>
          </a:solidFill>
          <a:ln w="12700">
            <a:solidFill>
              <a:srgbClr val="E9C46A"/>
            </a:solidFill>
            <a:prstDash val="solid"/>
          </a:ln>
        </p:spPr>
      </p:sp>
      <p:sp>
        <p:nvSpPr>
          <p:cNvPr id="13" name="Text 11"/>
          <p:cNvSpPr txBox="1"/>
          <p:nvPr/>
        </p:nvSpPr>
        <p:spPr>
          <a:xfrm>
            <a:off x="548640" y="4709160"/>
            <a:ext cx="685800" cy="685800"/>
          </a:xfrm>
          <a:prstGeom prst="rect">
            <a:avLst/>
          </a:prstGeom>
          <a:noFill/>
          <a:ln/>
        </p:spPr>
        <p:txBody>
          <a:bodyPr wrap="square" lIns="0" tIns="0" rIns="0" bIns="0" rtlCol="0" anchor="ctr"/>
          <a:lstStyle/>
          <a:p>
            <a:pPr algn="ctr" indent="0" marL="0">
              <a:buNone/>
            </a:pPr>
            <a:r>
              <a:rPr lang="en-US" sz="2200" b="1" dirty="0">
                <a:solidFill>
                  <a:srgbClr val="16262E"/>
                </a:solidFill>
                <a:latin typeface="Cambria" pitchFamily="34" charset="0"/>
                <a:ea typeface="Cambria" pitchFamily="34" charset="-122"/>
                <a:cs typeface="Cambria" pitchFamily="34" charset="-120"/>
              </a:rPr>
              <a:t>4</a:t>
            </a:r>
            <a:endParaRPr lang="en-US" sz="2200" dirty="0"/>
          </a:p>
        </p:txBody>
      </p:sp>
      <p:sp>
        <p:nvSpPr>
          <p:cNvPr id="14" name="Text 12"/>
          <p:cNvSpPr txBox="1"/>
          <p:nvPr/>
        </p:nvSpPr>
        <p:spPr>
          <a:xfrm>
            <a:off x="1463040" y="4636008"/>
            <a:ext cx="9875520" cy="8686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Build checks into the pipeline</a:t>
            </a:r>
            <a:endParaRPr lang="en-US" sz="2000" dirty="0"/>
          </a:p>
          <a:p>
            <a:pPr indent="0" marL="0">
              <a:buNone/>
            </a:pPr>
            <a:r>
              <a:rPr lang="en-US" sz="1500" dirty="0">
                <a:solidFill>
                  <a:srgbClr val="D5E1E4"/>
                </a:solidFill>
                <a:latin typeface="Calibri" pitchFamily="34" charset="0"/>
                <a:ea typeface="Calibri" pitchFamily="34" charset="-122"/>
                <a:cs typeface="Calibri" pitchFamily="34" charset="-120"/>
              </a:rPr>
              <a:t>Fairness metrics and logging are cheap at scale when they run with the job.</a:t>
            </a:r>
            <a:endParaRPr lang="en-US" sz="2000" dirty="0"/>
          </a:p>
        </p:txBody>
      </p:sp>
      <p:sp>
        <p:nvSpPr>
          <p:cNvPr id="15" name="Text 13"/>
          <p:cNvSpPr txBox="1"/>
          <p:nvPr/>
        </p:nvSpPr>
        <p:spPr>
          <a:xfrm>
            <a:off x="548640" y="5806440"/>
            <a:ext cx="11064240" cy="548640"/>
          </a:xfrm>
          <a:prstGeom prst="rect">
            <a:avLst/>
          </a:prstGeom>
          <a:noFill/>
          <a:ln/>
        </p:spPr>
        <p:txBody>
          <a:bodyPr wrap="square" lIns="0" tIns="0" rIns="0" bIns="0" rtlCol="0" anchor="ctr"/>
          <a:lstStyle/>
          <a:p>
            <a:pPr indent="0" marL="0">
              <a:buNone/>
            </a:pPr>
            <a:r>
              <a:rPr lang="en-US" sz="1800" i="1" dirty="0">
                <a:solidFill>
                  <a:srgbClr val="E9C46A"/>
                </a:solidFill>
                <a:latin typeface="Cambria" pitchFamily="34" charset="0"/>
                <a:ea typeface="Cambria" pitchFamily="34" charset="-122"/>
                <a:cs typeface="Cambria" pitchFamily="34" charset="-120"/>
              </a:rPr>
              <a:t>"The goal is not only to process more data, but to deserve the trust of the people in it."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6262E"/>
                </a:solidFill>
                <a:latin typeface="Cambria" pitchFamily="34" charset="0"/>
                <a:ea typeface="Cambria" pitchFamily="34" charset="-122"/>
                <a:cs typeface="Cambria" pitchFamily="34" charset="-120"/>
              </a:rPr>
              <a:t>References</a:t>
            </a:r>
            <a:endParaRPr lang="en-US" sz="3600" dirty="0"/>
          </a:p>
        </p:txBody>
      </p:sp>
      <p:sp>
        <p:nvSpPr>
          <p:cNvPr id="3" name="Text 1"/>
          <p:cNvSpPr txBox="1"/>
          <p:nvPr/>
        </p:nvSpPr>
        <p:spPr>
          <a:xfrm>
            <a:off x="548640" y="1371600"/>
            <a:ext cx="11064240" cy="4937760"/>
          </a:xfrm>
          <a:prstGeom prst="rect">
            <a:avLst/>
          </a:prstGeom>
          <a:noFill/>
          <a:ln/>
        </p:spPr>
        <p:txBody>
          <a:bodyPr wrap="square" rtlCol="0" anchor="t"/>
          <a:lstStyle/>
          <a:p>
            <a:pPr marL="342900" indent="-342900">
              <a:spcAft>
                <a:spcPts val="800"/>
              </a:spcAft>
              <a:buSzPct val="100000"/>
              <a:buChar char="•"/>
            </a:pPr>
            <a:r>
              <a:rPr lang="en-US" sz="1400" dirty="0">
                <a:solidFill>
                  <a:srgbClr val="1F2D33"/>
                </a:solidFill>
                <a:latin typeface="Calibri" pitchFamily="34" charset="0"/>
                <a:ea typeface="Calibri" pitchFamily="34" charset="-122"/>
                <a:cs typeface="Calibri" pitchFamily="34" charset="-120"/>
              </a:rPr>
              <a:t>Obermeyer, Z., Powers, B., Vogeli, C., &amp; Mullainathan, S. (2019). Dissecting racial bias in an algorithm used to manage the health of populations. Science, 366(6464), 447-453.</a:t>
            </a:r>
            <a:endParaRPr lang="en-US" sz="1400" dirty="0"/>
          </a:p>
          <a:p>
            <a:pPr marL="342900" indent="-342900">
              <a:spcAft>
                <a:spcPts val="800"/>
              </a:spcAft>
              <a:buSzPct val="100000"/>
              <a:buChar char="•"/>
            </a:pPr>
            <a:r>
              <a:rPr lang="en-US" sz="1400" dirty="0">
                <a:solidFill>
                  <a:srgbClr val="1F2D33"/>
                </a:solidFill>
                <a:latin typeface="Calibri" pitchFamily="34" charset="0"/>
                <a:ea typeface="Calibri" pitchFamily="34" charset="-122"/>
                <a:cs typeface="Calibri" pitchFamily="34" charset="-120"/>
              </a:rPr>
              <a:t>Dastin, J. (2018, October 10). Amazon scraps secret AI recruiting tool that showed bias against women. Reuters.</a:t>
            </a:r>
            <a:endParaRPr lang="en-US" sz="1400" dirty="0"/>
          </a:p>
          <a:p>
            <a:pPr marL="342900" indent="-342900">
              <a:spcAft>
                <a:spcPts val="800"/>
              </a:spcAft>
              <a:buSzPct val="100000"/>
              <a:buChar char="•"/>
            </a:pPr>
            <a:r>
              <a:rPr lang="en-US" sz="1400" dirty="0">
                <a:solidFill>
                  <a:srgbClr val="1F2D33"/>
                </a:solidFill>
                <a:latin typeface="Calibri" pitchFamily="34" charset="0"/>
                <a:ea typeface="Calibri" pitchFamily="34" charset="-122"/>
                <a:cs typeface="Calibri" pitchFamily="34" charset="-120"/>
              </a:rPr>
              <a:t>U.S. EEOC (1978). Uniform Guidelines on Employee Selection Procedures, 29 CFR 1607.4(D) (four-fifths rule).</a:t>
            </a:r>
            <a:endParaRPr lang="en-US" sz="1400" dirty="0"/>
          </a:p>
          <a:p>
            <a:pPr marL="342900" indent="-342900">
              <a:spcAft>
                <a:spcPts val="800"/>
              </a:spcAft>
              <a:buSzPct val="100000"/>
              <a:buChar char="•"/>
            </a:pPr>
            <a:r>
              <a:rPr lang="en-US" sz="1400" dirty="0">
                <a:solidFill>
                  <a:srgbClr val="1F2D33"/>
                </a:solidFill>
                <a:latin typeface="Calibri" pitchFamily="34" charset="0"/>
                <a:ea typeface="Calibri" pitchFamily="34" charset="-122"/>
                <a:cs typeface="Calibri" pitchFamily="34" charset="-120"/>
              </a:rPr>
              <a:t>NIST (2023). Artificial Intelligence Risk Management Framework (AI RMF 1.0).</a:t>
            </a:r>
            <a:endParaRPr lang="en-US" sz="1400" dirty="0"/>
          </a:p>
          <a:p>
            <a:pPr marL="342900" indent="-342900">
              <a:spcAft>
                <a:spcPts val="800"/>
              </a:spcAft>
              <a:buSzPct val="100000"/>
              <a:buChar char="•"/>
            </a:pPr>
            <a:r>
              <a:rPr lang="en-US" sz="1400" dirty="0">
                <a:solidFill>
                  <a:srgbClr val="1F2D33"/>
                </a:solidFill>
                <a:latin typeface="Calibri" pitchFamily="34" charset="0"/>
                <a:ea typeface="Calibri" pitchFamily="34" charset="-122"/>
                <a:cs typeface="Calibri" pitchFamily="34" charset="-120"/>
              </a:rPr>
              <a:t>OECD (2019, updated 2024). Recommendation of the Council on Artificial Intelligence (OECD AI Principles).</a:t>
            </a:r>
            <a:endParaRPr lang="en-US" sz="1400" dirty="0"/>
          </a:p>
          <a:p>
            <a:pPr marL="342900" indent="-342900">
              <a:spcAft>
                <a:spcPts val="800"/>
              </a:spcAft>
              <a:buSzPct val="100000"/>
              <a:buChar char="•"/>
            </a:pPr>
            <a:r>
              <a:rPr lang="en-US" sz="1400" dirty="0">
                <a:solidFill>
                  <a:srgbClr val="1F2D33"/>
                </a:solidFill>
                <a:latin typeface="Calibri" pitchFamily="34" charset="0"/>
                <a:ea typeface="Calibri" pitchFamily="34" charset="-122"/>
                <a:cs typeface="Calibri" pitchFamily="34" charset="-120"/>
              </a:rPr>
              <a:t>European Union (2024). Regulation (EU) 2024/1689 (Artificial Intelligence Act); Regulation (EU) 2016/679 (GDPR).</a:t>
            </a:r>
            <a:endParaRPr lang="en-US" sz="1400" dirty="0"/>
          </a:p>
          <a:p>
            <a:pPr marL="342900" indent="-342900">
              <a:spcAft>
                <a:spcPts val="800"/>
              </a:spcAft>
              <a:buSzPct val="100000"/>
              <a:buChar char="•"/>
            </a:pPr>
            <a:r>
              <a:rPr lang="en-US" sz="1400" dirty="0">
                <a:solidFill>
                  <a:srgbClr val="1F2D33"/>
                </a:solidFill>
                <a:latin typeface="Calibri" pitchFamily="34" charset="0"/>
                <a:ea typeface="Calibri" pitchFamily="34" charset="-122"/>
                <a:cs typeface="Calibri" pitchFamily="34" charset="-120"/>
              </a:rPr>
              <a:t>Gebru, T., et al. (2021). Datasheets for datasets. Communications of the ACM, 64(12). Mitchell, M., et al. (2019). Model cards for model reporting. FAT* '19.</a:t>
            </a:r>
            <a:endParaRPr lang="en-US" sz="1400" dirty="0"/>
          </a:p>
          <a:p>
            <a:pPr marL="342900" indent="-342900">
              <a:spcAft>
                <a:spcPts val="800"/>
              </a:spcAft>
              <a:buSzPct val="100000"/>
              <a:buChar char="•"/>
            </a:pPr>
            <a:r>
              <a:rPr lang="en-US" sz="1400" dirty="0">
                <a:solidFill>
                  <a:srgbClr val="1F2D33"/>
                </a:solidFill>
                <a:latin typeface="Calibri" pitchFamily="34" charset="0"/>
                <a:ea typeface="Calibri" pitchFamily="34" charset="-122"/>
                <a:cs typeface="Calibri" pitchFamily="34" charset="-120"/>
              </a:rPr>
              <a:t>Dask Development Team (2016). Dask: Library for dynamic task scheduling. https://dask.org  ·  pandas documentation: IO tools, "Iterating through files chunk by chunk".</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AI and Handling Real-World Data at Scale</dc:title>
  <dc:subject>PptxGenJS Presentation</dc:subject>
  <dc:creator>PptxGenJS</dc:creator>
  <cp:lastModifiedBy>PptxGenJS</cp:lastModifiedBy>
  <cp:revision>1</cp:revision>
  <dcterms:created xsi:type="dcterms:W3CDTF">2026-09-26T20:19:43Z</dcterms:created>
  <dcterms:modified xsi:type="dcterms:W3CDTF">2026-09-26T20:19:43Z</dcterms:modified>
</cp:coreProperties>
</file>